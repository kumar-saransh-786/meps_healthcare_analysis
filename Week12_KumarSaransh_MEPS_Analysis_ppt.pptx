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7" r:id="rId10"/>
    <p:sldId id="268" r:id="rId11"/>
    <p:sldId id="269" r:id="rId12"/>
    <p:sldId id="265" r:id="rId13"/>
    <p:sldId id="281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3" r:id="rId25"/>
    <p:sldId id="280" r:id="rId26"/>
  </p:sldIdLst>
  <p:sldSz cx="12192000" cy="6858000"/>
  <p:notesSz cx="6858000" cy="12192000"/>
  <p:embeddedFontLst>
    <p:embeddedFont>
      <p:font typeface="微软雅黑" panose="020B0503020204020204" pitchFamily="34" charset="-122"/>
      <p:regular r:id="rId28"/>
      <p:bold r:id="rId29"/>
    </p:embeddedFont>
    <p:embeddedFont>
      <p:font typeface="MiSans" panose="020B0604020202020204" charset="-122"/>
      <p:regular r:id="rId30"/>
    </p:embeddedFont>
    <p:embeddedFont>
      <p:font typeface="Liter" panose="020B0604020202020204" charset="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1E3"/>
    <a:srgbClr val="8B8B8F"/>
    <a:srgbClr val="E1ED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B6AD80-9907-48FA-07AD-51B16A34EBC2}" v="265" dt="2026-03-26T11:52:10.994"/>
    <p1510:client id="{6FF2F91E-A0EF-4F22-2DB9-9461848A32C0}" v="5" dt="2026-03-26T11:54:45.331"/>
    <p1510:client id="{FCA4ECD4-B420-96CA-F159-129B550502D7}" v="1726" dt="2026-03-26T16:03:29.8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CB1356-941C-43BD-B6AB-AD690E4F87AA}" type="datetimeFigureOut">
              <a:t>3/26/2026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F1A97-8FCA-4311-8BED-14D709F17F6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5831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2F3BE-8C6F-548C-633E-35E06D438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C20564-B9E9-0E8F-BB11-A0D849D89F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53AEEC-EC03-6A5D-0ACA-B0D985DC95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AD8FC-0716-3DFA-E1CD-41C0E59FE9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3158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nneapolisfed.org/about-us/monetary-policy/inflation-calculator/consumer-price-index-1913-" TargetMode="External"/><Relationship Id="rId7" Type="http://schemas.openxmlformats.org/officeDocument/2006/relationships/hyperlink" Target="https://doi.org/10.1155/srat/3561616" TargetMode="External"/><Relationship Id="rId2" Type="http://schemas.openxmlformats.org/officeDocument/2006/relationships/hyperlink" Target="https://meps.ahrq.gov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111/1475-6773.14115" TargetMode="External"/><Relationship Id="rId5" Type="http://schemas.openxmlformats.org/officeDocument/2006/relationships/hyperlink" Target="https://doi.org/10.1007/s10742-022-00275-x" TargetMode="External"/><Relationship Id="rId4" Type="http://schemas.openxmlformats.org/officeDocument/2006/relationships/hyperlink" Target="https://doi.org/10.1093/intqhc/mzz135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66D061D9-0EB5-1032-16AB-FABF7F336E89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AFAFA">
                  <a:alpha val="95000"/>
                </a:srgbClr>
              </a:gs>
              <a:gs pos="50000">
                <a:srgbClr val="FAFAFA">
                  <a:alpha val="90000"/>
                </a:srgbClr>
              </a:gs>
              <a:gs pos="100000">
                <a:srgbClr val="0071E3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685800"/>
            <a:ext cx="1828800" cy="381000"/>
          </a:xfrm>
          <a:custGeom>
            <a:avLst/>
            <a:gdLst/>
            <a:ahLst/>
            <a:cxnLst/>
            <a:rect l="l" t="t" r="r" b="b"/>
            <a:pathLst>
              <a:path w="1828800" h="381000">
                <a:moveTo>
                  <a:pt x="76200" y="0"/>
                </a:moveTo>
                <a:lnTo>
                  <a:pt x="1752600" y="0"/>
                </a:lnTo>
                <a:cubicBezTo>
                  <a:pt x="1794656" y="0"/>
                  <a:pt x="1828800" y="34144"/>
                  <a:pt x="1828800" y="76200"/>
                </a:cubicBezTo>
                <a:lnTo>
                  <a:pt x="1828800" y="304800"/>
                </a:lnTo>
                <a:cubicBezTo>
                  <a:pt x="1828800" y="346856"/>
                  <a:pt x="1794656" y="381000"/>
                  <a:pt x="17526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33400" y="784860"/>
            <a:ext cx="15894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Capstone Research</a:t>
            </a:r>
            <a:endParaRPr lang="en-US" sz="1600"/>
          </a:p>
        </p:txBody>
      </p:sp>
      <p:sp>
        <p:nvSpPr>
          <p:cNvPr id="6" name="Text 3"/>
          <p:cNvSpPr/>
          <p:nvPr/>
        </p:nvSpPr>
        <p:spPr>
          <a:xfrm>
            <a:off x="10346651" y="685800"/>
            <a:ext cx="146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Northeastern University</a:t>
            </a:r>
            <a:endParaRPr lang="en-US" sz="1600"/>
          </a:p>
        </p:txBody>
      </p:sp>
      <p:sp>
        <p:nvSpPr>
          <p:cNvPr id="7" name="Text 4"/>
          <p:cNvSpPr/>
          <p:nvPr/>
        </p:nvSpPr>
        <p:spPr>
          <a:xfrm>
            <a:off x="10346651" y="876300"/>
            <a:ext cx="146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ALY 6980: Capstone</a:t>
            </a:r>
            <a:endParaRPr lang="en-US" sz="1600"/>
          </a:p>
        </p:txBody>
      </p:sp>
      <p:sp>
        <p:nvSpPr>
          <p:cNvPr id="8" name="Text 5"/>
          <p:cNvSpPr/>
          <p:nvPr/>
        </p:nvSpPr>
        <p:spPr>
          <a:xfrm>
            <a:off x="381000" y="1847850"/>
            <a:ext cx="88201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Predicting Healthcare</a:t>
            </a:r>
            <a:endParaRPr lang="en-US" sz="1600"/>
          </a:p>
          <a:p>
            <a:pPr>
              <a:lnSpc>
                <a:spcPct val="100000"/>
              </a:lnSpc>
            </a:pPr>
            <a:r>
              <a:rPr lang="en-US" sz="45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Expenditure Risk</a:t>
            </a:r>
            <a:endParaRPr lang="en-US" sz="1600"/>
          </a:p>
        </p:txBody>
      </p:sp>
      <p:sp>
        <p:nvSpPr>
          <p:cNvPr id="9" name="Text 6"/>
          <p:cNvSpPr/>
          <p:nvPr/>
        </p:nvSpPr>
        <p:spPr>
          <a:xfrm>
            <a:off x="381000" y="3429000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Risk Adjustment Model Incorporating Demographic, Clinical, Economy, and Healthcare Utilization</a:t>
            </a:r>
            <a:endParaRPr lang="en-US" sz="1600"/>
          </a:p>
        </p:txBody>
      </p:sp>
      <p:sp>
        <p:nvSpPr>
          <p:cNvPr id="10" name="Shape 7"/>
          <p:cNvSpPr/>
          <p:nvPr/>
        </p:nvSpPr>
        <p:spPr>
          <a:xfrm>
            <a:off x="409575" y="44386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1" name="Text 8"/>
          <p:cNvSpPr/>
          <p:nvPr/>
        </p:nvSpPr>
        <p:spPr>
          <a:xfrm>
            <a:off x="647700" y="4400550"/>
            <a:ext cx="2295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MEPS Panels 11–15 (2006–2010)</a:t>
            </a:r>
            <a:endParaRPr lang="en-US" sz="1600"/>
          </a:p>
        </p:txBody>
      </p:sp>
      <p:sp>
        <p:nvSpPr>
          <p:cNvPr id="12" name="Shape 9"/>
          <p:cNvSpPr/>
          <p:nvPr/>
        </p:nvSpPr>
        <p:spPr>
          <a:xfrm>
            <a:off x="3167539" y="443865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3" name="Text 10"/>
          <p:cNvSpPr/>
          <p:nvPr/>
        </p:nvSpPr>
        <p:spPr>
          <a:xfrm>
            <a:off x="3434239" y="4400550"/>
            <a:ext cx="1885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49,820 Non-Cancer Adults</a:t>
            </a:r>
            <a:endParaRPr lang="en-US" sz="1600"/>
          </a:p>
        </p:txBody>
      </p:sp>
      <p:sp>
        <p:nvSpPr>
          <p:cNvPr id="14" name="Text 11"/>
          <p:cNvSpPr/>
          <p:nvPr/>
        </p:nvSpPr>
        <p:spPr>
          <a:xfrm>
            <a:off x="381000" y="5410200"/>
            <a:ext cx="2162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Submitted by</a:t>
            </a:r>
            <a:endParaRPr lang="en-US" sz="1600"/>
          </a:p>
        </p:txBody>
      </p:sp>
      <p:sp>
        <p:nvSpPr>
          <p:cNvPr id="15" name="Text 12"/>
          <p:cNvSpPr/>
          <p:nvPr/>
        </p:nvSpPr>
        <p:spPr>
          <a:xfrm>
            <a:off x="381000" y="5676900"/>
            <a:ext cx="2181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Kumar Saransh</a:t>
            </a:r>
            <a:endParaRPr lang="en-US" sz="1600"/>
          </a:p>
        </p:txBody>
      </p:sp>
      <p:sp>
        <p:nvSpPr>
          <p:cNvPr id="16" name="Text 13"/>
          <p:cNvSpPr/>
          <p:nvPr/>
        </p:nvSpPr>
        <p:spPr>
          <a:xfrm>
            <a:off x="381000" y="5943600"/>
            <a:ext cx="2162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College of Professional Studies</a:t>
            </a:r>
            <a:endParaRPr lang="en-US" sz="1600"/>
          </a:p>
        </p:txBody>
      </p:sp>
      <p:sp>
        <p:nvSpPr>
          <p:cNvPr id="17" name="Text 14"/>
          <p:cNvSpPr/>
          <p:nvPr/>
        </p:nvSpPr>
        <p:spPr>
          <a:xfrm>
            <a:off x="10865168" y="5410200"/>
            <a:ext cx="942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Professor</a:t>
            </a:r>
            <a:endParaRPr lang="en-US" sz="1600"/>
          </a:p>
        </p:txBody>
      </p:sp>
      <p:sp>
        <p:nvSpPr>
          <p:cNvPr id="18" name="Text 15"/>
          <p:cNvSpPr/>
          <p:nvPr/>
        </p:nvSpPr>
        <p:spPr>
          <a:xfrm>
            <a:off x="10846118" y="5676900"/>
            <a:ext cx="962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5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Ajit Appari</a:t>
            </a:r>
            <a:endParaRPr lang="en-US" sz="1600"/>
          </a:p>
        </p:txBody>
      </p:sp>
      <p:sp>
        <p:nvSpPr>
          <p:cNvPr id="19" name="Text 16"/>
          <p:cNvSpPr/>
          <p:nvPr/>
        </p:nvSpPr>
        <p:spPr>
          <a:xfrm>
            <a:off x="10865168" y="5943600"/>
            <a:ext cx="942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Group 2</a:t>
            </a:r>
            <a:endParaRPr lang="en-US" sz="160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Navigation</a:t>
            </a:r>
            <a:endParaRPr lang="en-US" sz="160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Overview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384810" y="1413510"/>
            <a:ext cx="3646170" cy="2407920"/>
          </a:xfrm>
          <a:custGeom>
            <a:avLst/>
            <a:gdLst/>
            <a:ahLst/>
            <a:cxnLst/>
            <a:rect l="l" t="t" r="r" b="b"/>
            <a:pathLst>
              <a:path w="3646170" h="2407920">
                <a:moveTo>
                  <a:pt x="152397" y="0"/>
                </a:moveTo>
                <a:lnTo>
                  <a:pt x="3493773" y="0"/>
                </a:lnTo>
                <a:cubicBezTo>
                  <a:pt x="3577939" y="0"/>
                  <a:pt x="3646170" y="68231"/>
                  <a:pt x="3646170" y="152397"/>
                </a:cubicBezTo>
                <a:lnTo>
                  <a:pt x="3646170" y="2255523"/>
                </a:lnTo>
                <a:cubicBezTo>
                  <a:pt x="3646170" y="2339689"/>
                  <a:pt x="3577939" y="2407920"/>
                  <a:pt x="3493773" y="2407920"/>
                </a:cubicBezTo>
                <a:lnTo>
                  <a:pt x="152397" y="2407920"/>
                </a:lnTo>
                <a:cubicBezTo>
                  <a:pt x="68231" y="2407920"/>
                  <a:pt x="0" y="2339689"/>
                  <a:pt x="0" y="2255523"/>
                </a:cubicBezTo>
                <a:lnTo>
                  <a:pt x="0" y="152397"/>
                </a:lnTo>
                <a:cubicBezTo>
                  <a:pt x="0" y="68231"/>
                  <a:pt x="68231" y="0"/>
                  <a:pt x="15239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3420" y="1750219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11768" y="1845469"/>
            <a:ext cx="438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693420" y="2512219"/>
            <a:ext cx="3143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Study Overview &amp; Objectives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693420" y="2931200"/>
            <a:ext cx="31146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framework, data foundation, and methodology approach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4271010" y="1413510"/>
            <a:ext cx="3646170" cy="2407920"/>
          </a:xfrm>
          <a:custGeom>
            <a:avLst/>
            <a:gdLst/>
            <a:ahLst/>
            <a:cxnLst/>
            <a:rect l="l" t="t" r="r" b="b"/>
            <a:pathLst>
              <a:path w="3646170" h="2407920">
                <a:moveTo>
                  <a:pt x="152397" y="0"/>
                </a:moveTo>
                <a:lnTo>
                  <a:pt x="3493773" y="0"/>
                </a:lnTo>
                <a:cubicBezTo>
                  <a:pt x="3577939" y="0"/>
                  <a:pt x="3646170" y="68231"/>
                  <a:pt x="3646170" y="152397"/>
                </a:cubicBezTo>
                <a:lnTo>
                  <a:pt x="3646170" y="2255523"/>
                </a:lnTo>
                <a:cubicBezTo>
                  <a:pt x="3646170" y="2339689"/>
                  <a:pt x="3577939" y="2407920"/>
                  <a:pt x="3493773" y="2407920"/>
                </a:cubicBezTo>
                <a:lnTo>
                  <a:pt x="152397" y="2407920"/>
                </a:lnTo>
                <a:cubicBezTo>
                  <a:pt x="68231" y="2407920"/>
                  <a:pt x="0" y="2339689"/>
                  <a:pt x="0" y="2255523"/>
                </a:cubicBezTo>
                <a:lnTo>
                  <a:pt x="0" y="152397"/>
                </a:lnTo>
                <a:cubicBezTo>
                  <a:pt x="0" y="68231"/>
                  <a:pt x="68231" y="0"/>
                  <a:pt x="15239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9620" y="1750219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672132" y="1845469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4579620" y="2512219"/>
            <a:ext cx="3143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Foundation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4579620" y="2931200"/>
            <a:ext cx="31146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Cleaning, preprocessing, feature engineering, and patient segmentation</a:t>
            </a:r>
            <a:endParaRPr lang="en-US" sz="1600"/>
          </a:p>
        </p:txBody>
      </p:sp>
      <p:sp>
        <p:nvSpPr>
          <p:cNvPr id="14" name="Shape 12"/>
          <p:cNvSpPr/>
          <p:nvPr/>
        </p:nvSpPr>
        <p:spPr>
          <a:xfrm>
            <a:off x="8157210" y="1413510"/>
            <a:ext cx="3646170" cy="2407920"/>
          </a:xfrm>
          <a:custGeom>
            <a:avLst/>
            <a:gdLst/>
            <a:ahLst/>
            <a:cxnLst/>
            <a:rect l="l" t="t" r="r" b="b"/>
            <a:pathLst>
              <a:path w="3646170" h="2407920">
                <a:moveTo>
                  <a:pt x="152397" y="0"/>
                </a:moveTo>
                <a:lnTo>
                  <a:pt x="3493773" y="0"/>
                </a:lnTo>
                <a:cubicBezTo>
                  <a:pt x="3577939" y="0"/>
                  <a:pt x="3646170" y="68231"/>
                  <a:pt x="3646170" y="152397"/>
                </a:cubicBezTo>
                <a:lnTo>
                  <a:pt x="3646170" y="2255523"/>
                </a:lnTo>
                <a:cubicBezTo>
                  <a:pt x="3646170" y="2339689"/>
                  <a:pt x="3577939" y="2407920"/>
                  <a:pt x="3493773" y="2407920"/>
                </a:cubicBezTo>
                <a:lnTo>
                  <a:pt x="152397" y="2407920"/>
                </a:lnTo>
                <a:cubicBezTo>
                  <a:pt x="68231" y="2407920"/>
                  <a:pt x="0" y="2339689"/>
                  <a:pt x="0" y="2255523"/>
                </a:cubicBezTo>
                <a:lnTo>
                  <a:pt x="0" y="152397"/>
                </a:lnTo>
                <a:cubicBezTo>
                  <a:pt x="0" y="68231"/>
                  <a:pt x="68231" y="0"/>
                  <a:pt x="15239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65820" y="1750219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557022" y="1845469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8465820" y="2512219"/>
            <a:ext cx="3143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Patient Segmentation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8465820" y="2931200"/>
            <a:ext cx="31146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K-means clustering analysis and clinical burden phenotypes</a:t>
            </a:r>
            <a:endParaRPr lang="en-US" sz="1600"/>
          </a:p>
        </p:txBody>
      </p:sp>
      <p:sp>
        <p:nvSpPr>
          <p:cNvPr id="19" name="Shape 17"/>
          <p:cNvSpPr/>
          <p:nvPr/>
        </p:nvSpPr>
        <p:spPr>
          <a:xfrm>
            <a:off x="384810" y="4061460"/>
            <a:ext cx="3646170" cy="2407920"/>
          </a:xfrm>
          <a:custGeom>
            <a:avLst/>
            <a:gdLst/>
            <a:ahLst/>
            <a:cxnLst/>
            <a:rect l="l" t="t" r="r" b="b"/>
            <a:pathLst>
              <a:path w="3646170" h="2407920">
                <a:moveTo>
                  <a:pt x="152397" y="0"/>
                </a:moveTo>
                <a:lnTo>
                  <a:pt x="3493773" y="0"/>
                </a:lnTo>
                <a:cubicBezTo>
                  <a:pt x="3577939" y="0"/>
                  <a:pt x="3646170" y="68231"/>
                  <a:pt x="3646170" y="152397"/>
                </a:cubicBezTo>
                <a:lnTo>
                  <a:pt x="3646170" y="2255523"/>
                </a:lnTo>
                <a:cubicBezTo>
                  <a:pt x="3646170" y="2339689"/>
                  <a:pt x="3577939" y="2407920"/>
                  <a:pt x="3493773" y="2407920"/>
                </a:cubicBezTo>
                <a:lnTo>
                  <a:pt x="152397" y="2407920"/>
                </a:lnTo>
                <a:cubicBezTo>
                  <a:pt x="68231" y="2407920"/>
                  <a:pt x="0" y="2339689"/>
                  <a:pt x="0" y="2255523"/>
                </a:cubicBezTo>
                <a:lnTo>
                  <a:pt x="0" y="152397"/>
                </a:lnTo>
                <a:cubicBezTo>
                  <a:pt x="0" y="68231"/>
                  <a:pt x="68231" y="0"/>
                  <a:pt x="15239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3420" y="4398169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84741" y="4493419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693420" y="5160169"/>
            <a:ext cx="3143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Exploratory Data Analysis</a:t>
            </a:r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693420" y="5579150"/>
            <a:ext cx="31146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Patterns in healthcare utilization, expenditure drivers, and risk factors</a:t>
            </a:r>
            <a:endParaRPr lang="en-US" sz="1600"/>
          </a:p>
        </p:txBody>
      </p:sp>
      <p:sp>
        <p:nvSpPr>
          <p:cNvPr id="24" name="Shape 22"/>
          <p:cNvSpPr/>
          <p:nvPr/>
        </p:nvSpPr>
        <p:spPr>
          <a:xfrm>
            <a:off x="4271010" y="4061460"/>
            <a:ext cx="3646170" cy="2407920"/>
          </a:xfrm>
          <a:custGeom>
            <a:avLst/>
            <a:gdLst/>
            <a:ahLst/>
            <a:cxnLst/>
            <a:rect l="l" t="t" r="r" b="b"/>
            <a:pathLst>
              <a:path w="3646170" h="2407920">
                <a:moveTo>
                  <a:pt x="152397" y="0"/>
                </a:moveTo>
                <a:lnTo>
                  <a:pt x="3493773" y="0"/>
                </a:lnTo>
                <a:cubicBezTo>
                  <a:pt x="3577939" y="0"/>
                  <a:pt x="3646170" y="68231"/>
                  <a:pt x="3646170" y="152397"/>
                </a:cubicBezTo>
                <a:lnTo>
                  <a:pt x="3646170" y="2255523"/>
                </a:lnTo>
                <a:cubicBezTo>
                  <a:pt x="3646170" y="2339689"/>
                  <a:pt x="3577939" y="2407920"/>
                  <a:pt x="3493773" y="2407920"/>
                </a:cubicBezTo>
                <a:lnTo>
                  <a:pt x="152397" y="2407920"/>
                </a:lnTo>
                <a:cubicBezTo>
                  <a:pt x="68231" y="2407920"/>
                  <a:pt x="0" y="2339689"/>
                  <a:pt x="0" y="2255523"/>
                </a:cubicBezTo>
                <a:lnTo>
                  <a:pt x="0" y="152397"/>
                </a:lnTo>
                <a:cubicBezTo>
                  <a:pt x="0" y="68231"/>
                  <a:pt x="68231" y="0"/>
                  <a:pt x="15239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9620" y="4398169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672846" y="4493419"/>
            <a:ext cx="485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/>
          </a:p>
        </p:txBody>
      </p:sp>
      <p:sp>
        <p:nvSpPr>
          <p:cNvPr id="27" name="Text 25"/>
          <p:cNvSpPr/>
          <p:nvPr/>
        </p:nvSpPr>
        <p:spPr>
          <a:xfrm>
            <a:off x="4579620" y="5160169"/>
            <a:ext cx="3143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Predictive Modeling</a:t>
            </a:r>
            <a:endParaRPr lang="en-US" sz="1600"/>
          </a:p>
        </p:txBody>
      </p:sp>
      <p:sp>
        <p:nvSpPr>
          <p:cNvPr id="28" name="Text 26"/>
          <p:cNvSpPr/>
          <p:nvPr/>
        </p:nvSpPr>
        <p:spPr>
          <a:xfrm>
            <a:off x="4579620" y="5579150"/>
            <a:ext cx="31146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comparison, performance metrics, and feature importance</a:t>
            </a:r>
            <a:endParaRPr lang="en-US" sz="1600"/>
          </a:p>
        </p:txBody>
      </p:sp>
      <p:sp>
        <p:nvSpPr>
          <p:cNvPr id="29" name="Shape 27"/>
          <p:cNvSpPr/>
          <p:nvPr/>
        </p:nvSpPr>
        <p:spPr>
          <a:xfrm>
            <a:off x="8157210" y="4061460"/>
            <a:ext cx="3646170" cy="2407920"/>
          </a:xfrm>
          <a:custGeom>
            <a:avLst/>
            <a:gdLst/>
            <a:ahLst/>
            <a:cxnLst/>
            <a:rect l="l" t="t" r="r" b="b"/>
            <a:pathLst>
              <a:path w="3646170" h="2407920">
                <a:moveTo>
                  <a:pt x="152397" y="0"/>
                </a:moveTo>
                <a:lnTo>
                  <a:pt x="3493773" y="0"/>
                </a:lnTo>
                <a:cubicBezTo>
                  <a:pt x="3577939" y="0"/>
                  <a:pt x="3646170" y="68231"/>
                  <a:pt x="3646170" y="152397"/>
                </a:cubicBezTo>
                <a:lnTo>
                  <a:pt x="3646170" y="2255523"/>
                </a:lnTo>
                <a:cubicBezTo>
                  <a:pt x="3646170" y="2339689"/>
                  <a:pt x="3577939" y="2407920"/>
                  <a:pt x="3493773" y="2407920"/>
                </a:cubicBezTo>
                <a:lnTo>
                  <a:pt x="152397" y="2407920"/>
                </a:lnTo>
                <a:cubicBezTo>
                  <a:pt x="68231" y="2407920"/>
                  <a:pt x="0" y="2339689"/>
                  <a:pt x="0" y="2255523"/>
                </a:cubicBezTo>
                <a:lnTo>
                  <a:pt x="0" y="152397"/>
                </a:lnTo>
                <a:cubicBezTo>
                  <a:pt x="0" y="68231"/>
                  <a:pt x="68231" y="0"/>
                  <a:pt x="15239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65820" y="4398169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8555831" y="4493419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/>
          </a:p>
        </p:txBody>
      </p:sp>
      <p:sp>
        <p:nvSpPr>
          <p:cNvPr id="32" name="Text 30"/>
          <p:cNvSpPr/>
          <p:nvPr/>
        </p:nvSpPr>
        <p:spPr>
          <a:xfrm>
            <a:off x="8465820" y="5160169"/>
            <a:ext cx="3143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 &amp; Conclusions</a:t>
            </a:r>
            <a:endParaRPr lang="en-US" sz="1600"/>
          </a:p>
        </p:txBody>
      </p:sp>
      <p:sp>
        <p:nvSpPr>
          <p:cNvPr id="33" name="Text 31"/>
          <p:cNvSpPr/>
          <p:nvPr/>
        </p:nvSpPr>
        <p:spPr>
          <a:xfrm>
            <a:off x="8465820" y="5579150"/>
            <a:ext cx="31146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Summary findings, policy implications, and future directions</a:t>
            </a:r>
            <a:endParaRPr lang="en-US" sz="160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Study Overview</a:t>
            </a:r>
            <a:endParaRPr lang="en-US" sz="160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Study Abstract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400050" y="1257300"/>
            <a:ext cx="5581650" cy="1828800"/>
          </a:xfrm>
          <a:custGeom>
            <a:avLst/>
            <a:gdLst/>
            <a:ahLst/>
            <a:cxnLst/>
            <a:rect l="l" t="t" r="r" b="b"/>
            <a:pathLst>
              <a:path w="5581650" h="1828800">
                <a:moveTo>
                  <a:pt x="38100" y="0"/>
                </a:moveTo>
                <a:lnTo>
                  <a:pt x="5467350" y="0"/>
                </a:lnTo>
                <a:cubicBezTo>
                  <a:pt x="5530434" y="0"/>
                  <a:pt x="5581650" y="51216"/>
                  <a:pt x="5581650" y="114300"/>
                </a:cubicBezTo>
                <a:lnTo>
                  <a:pt x="5581650" y="1714500"/>
                </a:lnTo>
                <a:cubicBezTo>
                  <a:pt x="5581650" y="1777584"/>
                  <a:pt x="5530434" y="1828800"/>
                  <a:pt x="5467350" y="1828800"/>
                </a:cubicBezTo>
                <a:lnTo>
                  <a:pt x="38100" y="1828800"/>
                </a:lnTo>
                <a:cubicBezTo>
                  <a:pt x="17058" y="1828800"/>
                  <a:pt x="0" y="1811742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257300"/>
            <a:ext cx="38100" cy="1828800"/>
          </a:xfrm>
          <a:custGeom>
            <a:avLst/>
            <a:gdLst/>
            <a:ahLst/>
            <a:cxnLst/>
            <a:rect l="l" t="t" r="r" b="b"/>
            <a:pathLst>
              <a:path w="38100" h="1828800">
                <a:moveTo>
                  <a:pt x="38100" y="0"/>
                </a:moveTo>
                <a:lnTo>
                  <a:pt x="38100" y="0"/>
                </a:lnTo>
                <a:lnTo>
                  <a:pt x="38100" y="1828800"/>
                </a:lnTo>
                <a:lnTo>
                  <a:pt x="38100" y="1828800"/>
                </a:lnTo>
                <a:cubicBezTo>
                  <a:pt x="17072" y="1828800"/>
                  <a:pt x="0" y="1811728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" name="Text 4"/>
          <p:cNvSpPr/>
          <p:nvPr/>
        </p:nvSpPr>
        <p:spPr>
          <a:xfrm>
            <a:off x="647700" y="1485900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Objective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647700" y="1866900"/>
            <a:ext cx="5181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 a </a:t>
            </a:r>
            <a:r>
              <a:rPr lang="en-US" sz="12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longitudinal healthcare expenditure risk framework</a:t>
            </a:r>
            <a:r>
              <a:rPr lang="en-US" sz="120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using MEPS Panels 11-15 to predict inflation-adjusted Year-2 healthcare expenditures among adult, non-cancer patients using Year-1 demographic, socioeconomic, clinical, and behavioral determinants.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400050" y="3238500"/>
            <a:ext cx="5581650" cy="2286000"/>
          </a:xfrm>
          <a:custGeom>
            <a:avLst/>
            <a:gdLst/>
            <a:ahLst/>
            <a:cxnLst/>
            <a:rect l="l" t="t" r="r" b="b"/>
            <a:pathLst>
              <a:path w="5581650" h="2286000">
                <a:moveTo>
                  <a:pt x="38100" y="0"/>
                </a:moveTo>
                <a:lnTo>
                  <a:pt x="5467350" y="0"/>
                </a:lnTo>
                <a:cubicBezTo>
                  <a:pt x="5530434" y="0"/>
                  <a:pt x="5581650" y="51216"/>
                  <a:pt x="5581650" y="114300"/>
                </a:cubicBezTo>
                <a:lnTo>
                  <a:pt x="5581650" y="2171700"/>
                </a:lnTo>
                <a:cubicBezTo>
                  <a:pt x="5581650" y="2234784"/>
                  <a:pt x="5530434" y="2286000"/>
                  <a:pt x="5467350" y="2286000"/>
                </a:cubicBezTo>
                <a:lnTo>
                  <a:pt x="38100" y="2286000"/>
                </a:lnTo>
                <a:cubicBezTo>
                  <a:pt x="17072" y="2286000"/>
                  <a:pt x="0" y="2268928"/>
                  <a:pt x="0" y="2247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00050" y="3238500"/>
            <a:ext cx="38100" cy="2286000"/>
          </a:xfrm>
          <a:custGeom>
            <a:avLst/>
            <a:gdLst/>
            <a:ahLst/>
            <a:cxnLst/>
            <a:rect l="l" t="t" r="r" b="b"/>
            <a:pathLst>
              <a:path w="38100" h="2286000">
                <a:moveTo>
                  <a:pt x="38100" y="0"/>
                </a:moveTo>
                <a:lnTo>
                  <a:pt x="38100" y="0"/>
                </a:lnTo>
                <a:lnTo>
                  <a:pt x="38100" y="2286000"/>
                </a:lnTo>
                <a:lnTo>
                  <a:pt x="38100" y="2286000"/>
                </a:lnTo>
                <a:cubicBezTo>
                  <a:pt x="17072" y="2286000"/>
                  <a:pt x="0" y="2268928"/>
                  <a:pt x="0" y="2247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0" name="Text 8"/>
          <p:cNvSpPr/>
          <p:nvPr/>
        </p:nvSpPr>
        <p:spPr>
          <a:xfrm>
            <a:off x="647700" y="3467100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Methodology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666750" y="3886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848100"/>
            <a:ext cx="4067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Extensive data cleaning and cancer exclusion harmonization</a:t>
            </a:r>
            <a:endParaRPr lang="en-US" sz="1600"/>
          </a:p>
        </p:txBody>
      </p:sp>
      <p:sp>
        <p:nvSpPr>
          <p:cNvPr id="13" name="Shape 11"/>
          <p:cNvSpPr/>
          <p:nvPr/>
        </p:nvSpPr>
        <p:spPr>
          <a:xfrm>
            <a:off x="666750" y="4191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152900"/>
            <a:ext cx="3829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engineering and exploratory data analysis (EDA)</a:t>
            </a:r>
            <a:endParaRPr lang="en-US" sz="1600"/>
          </a:p>
        </p:txBody>
      </p:sp>
      <p:sp>
        <p:nvSpPr>
          <p:cNvPr id="15" name="Shape 13"/>
          <p:cNvSpPr/>
          <p:nvPr/>
        </p:nvSpPr>
        <p:spPr>
          <a:xfrm>
            <a:off x="666750" y="4495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457700"/>
            <a:ext cx="3990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K-means clustering for unsupervised patient segmentation</a:t>
            </a:r>
            <a:endParaRPr lang="en-US" sz="1600"/>
          </a:p>
        </p:txBody>
      </p:sp>
      <p:sp>
        <p:nvSpPr>
          <p:cNvPr id="17" name="Shape 15"/>
          <p:cNvSpPr/>
          <p:nvPr/>
        </p:nvSpPr>
        <p:spPr>
          <a:xfrm>
            <a:off x="666750" y="4800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762500"/>
            <a:ext cx="327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CPI inflation adjustment to constant 2011 dollars</a:t>
            </a:r>
            <a:endParaRPr lang="en-US" sz="1600"/>
          </a:p>
        </p:txBody>
      </p:sp>
      <p:sp>
        <p:nvSpPr>
          <p:cNvPr id="19" name="Shape 17"/>
          <p:cNvSpPr/>
          <p:nvPr/>
        </p:nvSpPr>
        <p:spPr>
          <a:xfrm>
            <a:off x="666750" y="5105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067300"/>
            <a:ext cx="3590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Quartile-based risk-stratified classification modeling</a:t>
            </a:r>
            <a:endParaRPr lang="en-US" sz="1600"/>
          </a:p>
        </p:txBody>
      </p:sp>
      <p:sp>
        <p:nvSpPr>
          <p:cNvPr id="21" name="Shape 19"/>
          <p:cNvSpPr/>
          <p:nvPr/>
        </p:nvSpPr>
        <p:spPr>
          <a:xfrm>
            <a:off x="6229350" y="1257300"/>
            <a:ext cx="5581650" cy="3390900"/>
          </a:xfrm>
          <a:custGeom>
            <a:avLst/>
            <a:gdLst/>
            <a:ahLst/>
            <a:cxnLst/>
            <a:rect l="l" t="t" r="r" b="b"/>
            <a:pathLst>
              <a:path w="5581650" h="3390900">
                <a:moveTo>
                  <a:pt x="38100" y="0"/>
                </a:moveTo>
                <a:lnTo>
                  <a:pt x="5467343" y="0"/>
                </a:lnTo>
                <a:cubicBezTo>
                  <a:pt x="5530473" y="0"/>
                  <a:pt x="5581650" y="51177"/>
                  <a:pt x="5581650" y="114307"/>
                </a:cubicBezTo>
                <a:lnTo>
                  <a:pt x="5581650" y="3276593"/>
                </a:lnTo>
                <a:cubicBezTo>
                  <a:pt x="5581650" y="3339723"/>
                  <a:pt x="5530473" y="3390900"/>
                  <a:pt x="5467343" y="3390900"/>
                </a:cubicBezTo>
                <a:lnTo>
                  <a:pt x="38100" y="3390900"/>
                </a:lnTo>
                <a:cubicBezTo>
                  <a:pt x="17072" y="3390900"/>
                  <a:pt x="0" y="3373828"/>
                  <a:pt x="0" y="3352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6229350" y="1257300"/>
            <a:ext cx="38100" cy="3390900"/>
          </a:xfrm>
          <a:custGeom>
            <a:avLst/>
            <a:gdLst/>
            <a:ahLst/>
            <a:cxnLst/>
            <a:rect l="l" t="t" r="r" b="b"/>
            <a:pathLst>
              <a:path w="38100" h="3390900">
                <a:moveTo>
                  <a:pt x="38100" y="0"/>
                </a:moveTo>
                <a:lnTo>
                  <a:pt x="38100" y="0"/>
                </a:lnTo>
                <a:lnTo>
                  <a:pt x="38100" y="3390900"/>
                </a:lnTo>
                <a:lnTo>
                  <a:pt x="38100" y="3390900"/>
                </a:lnTo>
                <a:cubicBezTo>
                  <a:pt x="17072" y="3390900"/>
                  <a:pt x="0" y="3373828"/>
                  <a:pt x="0" y="3352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23" name="Text 21"/>
          <p:cNvSpPr/>
          <p:nvPr/>
        </p:nvSpPr>
        <p:spPr>
          <a:xfrm>
            <a:off x="6477000" y="1485900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Findings</a:t>
            </a:r>
            <a:endParaRPr lang="en-US" sz="1600"/>
          </a:p>
        </p:txBody>
      </p:sp>
      <p:sp>
        <p:nvSpPr>
          <p:cNvPr id="24" name="Shape 22"/>
          <p:cNvSpPr/>
          <p:nvPr/>
        </p:nvSpPr>
        <p:spPr>
          <a:xfrm>
            <a:off x="6477000" y="1866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553200" y="1943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6" name="Text 24"/>
          <p:cNvSpPr/>
          <p:nvPr/>
        </p:nvSpPr>
        <p:spPr>
          <a:xfrm>
            <a:off x="6896100" y="1866900"/>
            <a:ext cx="3600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Socioeconomic Gradients</a:t>
            </a:r>
            <a:endParaRPr lang="en-US" sz="1600"/>
          </a:p>
        </p:txBody>
      </p:sp>
      <p:sp>
        <p:nvSpPr>
          <p:cNvPr id="27" name="Text 25"/>
          <p:cNvSpPr/>
          <p:nvPr/>
        </p:nvSpPr>
        <p:spPr>
          <a:xfrm>
            <a:off x="6896100" y="2095500"/>
            <a:ext cx="3590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Strong patterns in healthcare utilization across income levels</a:t>
            </a:r>
            <a:endParaRPr lang="en-US" sz="1600"/>
          </a:p>
        </p:txBody>
      </p:sp>
      <p:sp>
        <p:nvSpPr>
          <p:cNvPr id="28" name="Shape 26"/>
          <p:cNvSpPr/>
          <p:nvPr/>
        </p:nvSpPr>
        <p:spPr>
          <a:xfrm>
            <a:off x="6477000" y="2400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562725" y="2476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2241" y="23813"/>
                </a:moveTo>
                <a:lnTo>
                  <a:pt x="99417" y="23813"/>
                </a:lnTo>
                <a:cubicBezTo>
                  <a:pt x="96232" y="16490"/>
                  <a:pt x="90636" y="10448"/>
                  <a:pt x="83671" y="6668"/>
                </a:cubicBezTo>
                <a:lnTo>
                  <a:pt x="72241" y="23813"/>
                </a:lnTo>
                <a:close/>
                <a:moveTo>
                  <a:pt x="71973" y="2768"/>
                </a:moveTo>
                <a:cubicBezTo>
                  <a:pt x="70247" y="2500"/>
                  <a:pt x="68461" y="2381"/>
                  <a:pt x="66675" y="2381"/>
                </a:cubicBezTo>
                <a:cubicBezTo>
                  <a:pt x="52030" y="2381"/>
                  <a:pt x="39439" y="11192"/>
                  <a:pt x="33933" y="23813"/>
                </a:cubicBezTo>
                <a:lnTo>
                  <a:pt x="57924" y="23813"/>
                </a:lnTo>
                <a:lnTo>
                  <a:pt x="71944" y="2768"/>
                </a:lnTo>
                <a:close/>
                <a:moveTo>
                  <a:pt x="66675" y="73819"/>
                </a:moveTo>
                <a:cubicBezTo>
                  <a:pt x="86410" y="73819"/>
                  <a:pt x="102394" y="57835"/>
                  <a:pt x="102394" y="38100"/>
                </a:cubicBezTo>
                <a:lnTo>
                  <a:pt x="30956" y="38100"/>
                </a:lnTo>
                <a:cubicBezTo>
                  <a:pt x="30956" y="57835"/>
                  <a:pt x="46940" y="73819"/>
                  <a:pt x="66675" y="73819"/>
                </a:cubicBezTo>
                <a:close/>
                <a:moveTo>
                  <a:pt x="29379" y="101739"/>
                </a:moveTo>
                <a:cubicBezTo>
                  <a:pt x="14674" y="110192"/>
                  <a:pt x="4763" y="126057"/>
                  <a:pt x="4763" y="144244"/>
                </a:cubicBezTo>
                <a:cubicBezTo>
                  <a:pt x="4763" y="148739"/>
                  <a:pt x="8424" y="152400"/>
                  <a:pt x="12918" y="152400"/>
                </a:cubicBezTo>
                <a:lnTo>
                  <a:pt x="57864" y="152400"/>
                </a:lnTo>
                <a:lnTo>
                  <a:pt x="29349" y="101739"/>
                </a:lnTo>
                <a:close/>
                <a:moveTo>
                  <a:pt x="42803" y="96470"/>
                </a:moveTo>
                <a:lnTo>
                  <a:pt x="55513" y="119062"/>
                </a:lnTo>
                <a:lnTo>
                  <a:pt x="80962" y="119062"/>
                </a:lnTo>
                <a:cubicBezTo>
                  <a:pt x="94119" y="119062"/>
                  <a:pt x="104775" y="129719"/>
                  <a:pt x="104775" y="142875"/>
                </a:cubicBezTo>
                <a:cubicBezTo>
                  <a:pt x="104775" y="146268"/>
                  <a:pt x="104061" y="149483"/>
                  <a:pt x="102781" y="152400"/>
                </a:cubicBezTo>
                <a:lnTo>
                  <a:pt x="120402" y="152400"/>
                </a:lnTo>
                <a:cubicBezTo>
                  <a:pt x="124897" y="152400"/>
                  <a:pt x="128558" y="148739"/>
                  <a:pt x="128558" y="144244"/>
                </a:cubicBezTo>
                <a:cubicBezTo>
                  <a:pt x="128558" y="117187"/>
                  <a:pt x="106620" y="95250"/>
                  <a:pt x="79564" y="95250"/>
                </a:cubicBezTo>
                <a:lnTo>
                  <a:pt x="53697" y="95250"/>
                </a:lnTo>
                <a:cubicBezTo>
                  <a:pt x="49947" y="95250"/>
                  <a:pt x="46286" y="95667"/>
                  <a:pt x="42773" y="96470"/>
                </a:cubicBezTo>
                <a:close/>
                <a:moveTo>
                  <a:pt x="63550" y="133350"/>
                </a:moveTo>
                <a:lnTo>
                  <a:pt x="74265" y="152400"/>
                </a:lnTo>
                <a:lnTo>
                  <a:pt x="80962" y="152400"/>
                </a:lnTo>
                <a:cubicBezTo>
                  <a:pt x="86231" y="152400"/>
                  <a:pt x="90488" y="148144"/>
                  <a:pt x="90488" y="142875"/>
                </a:cubicBezTo>
                <a:cubicBezTo>
                  <a:pt x="90488" y="137606"/>
                  <a:pt x="86231" y="133350"/>
                  <a:pt x="80962" y="133350"/>
                </a:cubicBezTo>
                <a:lnTo>
                  <a:pt x="63550" y="13335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0" name="Text 28"/>
          <p:cNvSpPr/>
          <p:nvPr/>
        </p:nvSpPr>
        <p:spPr>
          <a:xfrm>
            <a:off x="6896100" y="2400300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Age-Based Multimorbidity</a:t>
            </a:r>
            <a:endParaRPr lang="en-US" sz="1600"/>
          </a:p>
        </p:txBody>
      </p:sp>
      <p:sp>
        <p:nvSpPr>
          <p:cNvPr id="31" name="Text 29"/>
          <p:cNvSpPr/>
          <p:nvPr/>
        </p:nvSpPr>
        <p:spPr>
          <a:xfrm>
            <a:off x="6896100" y="2628900"/>
            <a:ext cx="2847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Chronic conditions cluster with age progression</a:t>
            </a:r>
            <a:endParaRPr lang="en-US" sz="1600"/>
          </a:p>
        </p:txBody>
      </p:sp>
      <p:sp>
        <p:nvSpPr>
          <p:cNvPr id="32" name="Shape 30"/>
          <p:cNvSpPr/>
          <p:nvPr/>
        </p:nvSpPr>
        <p:spPr>
          <a:xfrm>
            <a:off x="6477000" y="29337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562725" y="30099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4707" y="57150"/>
                </a:moveTo>
                <a:cubicBezTo>
                  <a:pt x="33814" y="54144"/>
                  <a:pt x="33338" y="50929"/>
                  <a:pt x="33338" y="47625"/>
                </a:cubicBezTo>
                <a:cubicBezTo>
                  <a:pt x="33338" y="29200"/>
                  <a:pt x="48250" y="14288"/>
                  <a:pt x="66675" y="14288"/>
                </a:cubicBezTo>
                <a:cubicBezTo>
                  <a:pt x="85100" y="14288"/>
                  <a:pt x="100013" y="29200"/>
                  <a:pt x="100013" y="47625"/>
                </a:cubicBezTo>
                <a:cubicBezTo>
                  <a:pt x="100013" y="50929"/>
                  <a:pt x="99536" y="54144"/>
                  <a:pt x="98643" y="57150"/>
                </a:cubicBezTo>
                <a:lnTo>
                  <a:pt x="77510" y="57150"/>
                </a:lnTo>
                <a:lnTo>
                  <a:pt x="84832" y="43964"/>
                </a:lnTo>
                <a:cubicBezTo>
                  <a:pt x="86737" y="40511"/>
                  <a:pt x="85517" y="36165"/>
                  <a:pt x="82064" y="34260"/>
                </a:cubicBezTo>
                <a:cubicBezTo>
                  <a:pt x="78611" y="32355"/>
                  <a:pt x="74265" y="33576"/>
                  <a:pt x="72360" y="37028"/>
                </a:cubicBezTo>
                <a:lnTo>
                  <a:pt x="61168" y="57180"/>
                </a:lnTo>
                <a:lnTo>
                  <a:pt x="34736" y="57180"/>
                </a:lnTo>
                <a:close/>
                <a:moveTo>
                  <a:pt x="38100" y="9525"/>
                </a:moveTo>
                <a:lnTo>
                  <a:pt x="19050" y="9525"/>
                </a:lnTo>
                <a:cubicBezTo>
                  <a:pt x="8543" y="9525"/>
                  <a:pt x="0" y="18068"/>
                  <a:pt x="0" y="2857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28575"/>
                </a:lnTo>
                <a:cubicBezTo>
                  <a:pt x="133350" y="18068"/>
                  <a:pt x="124807" y="9525"/>
                  <a:pt x="114300" y="9525"/>
                </a:cubicBezTo>
                <a:lnTo>
                  <a:pt x="95250" y="9525"/>
                </a:lnTo>
                <a:cubicBezTo>
                  <a:pt x="87303" y="3542"/>
                  <a:pt x="77391" y="0"/>
                  <a:pt x="66675" y="0"/>
                </a:cubicBezTo>
                <a:cubicBezTo>
                  <a:pt x="55959" y="0"/>
                  <a:pt x="46047" y="3542"/>
                  <a:pt x="38100" y="9525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4" name="Text 32"/>
          <p:cNvSpPr/>
          <p:nvPr/>
        </p:nvSpPr>
        <p:spPr>
          <a:xfrm>
            <a:off x="6896100" y="2933700"/>
            <a:ext cx="2619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Nonlinear BMI-Cost Relationships</a:t>
            </a:r>
            <a:endParaRPr lang="en-US" sz="1600"/>
          </a:p>
        </p:txBody>
      </p:sp>
      <p:sp>
        <p:nvSpPr>
          <p:cNvPr id="35" name="Text 33"/>
          <p:cNvSpPr/>
          <p:nvPr/>
        </p:nvSpPr>
        <p:spPr>
          <a:xfrm>
            <a:off x="6896100" y="3162300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Obesity shows extreme spending variability</a:t>
            </a:r>
            <a:endParaRPr lang="en-US" sz="1600"/>
          </a:p>
        </p:txBody>
      </p:sp>
      <p:sp>
        <p:nvSpPr>
          <p:cNvPr id="36" name="Shape 34"/>
          <p:cNvSpPr/>
          <p:nvPr/>
        </p:nvSpPr>
        <p:spPr>
          <a:xfrm>
            <a:off x="6477000" y="3467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553200" y="3543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44827"/>
                </a:moveTo>
                <a:lnTo>
                  <a:pt x="121027" y="73402"/>
                </a:lnTo>
                <a:cubicBezTo>
                  <a:pt x="118289" y="76140"/>
                  <a:pt x="114211" y="76944"/>
                  <a:pt x="110639" y="75456"/>
                </a:cubicBezTo>
                <a:cubicBezTo>
                  <a:pt x="107067" y="73968"/>
                  <a:pt x="104775" y="70515"/>
                  <a:pt x="104775" y="66675"/>
                </a:cubicBezTo>
                <a:lnTo>
                  <a:pt x="104775" y="47625"/>
                </a:lnTo>
                <a:lnTo>
                  <a:pt x="9525" y="47625"/>
                </a:lnTo>
                <a:cubicBezTo>
                  <a:pt x="4256" y="47625"/>
                  <a:pt x="0" y="43369"/>
                  <a:pt x="0" y="38100"/>
                </a:cubicBezTo>
                <a:cubicBezTo>
                  <a:pt x="0" y="32831"/>
                  <a:pt x="4256" y="28575"/>
                  <a:pt x="9525" y="28575"/>
                </a:cubicBezTo>
                <a:lnTo>
                  <a:pt x="104775" y="28575"/>
                </a:lnTo>
                <a:lnTo>
                  <a:pt x="104775" y="9525"/>
                </a:lnTo>
                <a:cubicBezTo>
                  <a:pt x="104775" y="5685"/>
                  <a:pt x="107097" y="2203"/>
                  <a:pt x="110669" y="714"/>
                </a:cubicBezTo>
                <a:cubicBezTo>
                  <a:pt x="114240" y="-774"/>
                  <a:pt x="118318" y="60"/>
                  <a:pt x="121057" y="2768"/>
                </a:cubicBezTo>
                <a:lnTo>
                  <a:pt x="149632" y="31343"/>
                </a:lnTo>
                <a:cubicBezTo>
                  <a:pt x="153353" y="35064"/>
                  <a:pt x="153353" y="41106"/>
                  <a:pt x="149632" y="44827"/>
                </a:cubicBezTo>
                <a:close/>
                <a:moveTo>
                  <a:pt x="31343" y="149602"/>
                </a:moveTo>
                <a:lnTo>
                  <a:pt x="2768" y="121027"/>
                </a:lnTo>
                <a:cubicBezTo>
                  <a:pt x="-952" y="117306"/>
                  <a:pt x="-952" y="111264"/>
                  <a:pt x="2768" y="107543"/>
                </a:cubicBezTo>
                <a:lnTo>
                  <a:pt x="31343" y="78968"/>
                </a:lnTo>
                <a:cubicBezTo>
                  <a:pt x="34082" y="76230"/>
                  <a:pt x="38160" y="75426"/>
                  <a:pt x="41731" y="76914"/>
                </a:cubicBezTo>
                <a:cubicBezTo>
                  <a:pt x="45303" y="78403"/>
                  <a:pt x="47625" y="81885"/>
                  <a:pt x="47625" y="85725"/>
                </a:cubicBezTo>
                <a:lnTo>
                  <a:pt x="47625" y="104775"/>
                </a:lnTo>
                <a:lnTo>
                  <a:pt x="142875" y="104775"/>
                </a:lnTo>
                <a:cubicBezTo>
                  <a:pt x="148144" y="104775"/>
                  <a:pt x="152400" y="109031"/>
                  <a:pt x="152400" y="114300"/>
                </a:cubicBezTo>
                <a:cubicBezTo>
                  <a:pt x="152400" y="119569"/>
                  <a:pt x="148144" y="123825"/>
                  <a:pt x="142875" y="123825"/>
                </a:cubicBezTo>
                <a:lnTo>
                  <a:pt x="47625" y="123825"/>
                </a:lnTo>
                <a:lnTo>
                  <a:pt x="47625" y="142875"/>
                </a:lnTo>
                <a:cubicBezTo>
                  <a:pt x="47625" y="146715"/>
                  <a:pt x="45303" y="150197"/>
                  <a:pt x="41731" y="151686"/>
                </a:cubicBezTo>
                <a:cubicBezTo>
                  <a:pt x="38160" y="153174"/>
                  <a:pt x="34082" y="152340"/>
                  <a:pt x="31343" y="149632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8" name="Text 36"/>
          <p:cNvSpPr/>
          <p:nvPr/>
        </p:nvSpPr>
        <p:spPr>
          <a:xfrm>
            <a:off x="6896100" y="3467100"/>
            <a:ext cx="2486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Payer Mix Transitions</a:t>
            </a:r>
            <a:endParaRPr lang="en-US" sz="1600"/>
          </a:p>
        </p:txBody>
      </p:sp>
      <p:sp>
        <p:nvSpPr>
          <p:cNvPr id="39" name="Text 37"/>
          <p:cNvSpPr/>
          <p:nvPr/>
        </p:nvSpPr>
        <p:spPr>
          <a:xfrm>
            <a:off x="6896100" y="3695700"/>
            <a:ext cx="247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Insurance coverage shifts across lifespan</a:t>
            </a:r>
            <a:endParaRPr lang="en-US" sz="1600"/>
          </a:p>
        </p:txBody>
      </p:sp>
      <p:sp>
        <p:nvSpPr>
          <p:cNvPr id="40" name="Shape 38"/>
          <p:cNvSpPr/>
          <p:nvPr/>
        </p:nvSpPr>
        <p:spPr>
          <a:xfrm>
            <a:off x="6477000" y="4000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34150" y="40767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2" name="Text 40"/>
          <p:cNvSpPr/>
          <p:nvPr/>
        </p:nvSpPr>
        <p:spPr>
          <a:xfrm>
            <a:off x="6896100" y="4000500"/>
            <a:ext cx="2752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Distinct Patient Phenotypes</a:t>
            </a:r>
            <a:endParaRPr lang="en-US" sz="1600"/>
          </a:p>
        </p:txBody>
      </p:sp>
      <p:sp>
        <p:nvSpPr>
          <p:cNvPr id="43" name="Text 41"/>
          <p:cNvSpPr/>
          <p:nvPr/>
        </p:nvSpPr>
        <p:spPr>
          <a:xfrm>
            <a:off x="6896100" y="4229100"/>
            <a:ext cx="2743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 clear clusters: high vs. low clinical burden</a:t>
            </a:r>
            <a:endParaRPr lang="en-US" sz="1600"/>
          </a:p>
        </p:txBody>
      </p:sp>
      <p:sp>
        <p:nvSpPr>
          <p:cNvPr id="44" name="Shape 42"/>
          <p:cNvSpPr/>
          <p:nvPr/>
        </p:nvSpPr>
        <p:spPr>
          <a:xfrm>
            <a:off x="6214110" y="4804410"/>
            <a:ext cx="5589270" cy="1036320"/>
          </a:xfrm>
          <a:custGeom>
            <a:avLst/>
            <a:gdLst/>
            <a:ahLst/>
            <a:cxnLst/>
            <a:rect l="l" t="t" r="r" b="b"/>
            <a:pathLst>
              <a:path w="5589270" h="1036320">
                <a:moveTo>
                  <a:pt x="114296" y="0"/>
                </a:moveTo>
                <a:lnTo>
                  <a:pt x="5474974" y="0"/>
                </a:lnTo>
                <a:cubicBezTo>
                  <a:pt x="5538098" y="0"/>
                  <a:pt x="5589270" y="51172"/>
                  <a:pt x="5589270" y="114296"/>
                </a:cubicBezTo>
                <a:lnTo>
                  <a:pt x="5589270" y="922024"/>
                </a:lnTo>
                <a:cubicBezTo>
                  <a:pt x="5589270" y="985148"/>
                  <a:pt x="5538098" y="1036320"/>
                  <a:pt x="5474974" y="1036320"/>
                </a:cubicBezTo>
                <a:lnTo>
                  <a:pt x="114296" y="1036320"/>
                </a:lnTo>
                <a:cubicBezTo>
                  <a:pt x="51172" y="1036320"/>
                  <a:pt x="0" y="985148"/>
                  <a:pt x="0" y="9220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 w="10160">
            <a:solidFill>
              <a:srgbClr val="0071E3">
                <a:alpha val="2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70320" y="4960620"/>
            <a:ext cx="534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Keywords</a:t>
            </a:r>
            <a:endParaRPr lang="en-US" sz="1600"/>
          </a:p>
        </p:txBody>
      </p:sp>
      <p:sp>
        <p:nvSpPr>
          <p:cNvPr id="46" name="Text 44"/>
          <p:cNvSpPr/>
          <p:nvPr/>
        </p:nvSpPr>
        <p:spPr>
          <a:xfrm>
            <a:off x="6370320" y="5227320"/>
            <a:ext cx="5353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Medical Expenditure Panel Survey · Longitudinal Analysis · Healthcare Utilization · Chronic Conditions · Patient Clustering · Risk Stratification</a:t>
            </a:r>
            <a:endParaRPr lang="en-US" sz="160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Framework</a:t>
            </a:r>
            <a:endParaRPr lang="en-US" sz="160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Objectives &amp; Framework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344170" y="1078230"/>
            <a:ext cx="5589270" cy="3093720"/>
          </a:xfrm>
          <a:custGeom>
            <a:avLst/>
            <a:gdLst/>
            <a:ahLst/>
            <a:cxnLst/>
            <a:rect l="l" t="t" r="r" b="b"/>
            <a:pathLst>
              <a:path w="5589270" h="3093720">
                <a:moveTo>
                  <a:pt x="114313" y="0"/>
                </a:moveTo>
                <a:lnTo>
                  <a:pt x="5474957" y="0"/>
                </a:lnTo>
                <a:cubicBezTo>
                  <a:pt x="5538090" y="0"/>
                  <a:pt x="5589270" y="51180"/>
                  <a:pt x="5589270" y="114313"/>
                </a:cubicBezTo>
                <a:lnTo>
                  <a:pt x="5589270" y="2979407"/>
                </a:lnTo>
                <a:cubicBezTo>
                  <a:pt x="5589270" y="3042540"/>
                  <a:pt x="5538090" y="3093720"/>
                  <a:pt x="5474957" y="3093720"/>
                </a:cubicBezTo>
                <a:lnTo>
                  <a:pt x="114313" y="3093720"/>
                </a:lnTo>
                <a:cubicBezTo>
                  <a:pt x="51180" y="3093720"/>
                  <a:pt x="0" y="3042540"/>
                  <a:pt x="0" y="2979407"/>
                </a:cubicBezTo>
                <a:lnTo>
                  <a:pt x="0" y="114313"/>
                </a:lnTo>
                <a:cubicBezTo>
                  <a:pt x="0" y="51222"/>
                  <a:pt x="51222" y="0"/>
                  <a:pt x="11431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580" y="1310640"/>
            <a:ext cx="521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Objectives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576580" y="172974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7" name="Text 5"/>
          <p:cNvSpPr/>
          <p:nvPr/>
        </p:nvSpPr>
        <p:spPr>
          <a:xfrm>
            <a:off x="543243" y="1729740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995680" y="1729740"/>
            <a:ext cx="478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Consolidation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995680" y="1958340"/>
            <a:ext cx="4772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Consolidate and clean longitudinal MEPS data from five consecutive panels (11-15)</a:t>
            </a:r>
            <a:endParaRPr lang="en-US" sz="1600"/>
          </a:p>
        </p:txBody>
      </p:sp>
      <p:sp>
        <p:nvSpPr>
          <p:cNvPr id="10" name="Shape 8"/>
          <p:cNvSpPr/>
          <p:nvPr/>
        </p:nvSpPr>
        <p:spPr>
          <a:xfrm>
            <a:off x="576580" y="245364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1" name="Text 9"/>
          <p:cNvSpPr/>
          <p:nvPr/>
        </p:nvSpPr>
        <p:spPr>
          <a:xfrm>
            <a:off x="543243" y="2453640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995680" y="2453640"/>
            <a:ext cx="4124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Engineering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995680" y="2682240"/>
            <a:ext cx="411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Conduct meaningful feature engineering to enhance predictive power</a:t>
            </a:r>
            <a:endParaRPr lang="en-US" sz="1600"/>
          </a:p>
        </p:txBody>
      </p:sp>
      <p:sp>
        <p:nvSpPr>
          <p:cNvPr id="14" name="Shape 12"/>
          <p:cNvSpPr/>
          <p:nvPr/>
        </p:nvSpPr>
        <p:spPr>
          <a:xfrm>
            <a:off x="576580" y="298704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5" name="Text 13"/>
          <p:cNvSpPr/>
          <p:nvPr/>
        </p:nvSpPr>
        <p:spPr>
          <a:xfrm>
            <a:off x="543243" y="2987040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995680" y="2987040"/>
            <a:ext cx="3609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Exploratory Analysis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995680" y="3215640"/>
            <a:ext cx="3600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Conduct EDA for identifying patterns in healthcare utilization</a:t>
            </a:r>
            <a:endParaRPr lang="en-US" sz="1600"/>
          </a:p>
        </p:txBody>
      </p:sp>
      <p:sp>
        <p:nvSpPr>
          <p:cNvPr id="18" name="Shape 16"/>
          <p:cNvSpPr/>
          <p:nvPr/>
        </p:nvSpPr>
        <p:spPr>
          <a:xfrm>
            <a:off x="576580" y="352044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9" name="Text 17"/>
          <p:cNvSpPr/>
          <p:nvPr/>
        </p:nvSpPr>
        <p:spPr>
          <a:xfrm>
            <a:off x="543243" y="3520440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/>
          </a:p>
        </p:txBody>
      </p:sp>
      <p:sp>
        <p:nvSpPr>
          <p:cNvPr id="20" name="Text 18"/>
          <p:cNvSpPr/>
          <p:nvPr/>
        </p:nvSpPr>
        <p:spPr>
          <a:xfrm>
            <a:off x="995680" y="3520440"/>
            <a:ext cx="3609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Predictive Modeling</a:t>
            </a:r>
            <a:endParaRPr lang="en-US" sz="1600"/>
          </a:p>
        </p:txBody>
      </p:sp>
      <p:sp>
        <p:nvSpPr>
          <p:cNvPr id="21" name="Text 19"/>
          <p:cNvSpPr/>
          <p:nvPr/>
        </p:nvSpPr>
        <p:spPr>
          <a:xfrm>
            <a:off x="995680" y="3749040"/>
            <a:ext cx="3600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Prepare a robust dataset for subsequent predictive modeling</a:t>
            </a:r>
            <a:endParaRPr lang="en-US" sz="1600"/>
          </a:p>
        </p:txBody>
      </p:sp>
      <p:sp>
        <p:nvSpPr>
          <p:cNvPr id="22" name="Shape 20"/>
          <p:cNvSpPr/>
          <p:nvPr/>
        </p:nvSpPr>
        <p:spPr>
          <a:xfrm>
            <a:off x="374650" y="4392931"/>
            <a:ext cx="5558790" cy="2239010"/>
          </a:xfrm>
          <a:custGeom>
            <a:avLst/>
            <a:gdLst/>
            <a:ahLst/>
            <a:cxnLst/>
            <a:rect l="l" t="t" r="r" b="b"/>
            <a:pathLst>
              <a:path w="5589270" h="1893570">
                <a:moveTo>
                  <a:pt x="114296" y="0"/>
                </a:moveTo>
                <a:lnTo>
                  <a:pt x="5474974" y="0"/>
                </a:lnTo>
                <a:cubicBezTo>
                  <a:pt x="5538098" y="0"/>
                  <a:pt x="5589270" y="51172"/>
                  <a:pt x="5589270" y="114296"/>
                </a:cubicBezTo>
                <a:lnTo>
                  <a:pt x="5589270" y="1779274"/>
                </a:lnTo>
                <a:cubicBezTo>
                  <a:pt x="5589270" y="1842398"/>
                  <a:pt x="5538098" y="1893570"/>
                  <a:pt x="5474974" y="1893570"/>
                </a:cubicBezTo>
                <a:lnTo>
                  <a:pt x="114296" y="1893570"/>
                </a:lnTo>
                <a:cubicBezTo>
                  <a:pt x="51172" y="1893570"/>
                  <a:pt x="0" y="1842398"/>
                  <a:pt x="0" y="177927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 w="10160">
            <a:solidFill>
              <a:srgbClr val="0071E3">
                <a:alpha val="2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580" y="4564381"/>
            <a:ext cx="521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Prospective Risk Stratification</a:t>
            </a:r>
            <a:endParaRPr lang="en-US" sz="1600"/>
          </a:p>
        </p:txBody>
      </p:sp>
      <p:sp>
        <p:nvSpPr>
          <p:cNvPr id="24" name="Text 22"/>
          <p:cNvSpPr/>
          <p:nvPr/>
        </p:nvSpPr>
        <p:spPr>
          <a:xfrm>
            <a:off x="576580" y="4945381"/>
            <a:ext cx="52006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project focuses on </a:t>
            </a:r>
            <a:r>
              <a:rPr lang="en-US" sz="12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predicting Year-2 healthcare expenditures using Year-1 characteristics</a:t>
            </a:r>
            <a:r>
              <a:rPr lang="en-US" sz="120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supporting prospective risk stratification rather than retrospective cost explanation.</a:t>
            </a:r>
            <a:endParaRPr lang="en-US" sz="1600"/>
          </a:p>
        </p:txBody>
      </p:sp>
      <p:sp>
        <p:nvSpPr>
          <p:cNvPr id="25" name="Shape 23"/>
          <p:cNvSpPr/>
          <p:nvPr/>
        </p:nvSpPr>
        <p:spPr>
          <a:xfrm>
            <a:off x="612299" y="5831206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76286" y="100013"/>
                </a:moveTo>
                <a:cubicBezTo>
                  <a:pt x="78187" y="94204"/>
                  <a:pt x="81989" y="88943"/>
                  <a:pt x="86287" y="84412"/>
                </a:cubicBezTo>
                <a:cubicBezTo>
                  <a:pt x="94804" y="75452"/>
                  <a:pt x="100012" y="63341"/>
                  <a:pt x="100012" y="50006"/>
                </a:cubicBezTo>
                <a:cubicBezTo>
                  <a:pt x="100012" y="22399"/>
                  <a:pt x="77614" y="0"/>
                  <a:pt x="50006" y="0"/>
                </a:cubicBezTo>
                <a:cubicBezTo>
                  <a:pt x="22399" y="0"/>
                  <a:pt x="0" y="22399"/>
                  <a:pt x="0" y="50006"/>
                </a:cubicBezTo>
                <a:cubicBezTo>
                  <a:pt x="0" y="63341"/>
                  <a:pt x="5209" y="75452"/>
                  <a:pt x="13726" y="84412"/>
                </a:cubicBezTo>
                <a:cubicBezTo>
                  <a:pt x="18023" y="88943"/>
                  <a:pt x="21852" y="94204"/>
                  <a:pt x="23727" y="100013"/>
                </a:cubicBezTo>
                <a:lnTo>
                  <a:pt x="76260" y="100013"/>
                </a:lnTo>
                <a:close/>
                <a:moveTo>
                  <a:pt x="75009" y="112514"/>
                </a:moveTo>
                <a:lnTo>
                  <a:pt x="25003" y="112514"/>
                </a:lnTo>
                <a:lnTo>
                  <a:pt x="25003" y="116681"/>
                </a:lnTo>
                <a:cubicBezTo>
                  <a:pt x="25003" y="128193"/>
                  <a:pt x="34327" y="137517"/>
                  <a:pt x="45839" y="137517"/>
                </a:cubicBezTo>
                <a:lnTo>
                  <a:pt x="54173" y="137517"/>
                </a:lnTo>
                <a:cubicBezTo>
                  <a:pt x="65685" y="137517"/>
                  <a:pt x="75009" y="128193"/>
                  <a:pt x="75009" y="116681"/>
                </a:cubicBezTo>
                <a:lnTo>
                  <a:pt x="75009" y="112514"/>
                </a:lnTo>
                <a:close/>
                <a:moveTo>
                  <a:pt x="47923" y="29170"/>
                </a:moveTo>
                <a:cubicBezTo>
                  <a:pt x="37557" y="29170"/>
                  <a:pt x="29170" y="37557"/>
                  <a:pt x="29170" y="47923"/>
                </a:cubicBezTo>
                <a:cubicBezTo>
                  <a:pt x="29170" y="51387"/>
                  <a:pt x="26384" y="54173"/>
                  <a:pt x="22920" y="54173"/>
                </a:cubicBezTo>
                <a:cubicBezTo>
                  <a:pt x="19456" y="54173"/>
                  <a:pt x="16669" y="51387"/>
                  <a:pt x="16669" y="47923"/>
                </a:cubicBezTo>
                <a:cubicBezTo>
                  <a:pt x="16669" y="30655"/>
                  <a:pt x="30655" y="16669"/>
                  <a:pt x="47923" y="16669"/>
                </a:cubicBezTo>
                <a:cubicBezTo>
                  <a:pt x="51387" y="16669"/>
                  <a:pt x="54173" y="19456"/>
                  <a:pt x="54173" y="22920"/>
                </a:cubicBezTo>
                <a:cubicBezTo>
                  <a:pt x="54173" y="26384"/>
                  <a:pt x="51387" y="29170"/>
                  <a:pt x="47923" y="2917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6" name="Text 24"/>
          <p:cNvSpPr/>
          <p:nvPr/>
        </p:nvSpPr>
        <p:spPr>
          <a:xfrm>
            <a:off x="819468" y="5802631"/>
            <a:ext cx="2962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Enables early intervention and resource allocation</a:t>
            </a:r>
            <a:endParaRPr lang="en-US" sz="1600"/>
          </a:p>
        </p:txBody>
      </p:sp>
      <p:sp>
        <p:nvSpPr>
          <p:cNvPr id="27" name="Shape 25"/>
          <p:cNvSpPr/>
          <p:nvPr/>
        </p:nvSpPr>
        <p:spPr>
          <a:xfrm>
            <a:off x="6173470" y="1037590"/>
            <a:ext cx="5589270" cy="5592445"/>
          </a:xfrm>
          <a:custGeom>
            <a:avLst/>
            <a:gdLst/>
            <a:ahLst/>
            <a:cxnLst/>
            <a:rect l="l" t="t" r="r" b="b"/>
            <a:pathLst>
              <a:path w="5589270" h="3560445">
                <a:moveTo>
                  <a:pt x="114290" y="0"/>
                </a:moveTo>
                <a:lnTo>
                  <a:pt x="5474980" y="0"/>
                </a:lnTo>
                <a:cubicBezTo>
                  <a:pt x="5538058" y="0"/>
                  <a:pt x="5589270" y="51212"/>
                  <a:pt x="5589270" y="114290"/>
                </a:cubicBezTo>
                <a:lnTo>
                  <a:pt x="5589270" y="3446155"/>
                </a:lnTo>
                <a:cubicBezTo>
                  <a:pt x="5589270" y="3509233"/>
                  <a:pt x="5538058" y="3560445"/>
                  <a:pt x="5474980" y="3560445"/>
                </a:cubicBezTo>
                <a:lnTo>
                  <a:pt x="114290" y="3560445"/>
                </a:lnTo>
                <a:cubicBezTo>
                  <a:pt x="51212" y="3560445"/>
                  <a:pt x="0" y="3509233"/>
                  <a:pt x="0" y="3446155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5880" y="1310640"/>
            <a:ext cx="521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Integrated Determinants</a:t>
            </a:r>
            <a:endParaRPr lang="en-US" sz="1600"/>
          </a:p>
        </p:txBody>
      </p:sp>
      <p:sp>
        <p:nvSpPr>
          <p:cNvPr id="29" name="Shape 27"/>
          <p:cNvSpPr/>
          <p:nvPr/>
        </p:nvSpPr>
        <p:spPr>
          <a:xfrm>
            <a:off x="6409690" y="1733550"/>
            <a:ext cx="2503170" cy="807720"/>
          </a:xfrm>
          <a:custGeom>
            <a:avLst/>
            <a:gdLst/>
            <a:ahLst/>
            <a:cxnLst/>
            <a:rect l="l" t="t" r="r" b="b"/>
            <a:pathLst>
              <a:path w="2503170" h="807720">
                <a:moveTo>
                  <a:pt x="76200" y="0"/>
                </a:moveTo>
                <a:lnTo>
                  <a:pt x="2426970" y="0"/>
                </a:lnTo>
                <a:cubicBezTo>
                  <a:pt x="2469054" y="0"/>
                  <a:pt x="2503170" y="34116"/>
                  <a:pt x="2503170" y="76200"/>
                </a:cubicBezTo>
                <a:lnTo>
                  <a:pt x="2503170" y="731520"/>
                </a:lnTo>
                <a:cubicBezTo>
                  <a:pt x="2503170" y="773604"/>
                  <a:pt x="2469054" y="807720"/>
                  <a:pt x="2426970" y="807720"/>
                </a:cubicBezTo>
                <a:lnTo>
                  <a:pt x="76200" y="807720"/>
                </a:lnTo>
                <a:cubicBezTo>
                  <a:pt x="34116" y="807720"/>
                  <a:pt x="0" y="773604"/>
                  <a:pt x="0" y="7315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AFAFA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94475" y="192786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73819"/>
                </a:moveTo>
                <a:cubicBezTo>
                  <a:pt x="86389" y="73819"/>
                  <a:pt x="102394" y="57814"/>
                  <a:pt x="102394" y="38100"/>
                </a:cubicBezTo>
                <a:cubicBezTo>
                  <a:pt x="102394" y="18386"/>
                  <a:pt x="86389" y="2381"/>
                  <a:pt x="66675" y="2381"/>
                </a:cubicBezTo>
                <a:cubicBezTo>
                  <a:pt x="46961" y="2381"/>
                  <a:pt x="30956" y="18386"/>
                  <a:pt x="30956" y="38100"/>
                </a:cubicBezTo>
                <a:cubicBezTo>
                  <a:pt x="30956" y="57814"/>
                  <a:pt x="46961" y="73819"/>
                  <a:pt x="66675" y="73819"/>
                </a:cubicBezTo>
                <a:close/>
                <a:moveTo>
                  <a:pt x="57835" y="90488"/>
                </a:moveTo>
                <a:cubicBezTo>
                  <a:pt x="28515" y="90488"/>
                  <a:pt x="4763" y="114240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119747" y="152400"/>
                </a:lnTo>
                <a:cubicBezTo>
                  <a:pt x="124629" y="152400"/>
                  <a:pt x="128588" y="148441"/>
                  <a:pt x="128588" y="143560"/>
                </a:cubicBezTo>
                <a:cubicBezTo>
                  <a:pt x="128588" y="114240"/>
                  <a:pt x="104835" y="90488"/>
                  <a:pt x="75515" y="90488"/>
                </a:cubicBezTo>
                <a:lnTo>
                  <a:pt x="57835" y="90488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1" name="Text 29"/>
          <p:cNvSpPr/>
          <p:nvPr/>
        </p:nvSpPr>
        <p:spPr>
          <a:xfrm>
            <a:off x="6832600" y="1889761"/>
            <a:ext cx="981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Demographic</a:t>
            </a:r>
            <a:endParaRPr lang="en-US" sz="1600"/>
          </a:p>
        </p:txBody>
      </p:sp>
      <p:sp>
        <p:nvSpPr>
          <p:cNvPr id="32" name="Text 30"/>
          <p:cNvSpPr/>
          <p:nvPr/>
        </p:nvSpPr>
        <p:spPr>
          <a:xfrm>
            <a:off x="6565900" y="2194561"/>
            <a:ext cx="2257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Age, sex, race, marital status, region</a:t>
            </a:r>
            <a:endParaRPr lang="en-US" sz="1600"/>
          </a:p>
        </p:txBody>
      </p:sp>
      <p:sp>
        <p:nvSpPr>
          <p:cNvPr id="33" name="Shape 31"/>
          <p:cNvSpPr/>
          <p:nvPr/>
        </p:nvSpPr>
        <p:spPr>
          <a:xfrm>
            <a:off x="9030970" y="1733550"/>
            <a:ext cx="2503170" cy="807720"/>
          </a:xfrm>
          <a:custGeom>
            <a:avLst/>
            <a:gdLst/>
            <a:ahLst/>
            <a:cxnLst/>
            <a:rect l="l" t="t" r="r" b="b"/>
            <a:pathLst>
              <a:path w="2503170" h="807720">
                <a:moveTo>
                  <a:pt x="76200" y="0"/>
                </a:moveTo>
                <a:lnTo>
                  <a:pt x="2426970" y="0"/>
                </a:lnTo>
                <a:cubicBezTo>
                  <a:pt x="2469054" y="0"/>
                  <a:pt x="2503170" y="34116"/>
                  <a:pt x="2503170" y="76200"/>
                </a:cubicBezTo>
                <a:lnTo>
                  <a:pt x="2503170" y="731520"/>
                </a:lnTo>
                <a:cubicBezTo>
                  <a:pt x="2503170" y="773604"/>
                  <a:pt x="2469054" y="807720"/>
                  <a:pt x="2426970" y="807720"/>
                </a:cubicBezTo>
                <a:lnTo>
                  <a:pt x="76200" y="807720"/>
                </a:lnTo>
                <a:cubicBezTo>
                  <a:pt x="34116" y="807720"/>
                  <a:pt x="0" y="773604"/>
                  <a:pt x="0" y="7315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AFAFA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234805" y="1927861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40481" y="7144"/>
                </a:moveTo>
                <a:cubicBezTo>
                  <a:pt x="40481" y="3185"/>
                  <a:pt x="43666" y="0"/>
                  <a:pt x="47625" y="0"/>
                </a:cubicBezTo>
                <a:cubicBezTo>
                  <a:pt x="51584" y="0"/>
                  <a:pt x="54769" y="3185"/>
                  <a:pt x="54769" y="7144"/>
                </a:cubicBezTo>
                <a:lnTo>
                  <a:pt x="54769" y="19050"/>
                </a:lnTo>
                <a:lnTo>
                  <a:pt x="71438" y="19050"/>
                </a:lnTo>
                <a:cubicBezTo>
                  <a:pt x="76706" y="19050"/>
                  <a:pt x="80962" y="23306"/>
                  <a:pt x="80962" y="28575"/>
                </a:cubicBezTo>
                <a:cubicBezTo>
                  <a:pt x="80962" y="33844"/>
                  <a:pt x="76706" y="38100"/>
                  <a:pt x="71438" y="38100"/>
                </a:cubicBezTo>
                <a:lnTo>
                  <a:pt x="37237" y="38100"/>
                </a:lnTo>
                <a:cubicBezTo>
                  <a:pt x="29825" y="38100"/>
                  <a:pt x="23813" y="44113"/>
                  <a:pt x="23813" y="51524"/>
                </a:cubicBezTo>
                <a:cubicBezTo>
                  <a:pt x="23813" y="58222"/>
                  <a:pt x="28724" y="63877"/>
                  <a:pt x="35332" y="64830"/>
                </a:cubicBezTo>
                <a:lnTo>
                  <a:pt x="62597" y="68729"/>
                </a:lnTo>
                <a:cubicBezTo>
                  <a:pt x="78611" y="71021"/>
                  <a:pt x="90488" y="84713"/>
                  <a:pt x="90488" y="100876"/>
                </a:cubicBezTo>
                <a:cubicBezTo>
                  <a:pt x="90488" y="118824"/>
                  <a:pt x="75932" y="133350"/>
                  <a:pt x="58013" y="133350"/>
                </a:cubicBezTo>
                <a:lnTo>
                  <a:pt x="54769" y="133350"/>
                </a:lnTo>
                <a:lnTo>
                  <a:pt x="54769" y="145256"/>
                </a:lnTo>
                <a:cubicBezTo>
                  <a:pt x="54769" y="149215"/>
                  <a:pt x="51584" y="152400"/>
                  <a:pt x="47625" y="152400"/>
                </a:cubicBezTo>
                <a:cubicBezTo>
                  <a:pt x="43666" y="152400"/>
                  <a:pt x="40481" y="149215"/>
                  <a:pt x="40481" y="145256"/>
                </a:cubicBezTo>
                <a:lnTo>
                  <a:pt x="40481" y="133350"/>
                </a:lnTo>
                <a:lnTo>
                  <a:pt x="19050" y="133350"/>
                </a:lnTo>
                <a:cubicBezTo>
                  <a:pt x="13781" y="133350"/>
                  <a:pt x="9525" y="129094"/>
                  <a:pt x="9525" y="123825"/>
                </a:cubicBezTo>
                <a:cubicBezTo>
                  <a:pt x="9525" y="118556"/>
                  <a:pt x="13781" y="114300"/>
                  <a:pt x="19050" y="114300"/>
                </a:cubicBezTo>
                <a:lnTo>
                  <a:pt x="58013" y="114300"/>
                </a:lnTo>
                <a:cubicBezTo>
                  <a:pt x="65425" y="114300"/>
                  <a:pt x="71438" y="108287"/>
                  <a:pt x="71438" y="100876"/>
                </a:cubicBezTo>
                <a:cubicBezTo>
                  <a:pt x="71438" y="94178"/>
                  <a:pt x="66526" y="88523"/>
                  <a:pt x="59918" y="87570"/>
                </a:cubicBezTo>
                <a:lnTo>
                  <a:pt x="32653" y="83671"/>
                </a:lnTo>
                <a:cubicBezTo>
                  <a:pt x="16639" y="81409"/>
                  <a:pt x="4763" y="67687"/>
                  <a:pt x="4763" y="51524"/>
                </a:cubicBezTo>
                <a:cubicBezTo>
                  <a:pt x="4763" y="33605"/>
                  <a:pt x="19318" y="19050"/>
                  <a:pt x="37237" y="19050"/>
                </a:cubicBezTo>
                <a:lnTo>
                  <a:pt x="40481" y="19050"/>
                </a:lnTo>
                <a:lnTo>
                  <a:pt x="40481" y="7144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5" name="Text 33"/>
          <p:cNvSpPr/>
          <p:nvPr/>
        </p:nvSpPr>
        <p:spPr>
          <a:xfrm>
            <a:off x="9453880" y="1889761"/>
            <a:ext cx="111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Socioeconomic</a:t>
            </a:r>
            <a:endParaRPr lang="en-US" sz="1600"/>
          </a:p>
        </p:txBody>
      </p:sp>
      <p:sp>
        <p:nvSpPr>
          <p:cNvPr id="36" name="Text 34"/>
          <p:cNvSpPr/>
          <p:nvPr/>
        </p:nvSpPr>
        <p:spPr>
          <a:xfrm>
            <a:off x="9187180" y="2194561"/>
            <a:ext cx="2257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Income level, employment status</a:t>
            </a:r>
            <a:endParaRPr lang="en-US" sz="1600"/>
          </a:p>
        </p:txBody>
      </p:sp>
      <p:sp>
        <p:nvSpPr>
          <p:cNvPr id="37" name="Shape 35"/>
          <p:cNvSpPr/>
          <p:nvPr/>
        </p:nvSpPr>
        <p:spPr>
          <a:xfrm>
            <a:off x="6409690" y="2663191"/>
            <a:ext cx="2503170" cy="807720"/>
          </a:xfrm>
          <a:custGeom>
            <a:avLst/>
            <a:gdLst/>
            <a:ahLst/>
            <a:cxnLst/>
            <a:rect l="l" t="t" r="r" b="b"/>
            <a:pathLst>
              <a:path w="2503170" h="807720">
                <a:moveTo>
                  <a:pt x="76200" y="0"/>
                </a:moveTo>
                <a:lnTo>
                  <a:pt x="2426970" y="0"/>
                </a:lnTo>
                <a:cubicBezTo>
                  <a:pt x="2469054" y="0"/>
                  <a:pt x="2503170" y="34116"/>
                  <a:pt x="2503170" y="76200"/>
                </a:cubicBezTo>
                <a:lnTo>
                  <a:pt x="2503170" y="731520"/>
                </a:lnTo>
                <a:cubicBezTo>
                  <a:pt x="2503170" y="773604"/>
                  <a:pt x="2469054" y="807720"/>
                  <a:pt x="2426970" y="807720"/>
                </a:cubicBezTo>
                <a:lnTo>
                  <a:pt x="76200" y="807720"/>
                </a:lnTo>
                <a:cubicBezTo>
                  <a:pt x="34116" y="807720"/>
                  <a:pt x="0" y="773604"/>
                  <a:pt x="0" y="7315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AFAFA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84950" y="2857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32117"/>
                </a:moveTo>
                <a:lnTo>
                  <a:pt x="71735" y="25926"/>
                </a:lnTo>
                <a:cubicBezTo>
                  <a:pt x="64294" y="15627"/>
                  <a:pt x="52358" y="9525"/>
                  <a:pt x="39618" y="9525"/>
                </a:cubicBezTo>
                <a:cubicBezTo>
                  <a:pt x="17740" y="9525"/>
                  <a:pt x="0" y="27265"/>
                  <a:pt x="0" y="49143"/>
                </a:cubicBezTo>
                <a:lnTo>
                  <a:pt x="0" y="49917"/>
                </a:lnTo>
                <a:cubicBezTo>
                  <a:pt x="0" y="56942"/>
                  <a:pt x="1845" y="64204"/>
                  <a:pt x="4941" y="71438"/>
                </a:cubicBezTo>
                <a:lnTo>
                  <a:pt x="36493" y="71438"/>
                </a:lnTo>
                <a:cubicBezTo>
                  <a:pt x="37445" y="71438"/>
                  <a:pt x="38308" y="70872"/>
                  <a:pt x="38695" y="69979"/>
                </a:cubicBezTo>
                <a:lnTo>
                  <a:pt x="48161" y="47268"/>
                </a:lnTo>
                <a:cubicBezTo>
                  <a:pt x="49262" y="44648"/>
                  <a:pt x="51822" y="42922"/>
                  <a:pt x="54650" y="42863"/>
                </a:cubicBezTo>
                <a:cubicBezTo>
                  <a:pt x="57477" y="42803"/>
                  <a:pt x="60097" y="44470"/>
                  <a:pt x="61258" y="47059"/>
                </a:cubicBezTo>
                <a:lnTo>
                  <a:pt x="76527" y="80962"/>
                </a:lnTo>
                <a:lnTo>
                  <a:pt x="88850" y="56317"/>
                </a:lnTo>
                <a:cubicBezTo>
                  <a:pt x="90071" y="53906"/>
                  <a:pt x="92541" y="52358"/>
                  <a:pt x="95250" y="52358"/>
                </a:cubicBezTo>
                <a:cubicBezTo>
                  <a:pt x="97959" y="52358"/>
                  <a:pt x="100429" y="53876"/>
                  <a:pt x="101650" y="56317"/>
                </a:cubicBezTo>
                <a:lnTo>
                  <a:pt x="108555" y="70098"/>
                </a:lnTo>
                <a:cubicBezTo>
                  <a:pt x="108972" y="70902"/>
                  <a:pt x="109776" y="71408"/>
                  <a:pt x="110698" y="71408"/>
                </a:cubicBezTo>
                <a:lnTo>
                  <a:pt x="147489" y="71408"/>
                </a:lnTo>
                <a:cubicBezTo>
                  <a:pt x="150614" y="64175"/>
                  <a:pt x="152430" y="56912"/>
                  <a:pt x="152430" y="49887"/>
                </a:cubicBezTo>
                <a:lnTo>
                  <a:pt x="152430" y="49113"/>
                </a:lnTo>
                <a:cubicBezTo>
                  <a:pt x="152400" y="27265"/>
                  <a:pt x="134660" y="9525"/>
                  <a:pt x="112782" y="9525"/>
                </a:cubicBezTo>
                <a:cubicBezTo>
                  <a:pt x="100072" y="9525"/>
                  <a:pt x="88106" y="15627"/>
                  <a:pt x="80665" y="25926"/>
                </a:cubicBezTo>
                <a:lnTo>
                  <a:pt x="76200" y="32087"/>
                </a:lnTo>
                <a:close/>
                <a:moveTo>
                  <a:pt x="139779" y="85725"/>
                </a:moveTo>
                <a:lnTo>
                  <a:pt x="110669" y="85725"/>
                </a:lnTo>
                <a:cubicBezTo>
                  <a:pt x="104358" y="85725"/>
                  <a:pt x="98584" y="82153"/>
                  <a:pt x="95756" y="76498"/>
                </a:cubicBezTo>
                <a:lnTo>
                  <a:pt x="95250" y="75486"/>
                </a:lnTo>
                <a:lnTo>
                  <a:pt x="82600" y="100816"/>
                </a:lnTo>
                <a:cubicBezTo>
                  <a:pt x="81379" y="103287"/>
                  <a:pt x="78819" y="104835"/>
                  <a:pt x="76051" y="104775"/>
                </a:cubicBezTo>
                <a:cubicBezTo>
                  <a:pt x="73283" y="104715"/>
                  <a:pt x="70812" y="103078"/>
                  <a:pt x="69681" y="100578"/>
                </a:cubicBezTo>
                <a:lnTo>
                  <a:pt x="55007" y="67985"/>
                </a:lnTo>
                <a:lnTo>
                  <a:pt x="51881" y="75486"/>
                </a:lnTo>
                <a:cubicBezTo>
                  <a:pt x="49292" y="81707"/>
                  <a:pt x="43220" y="85755"/>
                  <a:pt x="36493" y="85755"/>
                </a:cubicBezTo>
                <a:lnTo>
                  <a:pt x="12621" y="85755"/>
                </a:lnTo>
                <a:cubicBezTo>
                  <a:pt x="26670" y="107722"/>
                  <a:pt x="49232" y="127933"/>
                  <a:pt x="63341" y="138708"/>
                </a:cubicBezTo>
                <a:cubicBezTo>
                  <a:pt x="67032" y="141506"/>
                  <a:pt x="71557" y="142905"/>
                  <a:pt x="76170" y="142905"/>
                </a:cubicBezTo>
                <a:cubicBezTo>
                  <a:pt x="80784" y="142905"/>
                  <a:pt x="85338" y="141536"/>
                  <a:pt x="88999" y="138708"/>
                </a:cubicBezTo>
                <a:cubicBezTo>
                  <a:pt x="103168" y="127903"/>
                  <a:pt x="125730" y="107692"/>
                  <a:pt x="139779" y="85725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9" name="Text 37"/>
          <p:cNvSpPr/>
          <p:nvPr/>
        </p:nvSpPr>
        <p:spPr>
          <a:xfrm>
            <a:off x="6832600" y="2819400"/>
            <a:ext cx="981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D1D1D"/>
                </a:solidFill>
                <a:latin typeface="Liter"/>
                <a:ea typeface="Liter" pitchFamily="34" charset="-122"/>
                <a:cs typeface="Liter" pitchFamily="34" charset="-120"/>
              </a:rPr>
              <a:t>Health Factors</a:t>
            </a:r>
            <a:endParaRPr lang="en-US" sz="1600"/>
          </a:p>
        </p:txBody>
      </p:sp>
      <p:sp>
        <p:nvSpPr>
          <p:cNvPr id="40" name="Text 38"/>
          <p:cNvSpPr/>
          <p:nvPr/>
        </p:nvSpPr>
        <p:spPr>
          <a:xfrm>
            <a:off x="6565900" y="3124200"/>
            <a:ext cx="2257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6868B"/>
                </a:solidFill>
                <a:latin typeface="Liter"/>
                <a:ea typeface="Liter" pitchFamily="34" charset="-122"/>
                <a:cs typeface="Liter" pitchFamily="34" charset="-120"/>
              </a:rPr>
              <a:t>Physical &amp; mental health, joint pain, </a:t>
            </a:r>
          </a:p>
          <a:p>
            <a:pPr>
              <a:lnSpc>
                <a:spcPct val="120000"/>
              </a:lnSpc>
            </a:pPr>
            <a:r>
              <a:rPr lang="en-US" sz="1050">
                <a:solidFill>
                  <a:srgbClr val="86868B"/>
                </a:solidFill>
                <a:latin typeface="Liter"/>
              </a:rPr>
              <a:t>Vision/Hearing Impairment</a:t>
            </a:r>
            <a:endParaRPr lang="en-US" sz="1050" dirty="0">
              <a:solidFill>
                <a:srgbClr val="86868B"/>
              </a:solidFill>
              <a:latin typeface="Liter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9030970" y="2663191"/>
            <a:ext cx="2503170" cy="807720"/>
          </a:xfrm>
          <a:custGeom>
            <a:avLst/>
            <a:gdLst/>
            <a:ahLst/>
            <a:cxnLst/>
            <a:rect l="l" t="t" r="r" b="b"/>
            <a:pathLst>
              <a:path w="2503170" h="807720">
                <a:moveTo>
                  <a:pt x="76200" y="0"/>
                </a:moveTo>
                <a:lnTo>
                  <a:pt x="2426970" y="0"/>
                </a:lnTo>
                <a:cubicBezTo>
                  <a:pt x="2469054" y="0"/>
                  <a:pt x="2503170" y="34116"/>
                  <a:pt x="2503170" y="76200"/>
                </a:cubicBezTo>
                <a:lnTo>
                  <a:pt x="2503170" y="731520"/>
                </a:lnTo>
                <a:cubicBezTo>
                  <a:pt x="2503170" y="773604"/>
                  <a:pt x="2469054" y="807720"/>
                  <a:pt x="2426970" y="807720"/>
                </a:cubicBezTo>
                <a:lnTo>
                  <a:pt x="76200" y="807720"/>
                </a:lnTo>
                <a:cubicBezTo>
                  <a:pt x="34116" y="807720"/>
                  <a:pt x="0" y="773604"/>
                  <a:pt x="0" y="7315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AFAFA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215755" y="2857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6349" y="-9525"/>
                </a:moveTo>
                <a:cubicBezTo>
                  <a:pt x="85549" y="-9525"/>
                  <a:pt x="93018" y="-2056"/>
                  <a:pt x="93018" y="7144"/>
                </a:cubicBezTo>
                <a:cubicBezTo>
                  <a:pt x="93018" y="16343"/>
                  <a:pt x="85549" y="23813"/>
                  <a:pt x="76349" y="23813"/>
                </a:cubicBezTo>
                <a:cubicBezTo>
                  <a:pt x="67149" y="23813"/>
                  <a:pt x="59680" y="16343"/>
                  <a:pt x="59680" y="7144"/>
                </a:cubicBezTo>
                <a:cubicBezTo>
                  <a:pt x="59680" y="-2056"/>
                  <a:pt x="67149" y="-9525"/>
                  <a:pt x="76349" y="-9525"/>
                </a:cubicBezTo>
                <a:close/>
                <a:moveTo>
                  <a:pt x="36790" y="52388"/>
                </a:moveTo>
                <a:cubicBezTo>
                  <a:pt x="35808" y="52388"/>
                  <a:pt x="34945" y="52983"/>
                  <a:pt x="34588" y="53876"/>
                </a:cubicBezTo>
                <a:lnTo>
                  <a:pt x="28039" y="70217"/>
                </a:lnTo>
                <a:cubicBezTo>
                  <a:pt x="26075" y="75099"/>
                  <a:pt x="20538" y="77480"/>
                  <a:pt x="15657" y="75515"/>
                </a:cubicBezTo>
                <a:cubicBezTo>
                  <a:pt x="10775" y="73551"/>
                  <a:pt x="8394" y="68014"/>
                  <a:pt x="10358" y="63133"/>
                </a:cubicBezTo>
                <a:lnTo>
                  <a:pt x="16877" y="46792"/>
                </a:lnTo>
                <a:cubicBezTo>
                  <a:pt x="20151" y="38666"/>
                  <a:pt x="28009" y="33338"/>
                  <a:pt x="36790" y="33338"/>
                </a:cubicBezTo>
                <a:lnTo>
                  <a:pt x="65752" y="33338"/>
                </a:lnTo>
                <a:cubicBezTo>
                  <a:pt x="74235" y="33338"/>
                  <a:pt x="82064" y="37832"/>
                  <a:pt x="86320" y="45154"/>
                </a:cubicBezTo>
                <a:lnTo>
                  <a:pt x="96083" y="61912"/>
                </a:lnTo>
                <a:lnTo>
                  <a:pt x="114419" y="61912"/>
                </a:lnTo>
                <a:cubicBezTo>
                  <a:pt x="119688" y="61912"/>
                  <a:pt x="123944" y="66169"/>
                  <a:pt x="123944" y="71438"/>
                </a:cubicBezTo>
                <a:cubicBezTo>
                  <a:pt x="123944" y="76706"/>
                  <a:pt x="119688" y="80962"/>
                  <a:pt x="114419" y="80962"/>
                </a:cubicBezTo>
                <a:lnTo>
                  <a:pt x="96083" y="80962"/>
                </a:lnTo>
                <a:cubicBezTo>
                  <a:pt x="89297" y="80962"/>
                  <a:pt x="83046" y="77361"/>
                  <a:pt x="79623" y="71497"/>
                </a:cubicBezTo>
                <a:lnTo>
                  <a:pt x="76646" y="66407"/>
                </a:lnTo>
                <a:lnTo>
                  <a:pt x="70485" y="87362"/>
                </a:lnTo>
                <a:lnTo>
                  <a:pt x="92928" y="94089"/>
                </a:lnTo>
                <a:cubicBezTo>
                  <a:pt x="101173" y="96560"/>
                  <a:pt x="105370" y="105698"/>
                  <a:pt x="101888" y="113586"/>
                </a:cubicBezTo>
                <a:lnTo>
                  <a:pt x="85040" y="151507"/>
                </a:lnTo>
                <a:cubicBezTo>
                  <a:pt x="82897" y="156329"/>
                  <a:pt x="77272" y="158472"/>
                  <a:pt x="72479" y="156329"/>
                </a:cubicBezTo>
                <a:cubicBezTo>
                  <a:pt x="67687" y="154186"/>
                  <a:pt x="65514" y="148560"/>
                  <a:pt x="67657" y="143768"/>
                </a:cubicBezTo>
                <a:lnTo>
                  <a:pt x="82302" y="110788"/>
                </a:lnTo>
                <a:lnTo>
                  <a:pt x="53757" y="102215"/>
                </a:lnTo>
                <a:cubicBezTo>
                  <a:pt x="44023" y="99298"/>
                  <a:pt x="38279" y="89208"/>
                  <a:pt x="40749" y="79355"/>
                </a:cubicBezTo>
                <a:lnTo>
                  <a:pt x="47506" y="52388"/>
                </a:lnTo>
                <a:lnTo>
                  <a:pt x="36820" y="52388"/>
                </a:lnTo>
                <a:close/>
                <a:moveTo>
                  <a:pt x="34409" y="106263"/>
                </a:moveTo>
                <a:cubicBezTo>
                  <a:pt x="38368" y="110698"/>
                  <a:pt x="43547" y="114092"/>
                  <a:pt x="49649" y="115907"/>
                </a:cubicBezTo>
                <a:lnTo>
                  <a:pt x="51048" y="116324"/>
                </a:lnTo>
                <a:lnTo>
                  <a:pt x="48994" y="122069"/>
                </a:lnTo>
                <a:cubicBezTo>
                  <a:pt x="47268" y="126921"/>
                  <a:pt x="44232" y="131237"/>
                  <a:pt x="40273" y="134511"/>
                </a:cubicBezTo>
                <a:lnTo>
                  <a:pt x="15746" y="154722"/>
                </a:lnTo>
                <a:cubicBezTo>
                  <a:pt x="11698" y="158055"/>
                  <a:pt x="5685" y="157490"/>
                  <a:pt x="2351" y="153442"/>
                </a:cubicBezTo>
                <a:cubicBezTo>
                  <a:pt x="-982" y="149394"/>
                  <a:pt x="-417" y="143381"/>
                  <a:pt x="3631" y="140047"/>
                </a:cubicBezTo>
                <a:lnTo>
                  <a:pt x="28158" y="119836"/>
                </a:lnTo>
                <a:cubicBezTo>
                  <a:pt x="29498" y="118735"/>
                  <a:pt x="30480" y="117306"/>
                  <a:pt x="31075" y="115699"/>
                </a:cubicBezTo>
                <a:lnTo>
                  <a:pt x="34409" y="106263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3" name="Text 41"/>
          <p:cNvSpPr/>
          <p:nvPr/>
        </p:nvSpPr>
        <p:spPr>
          <a:xfrm>
            <a:off x="9453880" y="2819400"/>
            <a:ext cx="657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Lifestyle</a:t>
            </a:r>
            <a:endParaRPr lang="en-US" sz="1600"/>
          </a:p>
        </p:txBody>
      </p:sp>
      <p:sp>
        <p:nvSpPr>
          <p:cNvPr id="44" name="Text 42"/>
          <p:cNvSpPr/>
          <p:nvPr/>
        </p:nvSpPr>
        <p:spPr>
          <a:xfrm>
            <a:off x="9187180" y="3124200"/>
            <a:ext cx="2257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Smoking, physical activity, BMI</a:t>
            </a:r>
            <a:endParaRPr lang="en-US" sz="1600"/>
          </a:p>
        </p:txBody>
      </p:sp>
      <p:sp>
        <p:nvSpPr>
          <p:cNvPr id="45" name="Shape 43"/>
          <p:cNvSpPr/>
          <p:nvPr/>
        </p:nvSpPr>
        <p:spPr>
          <a:xfrm>
            <a:off x="6409690" y="3592830"/>
            <a:ext cx="5122545" cy="807720"/>
          </a:xfrm>
          <a:custGeom>
            <a:avLst/>
            <a:gdLst/>
            <a:ahLst/>
            <a:cxnLst/>
            <a:rect l="l" t="t" r="r" b="b"/>
            <a:pathLst>
              <a:path w="5122545" h="807720">
                <a:moveTo>
                  <a:pt x="76200" y="0"/>
                </a:moveTo>
                <a:lnTo>
                  <a:pt x="5046345" y="0"/>
                </a:lnTo>
                <a:cubicBezTo>
                  <a:pt x="5088429" y="0"/>
                  <a:pt x="5122545" y="34116"/>
                  <a:pt x="5122545" y="76200"/>
                </a:cubicBezTo>
                <a:lnTo>
                  <a:pt x="5122545" y="731520"/>
                </a:lnTo>
                <a:cubicBezTo>
                  <a:pt x="5122545" y="773604"/>
                  <a:pt x="5088429" y="807720"/>
                  <a:pt x="5046345" y="807720"/>
                </a:cubicBezTo>
                <a:lnTo>
                  <a:pt x="76200" y="807720"/>
                </a:lnTo>
                <a:cubicBezTo>
                  <a:pt x="34116" y="807720"/>
                  <a:pt x="0" y="773604"/>
                  <a:pt x="0" y="7315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AFAFA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84950" y="378714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0396" y="8751"/>
                </a:moveTo>
                <a:lnTo>
                  <a:pt x="66675" y="14288"/>
                </a:lnTo>
                <a:cubicBezTo>
                  <a:pt x="60722" y="23217"/>
                  <a:pt x="50721" y="28575"/>
                  <a:pt x="39975" y="28575"/>
                </a:cubicBezTo>
                <a:lnTo>
                  <a:pt x="20241" y="28575"/>
                </a:lnTo>
                <a:cubicBezTo>
                  <a:pt x="9079" y="28575"/>
                  <a:pt x="30" y="37624"/>
                  <a:pt x="30" y="48786"/>
                </a:cubicBezTo>
                <a:cubicBezTo>
                  <a:pt x="30" y="54144"/>
                  <a:pt x="2173" y="59263"/>
                  <a:pt x="5953" y="63044"/>
                </a:cubicBezTo>
                <a:lnTo>
                  <a:pt x="13990" y="71080"/>
                </a:lnTo>
                <a:cubicBezTo>
                  <a:pt x="17264" y="74355"/>
                  <a:pt x="19110" y="78790"/>
                  <a:pt x="19110" y="83433"/>
                </a:cubicBezTo>
                <a:cubicBezTo>
                  <a:pt x="19110" y="88136"/>
                  <a:pt x="17205" y="92631"/>
                  <a:pt x="13841" y="95935"/>
                </a:cubicBezTo>
                <a:lnTo>
                  <a:pt x="9942" y="99745"/>
                </a:lnTo>
                <a:cubicBezTo>
                  <a:pt x="6638" y="102959"/>
                  <a:pt x="4792" y="107394"/>
                  <a:pt x="4792" y="112008"/>
                </a:cubicBezTo>
                <a:cubicBezTo>
                  <a:pt x="4792" y="122962"/>
                  <a:pt x="14942" y="131118"/>
                  <a:pt x="25658" y="128736"/>
                </a:cubicBezTo>
                <a:lnTo>
                  <a:pt x="44202" y="124629"/>
                </a:lnTo>
                <a:cubicBezTo>
                  <a:pt x="46494" y="124123"/>
                  <a:pt x="48875" y="123855"/>
                  <a:pt x="51227" y="123855"/>
                </a:cubicBezTo>
                <a:cubicBezTo>
                  <a:pt x="60990" y="123855"/>
                  <a:pt x="70336" y="128201"/>
                  <a:pt x="76587" y="135701"/>
                </a:cubicBezTo>
                <a:lnTo>
                  <a:pt x="85665" y="146596"/>
                </a:lnTo>
                <a:cubicBezTo>
                  <a:pt x="88761" y="150287"/>
                  <a:pt x="93315" y="152430"/>
                  <a:pt x="98137" y="152430"/>
                </a:cubicBezTo>
                <a:cubicBezTo>
                  <a:pt x="107097" y="152430"/>
                  <a:pt x="114360" y="145167"/>
                  <a:pt x="114360" y="136208"/>
                </a:cubicBezTo>
                <a:lnTo>
                  <a:pt x="114360" y="120968"/>
                </a:lnTo>
                <a:cubicBezTo>
                  <a:pt x="114360" y="108645"/>
                  <a:pt x="121920" y="97601"/>
                  <a:pt x="133410" y="93137"/>
                </a:cubicBezTo>
                <a:lnTo>
                  <a:pt x="140018" y="90577"/>
                </a:lnTo>
                <a:cubicBezTo>
                  <a:pt x="147518" y="87660"/>
                  <a:pt x="152460" y="80427"/>
                  <a:pt x="152460" y="72390"/>
                </a:cubicBezTo>
                <a:cubicBezTo>
                  <a:pt x="152460" y="64532"/>
                  <a:pt x="147727" y="57418"/>
                  <a:pt x="140464" y="54382"/>
                </a:cubicBezTo>
                <a:lnTo>
                  <a:pt x="127695" y="49054"/>
                </a:lnTo>
                <a:cubicBezTo>
                  <a:pt x="117812" y="44916"/>
                  <a:pt x="110550" y="36255"/>
                  <a:pt x="108198" y="25807"/>
                </a:cubicBezTo>
                <a:lnTo>
                  <a:pt x="105847" y="15329"/>
                </a:lnTo>
                <a:cubicBezTo>
                  <a:pt x="103823" y="6370"/>
                  <a:pt x="95875" y="0"/>
                  <a:pt x="86707" y="0"/>
                </a:cubicBezTo>
                <a:cubicBezTo>
                  <a:pt x="80159" y="0"/>
                  <a:pt x="74027" y="3274"/>
                  <a:pt x="70396" y="8751"/>
                </a:cubicBezTo>
                <a:close/>
                <a:moveTo>
                  <a:pt x="47625" y="57150"/>
                </a:moveTo>
                <a:cubicBezTo>
                  <a:pt x="52882" y="57150"/>
                  <a:pt x="57150" y="61418"/>
                  <a:pt x="57150" y="66675"/>
                </a:cubicBezTo>
                <a:cubicBezTo>
                  <a:pt x="57150" y="71932"/>
                  <a:pt x="52882" y="76200"/>
                  <a:pt x="47625" y="76200"/>
                </a:cubicBezTo>
                <a:cubicBezTo>
                  <a:pt x="42368" y="76200"/>
                  <a:pt x="38100" y="71932"/>
                  <a:pt x="38100" y="66675"/>
                </a:cubicBezTo>
                <a:cubicBezTo>
                  <a:pt x="38100" y="61418"/>
                  <a:pt x="42368" y="57150"/>
                  <a:pt x="47625" y="57150"/>
                </a:cubicBezTo>
                <a:close/>
                <a:moveTo>
                  <a:pt x="76200" y="57150"/>
                </a:moveTo>
                <a:cubicBezTo>
                  <a:pt x="76200" y="51893"/>
                  <a:pt x="80468" y="47625"/>
                  <a:pt x="85725" y="47625"/>
                </a:cubicBezTo>
                <a:cubicBezTo>
                  <a:pt x="90982" y="47625"/>
                  <a:pt x="95250" y="51893"/>
                  <a:pt x="95250" y="57150"/>
                </a:cubicBezTo>
                <a:cubicBezTo>
                  <a:pt x="95250" y="62407"/>
                  <a:pt x="90982" y="66675"/>
                  <a:pt x="85725" y="66675"/>
                </a:cubicBezTo>
                <a:cubicBezTo>
                  <a:pt x="80468" y="66675"/>
                  <a:pt x="76200" y="62407"/>
                  <a:pt x="76200" y="57150"/>
                </a:cubicBezTo>
                <a:close/>
                <a:moveTo>
                  <a:pt x="85725" y="85725"/>
                </a:moveTo>
                <a:cubicBezTo>
                  <a:pt x="90982" y="85725"/>
                  <a:pt x="95250" y="89993"/>
                  <a:pt x="95250" y="95250"/>
                </a:cubicBezTo>
                <a:cubicBezTo>
                  <a:pt x="95250" y="100507"/>
                  <a:pt x="90982" y="104775"/>
                  <a:pt x="85725" y="104775"/>
                </a:cubicBezTo>
                <a:cubicBezTo>
                  <a:pt x="80468" y="104775"/>
                  <a:pt x="76200" y="100507"/>
                  <a:pt x="76200" y="95250"/>
                </a:cubicBezTo>
                <a:cubicBezTo>
                  <a:pt x="76200" y="89993"/>
                  <a:pt x="80468" y="85725"/>
                  <a:pt x="85725" y="85725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7" name="Text 45"/>
          <p:cNvSpPr/>
          <p:nvPr/>
        </p:nvSpPr>
        <p:spPr>
          <a:xfrm>
            <a:off x="6832600" y="3749040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Chronic Disease Burden</a:t>
            </a:r>
            <a:endParaRPr lang="en-US" sz="1600"/>
          </a:p>
        </p:txBody>
      </p:sp>
      <p:sp>
        <p:nvSpPr>
          <p:cNvPr id="48" name="Text 46"/>
          <p:cNvSpPr/>
          <p:nvPr/>
        </p:nvSpPr>
        <p:spPr>
          <a:xfrm>
            <a:off x="6565900" y="4053840"/>
            <a:ext cx="487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 chronic conditions including diabetes, hypertension, heart disease, stroke</a:t>
            </a:r>
            <a:endParaRPr lang="en-US" sz="1600"/>
          </a:p>
        </p:txBody>
      </p:sp>
      <p:sp>
        <p:nvSpPr>
          <p:cNvPr id="56" name="Shape 27">
            <a:extLst>
              <a:ext uri="{FF2B5EF4-FFF2-40B4-BE49-F238E27FC236}">
                <a16:creationId xmlns:a16="http://schemas.microsoft.com/office/drawing/2014/main" id="{931B10CF-DC03-F0E0-139D-B2F2BE38D3C3}"/>
              </a:ext>
            </a:extLst>
          </p:cNvPr>
          <p:cNvSpPr/>
          <p:nvPr/>
        </p:nvSpPr>
        <p:spPr>
          <a:xfrm>
            <a:off x="6399530" y="4547870"/>
            <a:ext cx="2503170" cy="807720"/>
          </a:xfrm>
          <a:custGeom>
            <a:avLst/>
            <a:gdLst/>
            <a:ahLst/>
            <a:cxnLst/>
            <a:rect l="l" t="t" r="r" b="b"/>
            <a:pathLst>
              <a:path w="2503170" h="807720">
                <a:moveTo>
                  <a:pt x="76200" y="0"/>
                </a:moveTo>
                <a:lnTo>
                  <a:pt x="2426970" y="0"/>
                </a:lnTo>
                <a:cubicBezTo>
                  <a:pt x="2469054" y="0"/>
                  <a:pt x="2503170" y="34116"/>
                  <a:pt x="2503170" y="76200"/>
                </a:cubicBezTo>
                <a:lnTo>
                  <a:pt x="2503170" y="731520"/>
                </a:lnTo>
                <a:cubicBezTo>
                  <a:pt x="2503170" y="773604"/>
                  <a:pt x="2469054" y="807720"/>
                  <a:pt x="2426970" y="807720"/>
                </a:cubicBezTo>
                <a:lnTo>
                  <a:pt x="76200" y="807720"/>
                </a:lnTo>
                <a:cubicBezTo>
                  <a:pt x="34116" y="807720"/>
                  <a:pt x="0" y="773604"/>
                  <a:pt x="0" y="7315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AFAFA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57" name="Shape 28">
            <a:extLst>
              <a:ext uri="{FF2B5EF4-FFF2-40B4-BE49-F238E27FC236}">
                <a16:creationId xmlns:a16="http://schemas.microsoft.com/office/drawing/2014/main" id="{8AE212BA-CB14-8C11-15C1-0D2972592078}"/>
              </a:ext>
            </a:extLst>
          </p:cNvPr>
          <p:cNvSpPr/>
          <p:nvPr/>
        </p:nvSpPr>
        <p:spPr>
          <a:xfrm>
            <a:off x="6584315" y="474218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73819"/>
                </a:moveTo>
                <a:cubicBezTo>
                  <a:pt x="86389" y="73819"/>
                  <a:pt x="102394" y="57814"/>
                  <a:pt x="102394" y="38100"/>
                </a:cubicBezTo>
                <a:cubicBezTo>
                  <a:pt x="102394" y="18386"/>
                  <a:pt x="86389" y="2381"/>
                  <a:pt x="66675" y="2381"/>
                </a:cubicBezTo>
                <a:cubicBezTo>
                  <a:pt x="46961" y="2381"/>
                  <a:pt x="30956" y="18386"/>
                  <a:pt x="30956" y="38100"/>
                </a:cubicBezTo>
                <a:cubicBezTo>
                  <a:pt x="30956" y="57814"/>
                  <a:pt x="46961" y="73819"/>
                  <a:pt x="66675" y="73819"/>
                </a:cubicBezTo>
                <a:close/>
                <a:moveTo>
                  <a:pt x="57835" y="90488"/>
                </a:moveTo>
                <a:cubicBezTo>
                  <a:pt x="28515" y="90488"/>
                  <a:pt x="4763" y="114240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119747" y="152400"/>
                </a:lnTo>
                <a:cubicBezTo>
                  <a:pt x="124629" y="152400"/>
                  <a:pt x="128588" y="148441"/>
                  <a:pt x="128588" y="143560"/>
                </a:cubicBezTo>
                <a:cubicBezTo>
                  <a:pt x="128588" y="114240"/>
                  <a:pt x="104835" y="90488"/>
                  <a:pt x="75515" y="90488"/>
                </a:cubicBezTo>
                <a:lnTo>
                  <a:pt x="57835" y="90488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8" name="Text 29">
            <a:extLst>
              <a:ext uri="{FF2B5EF4-FFF2-40B4-BE49-F238E27FC236}">
                <a16:creationId xmlns:a16="http://schemas.microsoft.com/office/drawing/2014/main" id="{D741BC29-A617-A49E-8A0E-A2EC8E6E945D}"/>
              </a:ext>
            </a:extLst>
          </p:cNvPr>
          <p:cNvSpPr/>
          <p:nvPr/>
        </p:nvSpPr>
        <p:spPr>
          <a:xfrm>
            <a:off x="6822440" y="4704081"/>
            <a:ext cx="981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D1D1D"/>
                </a:solidFill>
                <a:latin typeface="Liter"/>
              </a:rPr>
              <a:t>Cancer</a:t>
            </a:r>
            <a:endParaRPr lang="en-US" sz="1600"/>
          </a:p>
        </p:txBody>
      </p:sp>
      <p:sp>
        <p:nvSpPr>
          <p:cNvPr id="59" name="Text 30">
            <a:extLst>
              <a:ext uri="{FF2B5EF4-FFF2-40B4-BE49-F238E27FC236}">
                <a16:creationId xmlns:a16="http://schemas.microsoft.com/office/drawing/2014/main" id="{BC1DCE66-2A2B-DF19-BED7-A383D8CED77E}"/>
              </a:ext>
            </a:extLst>
          </p:cNvPr>
          <p:cNvSpPr/>
          <p:nvPr/>
        </p:nvSpPr>
        <p:spPr>
          <a:xfrm>
            <a:off x="6555740" y="5008881"/>
            <a:ext cx="2257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6868B"/>
                </a:solidFill>
                <a:latin typeface="Liter"/>
              </a:rPr>
              <a:t>Cancer Flag, ICD9 code</a:t>
            </a:r>
            <a:endParaRPr lang="en-US"/>
          </a:p>
        </p:txBody>
      </p:sp>
      <p:sp>
        <p:nvSpPr>
          <p:cNvPr id="60" name="Shape 31">
            <a:extLst>
              <a:ext uri="{FF2B5EF4-FFF2-40B4-BE49-F238E27FC236}">
                <a16:creationId xmlns:a16="http://schemas.microsoft.com/office/drawing/2014/main" id="{D8F57E48-C4AE-28A2-B6C0-D0ECADE6B5F7}"/>
              </a:ext>
            </a:extLst>
          </p:cNvPr>
          <p:cNvSpPr/>
          <p:nvPr/>
        </p:nvSpPr>
        <p:spPr>
          <a:xfrm>
            <a:off x="9020810" y="4547870"/>
            <a:ext cx="2503170" cy="807720"/>
          </a:xfrm>
          <a:custGeom>
            <a:avLst/>
            <a:gdLst/>
            <a:ahLst/>
            <a:cxnLst/>
            <a:rect l="l" t="t" r="r" b="b"/>
            <a:pathLst>
              <a:path w="2503170" h="807720">
                <a:moveTo>
                  <a:pt x="76200" y="0"/>
                </a:moveTo>
                <a:lnTo>
                  <a:pt x="2426970" y="0"/>
                </a:lnTo>
                <a:cubicBezTo>
                  <a:pt x="2469054" y="0"/>
                  <a:pt x="2503170" y="34116"/>
                  <a:pt x="2503170" y="76200"/>
                </a:cubicBezTo>
                <a:lnTo>
                  <a:pt x="2503170" y="731520"/>
                </a:lnTo>
                <a:cubicBezTo>
                  <a:pt x="2503170" y="773604"/>
                  <a:pt x="2469054" y="807720"/>
                  <a:pt x="2426970" y="807720"/>
                </a:cubicBezTo>
                <a:lnTo>
                  <a:pt x="76200" y="807720"/>
                </a:lnTo>
                <a:cubicBezTo>
                  <a:pt x="34116" y="807720"/>
                  <a:pt x="0" y="773604"/>
                  <a:pt x="0" y="7315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AFAFA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62" name="Text 33">
            <a:extLst>
              <a:ext uri="{FF2B5EF4-FFF2-40B4-BE49-F238E27FC236}">
                <a16:creationId xmlns:a16="http://schemas.microsoft.com/office/drawing/2014/main" id="{1CD5D073-F8E6-D680-8957-2D0BCFD4FF93}"/>
              </a:ext>
            </a:extLst>
          </p:cNvPr>
          <p:cNvSpPr/>
          <p:nvPr/>
        </p:nvSpPr>
        <p:spPr>
          <a:xfrm>
            <a:off x="9443720" y="4704081"/>
            <a:ext cx="111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err="1">
                <a:solidFill>
                  <a:srgbClr val="1D1D1D"/>
                </a:solidFill>
                <a:latin typeface="Liter"/>
              </a:rPr>
              <a:t>Insura</a:t>
            </a:r>
            <a:r>
              <a:rPr lang="en-US" sz="1200" b="1">
                <a:solidFill>
                  <a:srgbClr val="1D1D1D"/>
                </a:solidFill>
                <a:latin typeface="Liter"/>
              </a:rPr>
              <a:t>nce</a:t>
            </a:r>
            <a:endParaRPr lang="en-US" sz="1600"/>
          </a:p>
        </p:txBody>
      </p:sp>
      <p:sp>
        <p:nvSpPr>
          <p:cNvPr id="63" name="Text 34">
            <a:extLst>
              <a:ext uri="{FF2B5EF4-FFF2-40B4-BE49-F238E27FC236}">
                <a16:creationId xmlns:a16="http://schemas.microsoft.com/office/drawing/2014/main" id="{1DDA1004-C5EE-6D18-B740-2DE61C4165E1}"/>
              </a:ext>
            </a:extLst>
          </p:cNvPr>
          <p:cNvSpPr/>
          <p:nvPr/>
        </p:nvSpPr>
        <p:spPr>
          <a:xfrm>
            <a:off x="9187180" y="4958081"/>
            <a:ext cx="22574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/>
              </a:rPr>
              <a:t>Private, </a:t>
            </a:r>
            <a:r>
              <a:rPr lang="en-US" sz="1050" err="1">
                <a:solidFill>
                  <a:srgbClr val="86868B"/>
                </a:solidFill>
                <a:latin typeface="Liter"/>
              </a:rPr>
              <a:t>Publi</a:t>
            </a:r>
            <a:r>
              <a:rPr lang="en-US" sz="1050" dirty="0">
                <a:solidFill>
                  <a:srgbClr val="86868B"/>
                </a:solidFill>
                <a:latin typeface="Liter"/>
              </a:rPr>
              <a:t>c, Self pay, Medicare, </a:t>
            </a:r>
            <a:r>
              <a:rPr lang="en-US" sz="1050">
                <a:solidFill>
                  <a:srgbClr val="86868B"/>
                </a:solidFill>
                <a:latin typeface="Liter"/>
              </a:rPr>
              <a:t>Medicaid, Tricare</a:t>
            </a:r>
            <a:endParaRPr lang="en-US" dirty="0"/>
          </a:p>
        </p:txBody>
      </p:sp>
      <p:sp>
        <p:nvSpPr>
          <p:cNvPr id="64" name="Shape 43">
            <a:extLst>
              <a:ext uri="{FF2B5EF4-FFF2-40B4-BE49-F238E27FC236}">
                <a16:creationId xmlns:a16="http://schemas.microsoft.com/office/drawing/2014/main" id="{22F9C17C-2BAC-06E1-12B1-D9667B06716E}"/>
              </a:ext>
            </a:extLst>
          </p:cNvPr>
          <p:cNvSpPr/>
          <p:nvPr/>
        </p:nvSpPr>
        <p:spPr>
          <a:xfrm>
            <a:off x="6419850" y="5513070"/>
            <a:ext cx="5112385" cy="980440"/>
          </a:xfrm>
          <a:custGeom>
            <a:avLst/>
            <a:gdLst/>
            <a:ahLst/>
            <a:cxnLst/>
            <a:rect l="l" t="t" r="r" b="b"/>
            <a:pathLst>
              <a:path w="5122545" h="807720">
                <a:moveTo>
                  <a:pt x="76200" y="0"/>
                </a:moveTo>
                <a:lnTo>
                  <a:pt x="5046345" y="0"/>
                </a:lnTo>
                <a:cubicBezTo>
                  <a:pt x="5088429" y="0"/>
                  <a:pt x="5122545" y="34116"/>
                  <a:pt x="5122545" y="76200"/>
                </a:cubicBezTo>
                <a:lnTo>
                  <a:pt x="5122545" y="731520"/>
                </a:lnTo>
                <a:cubicBezTo>
                  <a:pt x="5122545" y="773604"/>
                  <a:pt x="5088429" y="807720"/>
                  <a:pt x="5046345" y="807720"/>
                </a:cubicBezTo>
                <a:lnTo>
                  <a:pt x="76200" y="807720"/>
                </a:lnTo>
                <a:cubicBezTo>
                  <a:pt x="34116" y="807720"/>
                  <a:pt x="0" y="773604"/>
                  <a:pt x="0" y="7315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AFAFA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66" name="Text 45">
            <a:extLst>
              <a:ext uri="{FF2B5EF4-FFF2-40B4-BE49-F238E27FC236}">
                <a16:creationId xmlns:a16="http://schemas.microsoft.com/office/drawing/2014/main" id="{599989F4-1251-A234-B92B-C7B61ACC6462}"/>
              </a:ext>
            </a:extLst>
          </p:cNvPr>
          <p:cNvSpPr/>
          <p:nvPr/>
        </p:nvSpPr>
        <p:spPr>
          <a:xfrm>
            <a:off x="6842760" y="5679440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Liter"/>
              </a:rPr>
              <a:t>Healthcare </a:t>
            </a:r>
            <a:r>
              <a:rPr lang="en-US" sz="1200" b="1">
                <a:solidFill>
                  <a:srgbClr val="1D1D1D"/>
                </a:solidFill>
                <a:latin typeface="Liter"/>
              </a:rPr>
              <a:t>Utilization</a:t>
            </a:r>
            <a:endParaRPr lang="en-US" dirty="0"/>
          </a:p>
        </p:txBody>
      </p:sp>
      <p:sp>
        <p:nvSpPr>
          <p:cNvPr id="67" name="Text 46">
            <a:extLst>
              <a:ext uri="{FF2B5EF4-FFF2-40B4-BE49-F238E27FC236}">
                <a16:creationId xmlns:a16="http://schemas.microsoft.com/office/drawing/2014/main" id="{C720571B-C735-8F47-E4FA-FE737513B700}"/>
              </a:ext>
            </a:extLst>
          </p:cNvPr>
          <p:cNvSpPr/>
          <p:nvPr/>
        </p:nvSpPr>
        <p:spPr>
          <a:xfrm>
            <a:off x="6586220" y="5994400"/>
            <a:ext cx="485648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B8B8F"/>
                </a:solidFill>
                <a:ea typeface="+mn-lt"/>
                <a:cs typeface="+mn-lt"/>
              </a:rPr>
              <a:t>Total Healthcare Expenditure (Year 1), Total Healthcare Expenditure (Year 2), Doctor Visits, Outpatient Visits, Inpatient Stays, Emergency Room Visits, Prescription Usage, Service-wise Healthcare Costs</a:t>
            </a:r>
            <a:endParaRPr lang="en-US">
              <a:solidFill>
                <a:srgbClr val="8B8B8F"/>
              </a:solidFill>
              <a:ea typeface="Calibri"/>
              <a:cs typeface="Calibri"/>
            </a:endParaRPr>
          </a:p>
        </p:txBody>
      </p:sp>
      <p:sp>
        <p:nvSpPr>
          <p:cNvPr id="69" name="Shape 54">
            <a:extLst>
              <a:ext uri="{FF2B5EF4-FFF2-40B4-BE49-F238E27FC236}">
                <a16:creationId xmlns:a16="http://schemas.microsoft.com/office/drawing/2014/main" id="{4C9288F7-449B-48DC-22B1-07BAB58FB405}"/>
              </a:ext>
            </a:extLst>
          </p:cNvPr>
          <p:cNvSpPr/>
          <p:nvPr/>
        </p:nvSpPr>
        <p:spPr>
          <a:xfrm>
            <a:off x="9185240" y="4745299"/>
            <a:ext cx="142284" cy="142284"/>
          </a:xfrm>
          <a:custGeom>
            <a:avLst/>
            <a:gdLst/>
            <a:ahLst/>
            <a:cxnLst/>
            <a:rect l="l" t="t" r="r" b="b"/>
            <a:pathLst>
              <a:path w="142284" h="142284">
                <a:moveTo>
                  <a:pt x="71142" y="0"/>
                </a:moveTo>
                <a:cubicBezTo>
                  <a:pt x="72421" y="0"/>
                  <a:pt x="73699" y="278"/>
                  <a:pt x="74866" y="806"/>
                </a:cubicBezTo>
                <a:lnTo>
                  <a:pt x="127222" y="23010"/>
                </a:lnTo>
                <a:cubicBezTo>
                  <a:pt x="133336" y="25595"/>
                  <a:pt x="137894" y="31625"/>
                  <a:pt x="137866" y="38906"/>
                </a:cubicBezTo>
                <a:cubicBezTo>
                  <a:pt x="137727" y="66474"/>
                  <a:pt x="126389" y="116912"/>
                  <a:pt x="78507" y="139839"/>
                </a:cubicBezTo>
                <a:cubicBezTo>
                  <a:pt x="73866" y="142062"/>
                  <a:pt x="68474" y="142062"/>
                  <a:pt x="63833" y="139839"/>
                </a:cubicBezTo>
                <a:cubicBezTo>
                  <a:pt x="15924" y="116912"/>
                  <a:pt x="4613" y="66474"/>
                  <a:pt x="4474" y="38906"/>
                </a:cubicBezTo>
                <a:cubicBezTo>
                  <a:pt x="4446" y="31625"/>
                  <a:pt x="9004" y="25595"/>
                  <a:pt x="15118" y="23010"/>
                </a:cubicBezTo>
                <a:lnTo>
                  <a:pt x="67446" y="806"/>
                </a:lnTo>
                <a:cubicBezTo>
                  <a:pt x="68613" y="278"/>
                  <a:pt x="69864" y="0"/>
                  <a:pt x="71142" y="0"/>
                </a:cubicBezTo>
                <a:close/>
                <a:moveTo>
                  <a:pt x="71142" y="18564"/>
                </a:moveTo>
                <a:lnTo>
                  <a:pt x="71142" y="123637"/>
                </a:lnTo>
                <a:cubicBezTo>
                  <a:pt x="109492" y="105074"/>
                  <a:pt x="119802" y="63945"/>
                  <a:pt x="120053" y="39323"/>
                </a:cubicBezTo>
                <a:lnTo>
                  <a:pt x="71142" y="18591"/>
                </a:lnTo>
                <a:lnTo>
                  <a:pt x="71142" y="18591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71" name="Shape 63">
            <a:extLst>
              <a:ext uri="{FF2B5EF4-FFF2-40B4-BE49-F238E27FC236}">
                <a16:creationId xmlns:a16="http://schemas.microsoft.com/office/drawing/2014/main" id="{742E477F-8837-69E8-A326-538407E011DC}"/>
              </a:ext>
            </a:extLst>
          </p:cNvPr>
          <p:cNvSpPr/>
          <p:nvPr/>
        </p:nvSpPr>
        <p:spPr>
          <a:xfrm>
            <a:off x="6596641" y="5710499"/>
            <a:ext cx="160070" cy="142284"/>
          </a:xfrm>
          <a:custGeom>
            <a:avLst/>
            <a:gdLst/>
            <a:ahLst/>
            <a:cxnLst/>
            <a:rect l="l" t="t" r="r" b="b"/>
            <a:pathLst>
              <a:path w="160070" h="142284">
                <a:moveTo>
                  <a:pt x="35571" y="17786"/>
                </a:moveTo>
                <a:cubicBezTo>
                  <a:pt x="35571" y="7976"/>
                  <a:pt x="43547" y="0"/>
                  <a:pt x="53357" y="0"/>
                </a:cubicBezTo>
                <a:lnTo>
                  <a:pt x="106713" y="0"/>
                </a:lnTo>
                <a:cubicBezTo>
                  <a:pt x="116523" y="0"/>
                  <a:pt x="124499" y="7976"/>
                  <a:pt x="124499" y="17786"/>
                </a:cubicBezTo>
                <a:lnTo>
                  <a:pt x="124499" y="35571"/>
                </a:lnTo>
                <a:lnTo>
                  <a:pt x="142284" y="35571"/>
                </a:lnTo>
                <a:cubicBezTo>
                  <a:pt x="152094" y="35571"/>
                  <a:pt x="160070" y="43547"/>
                  <a:pt x="160070" y="53357"/>
                </a:cubicBezTo>
                <a:lnTo>
                  <a:pt x="160070" y="124499"/>
                </a:lnTo>
                <a:cubicBezTo>
                  <a:pt x="160070" y="134309"/>
                  <a:pt x="152094" y="142284"/>
                  <a:pt x="142284" y="142284"/>
                </a:cubicBezTo>
                <a:lnTo>
                  <a:pt x="17786" y="142284"/>
                </a:lnTo>
                <a:cubicBezTo>
                  <a:pt x="7976" y="142284"/>
                  <a:pt x="0" y="134309"/>
                  <a:pt x="0" y="124499"/>
                </a:cubicBezTo>
                <a:lnTo>
                  <a:pt x="0" y="53357"/>
                </a:lnTo>
                <a:cubicBezTo>
                  <a:pt x="0" y="43547"/>
                  <a:pt x="7976" y="35571"/>
                  <a:pt x="17786" y="35571"/>
                </a:cubicBezTo>
                <a:lnTo>
                  <a:pt x="35571" y="35571"/>
                </a:lnTo>
                <a:lnTo>
                  <a:pt x="35571" y="17786"/>
                </a:lnTo>
                <a:close/>
                <a:moveTo>
                  <a:pt x="75589" y="97821"/>
                </a:moveTo>
                <a:cubicBezTo>
                  <a:pt x="70670" y="97821"/>
                  <a:pt x="66696" y="101795"/>
                  <a:pt x="66696" y="106713"/>
                </a:cubicBezTo>
                <a:lnTo>
                  <a:pt x="66696" y="128945"/>
                </a:lnTo>
                <a:lnTo>
                  <a:pt x="93374" y="128945"/>
                </a:lnTo>
                <a:lnTo>
                  <a:pt x="93374" y="106713"/>
                </a:lnTo>
                <a:cubicBezTo>
                  <a:pt x="93374" y="101795"/>
                  <a:pt x="89400" y="97821"/>
                  <a:pt x="84481" y="97821"/>
                </a:cubicBezTo>
                <a:lnTo>
                  <a:pt x="75589" y="97821"/>
                </a:lnTo>
                <a:close/>
                <a:moveTo>
                  <a:pt x="35571" y="102267"/>
                </a:moveTo>
                <a:lnTo>
                  <a:pt x="35571" y="93374"/>
                </a:lnTo>
                <a:cubicBezTo>
                  <a:pt x="35571" y="90929"/>
                  <a:pt x="33570" y="88928"/>
                  <a:pt x="31125" y="88928"/>
                </a:cubicBezTo>
                <a:lnTo>
                  <a:pt x="22232" y="88928"/>
                </a:lnTo>
                <a:cubicBezTo>
                  <a:pt x="19786" y="88928"/>
                  <a:pt x="17786" y="90929"/>
                  <a:pt x="17786" y="93374"/>
                </a:cubicBezTo>
                <a:lnTo>
                  <a:pt x="17786" y="102267"/>
                </a:lnTo>
                <a:cubicBezTo>
                  <a:pt x="17786" y="104712"/>
                  <a:pt x="19786" y="106713"/>
                  <a:pt x="22232" y="106713"/>
                </a:cubicBezTo>
                <a:lnTo>
                  <a:pt x="31125" y="106713"/>
                </a:lnTo>
                <a:cubicBezTo>
                  <a:pt x="33570" y="106713"/>
                  <a:pt x="35571" y="104712"/>
                  <a:pt x="35571" y="102267"/>
                </a:cubicBezTo>
                <a:close/>
                <a:moveTo>
                  <a:pt x="31125" y="71142"/>
                </a:moveTo>
                <a:cubicBezTo>
                  <a:pt x="33570" y="71142"/>
                  <a:pt x="35571" y="69141"/>
                  <a:pt x="35571" y="66696"/>
                </a:cubicBezTo>
                <a:lnTo>
                  <a:pt x="35571" y="57803"/>
                </a:lnTo>
                <a:cubicBezTo>
                  <a:pt x="35571" y="55358"/>
                  <a:pt x="33570" y="53357"/>
                  <a:pt x="31125" y="53357"/>
                </a:cubicBezTo>
                <a:lnTo>
                  <a:pt x="22232" y="53357"/>
                </a:lnTo>
                <a:cubicBezTo>
                  <a:pt x="19786" y="53357"/>
                  <a:pt x="17786" y="55358"/>
                  <a:pt x="17786" y="57803"/>
                </a:cubicBezTo>
                <a:lnTo>
                  <a:pt x="17786" y="66696"/>
                </a:lnTo>
                <a:cubicBezTo>
                  <a:pt x="17786" y="69141"/>
                  <a:pt x="19786" y="71142"/>
                  <a:pt x="22232" y="71142"/>
                </a:cubicBezTo>
                <a:lnTo>
                  <a:pt x="31125" y="71142"/>
                </a:lnTo>
                <a:close/>
                <a:moveTo>
                  <a:pt x="142284" y="102267"/>
                </a:moveTo>
                <a:lnTo>
                  <a:pt x="142284" y="93374"/>
                </a:lnTo>
                <a:cubicBezTo>
                  <a:pt x="142284" y="90929"/>
                  <a:pt x="140284" y="88928"/>
                  <a:pt x="137838" y="88928"/>
                </a:cubicBezTo>
                <a:lnTo>
                  <a:pt x="128945" y="88928"/>
                </a:lnTo>
                <a:cubicBezTo>
                  <a:pt x="126500" y="88928"/>
                  <a:pt x="124499" y="90929"/>
                  <a:pt x="124499" y="93374"/>
                </a:cubicBezTo>
                <a:lnTo>
                  <a:pt x="124499" y="102267"/>
                </a:lnTo>
                <a:cubicBezTo>
                  <a:pt x="124499" y="104712"/>
                  <a:pt x="126500" y="106713"/>
                  <a:pt x="128945" y="106713"/>
                </a:cubicBezTo>
                <a:lnTo>
                  <a:pt x="137838" y="106713"/>
                </a:lnTo>
                <a:cubicBezTo>
                  <a:pt x="140284" y="106713"/>
                  <a:pt x="142284" y="104712"/>
                  <a:pt x="142284" y="102267"/>
                </a:cubicBezTo>
                <a:close/>
                <a:moveTo>
                  <a:pt x="137838" y="71142"/>
                </a:moveTo>
                <a:cubicBezTo>
                  <a:pt x="140284" y="71142"/>
                  <a:pt x="142284" y="69141"/>
                  <a:pt x="142284" y="66696"/>
                </a:cubicBezTo>
                <a:lnTo>
                  <a:pt x="142284" y="57803"/>
                </a:lnTo>
                <a:cubicBezTo>
                  <a:pt x="142284" y="55358"/>
                  <a:pt x="140284" y="53357"/>
                  <a:pt x="137838" y="53357"/>
                </a:cubicBezTo>
                <a:lnTo>
                  <a:pt x="128945" y="53357"/>
                </a:lnTo>
                <a:cubicBezTo>
                  <a:pt x="126500" y="53357"/>
                  <a:pt x="124499" y="55358"/>
                  <a:pt x="124499" y="57803"/>
                </a:cubicBezTo>
                <a:lnTo>
                  <a:pt x="124499" y="66696"/>
                </a:lnTo>
                <a:cubicBezTo>
                  <a:pt x="124499" y="69141"/>
                  <a:pt x="126500" y="71142"/>
                  <a:pt x="128945" y="71142"/>
                </a:cubicBezTo>
                <a:lnTo>
                  <a:pt x="137838" y="71142"/>
                </a:lnTo>
                <a:close/>
                <a:moveTo>
                  <a:pt x="73365" y="28902"/>
                </a:moveTo>
                <a:lnTo>
                  <a:pt x="73365" y="37794"/>
                </a:lnTo>
                <a:lnTo>
                  <a:pt x="64473" y="37794"/>
                </a:lnTo>
                <a:cubicBezTo>
                  <a:pt x="62027" y="37794"/>
                  <a:pt x="60026" y="39795"/>
                  <a:pt x="60026" y="42241"/>
                </a:cubicBezTo>
                <a:lnTo>
                  <a:pt x="60026" y="46687"/>
                </a:lnTo>
                <a:cubicBezTo>
                  <a:pt x="60026" y="49133"/>
                  <a:pt x="62027" y="51133"/>
                  <a:pt x="64473" y="51133"/>
                </a:cubicBezTo>
                <a:lnTo>
                  <a:pt x="73365" y="51133"/>
                </a:lnTo>
                <a:lnTo>
                  <a:pt x="73365" y="60026"/>
                </a:lnTo>
                <a:cubicBezTo>
                  <a:pt x="73365" y="62472"/>
                  <a:pt x="75366" y="64473"/>
                  <a:pt x="77812" y="64473"/>
                </a:cubicBezTo>
                <a:lnTo>
                  <a:pt x="82258" y="64473"/>
                </a:lnTo>
                <a:cubicBezTo>
                  <a:pt x="84704" y="64473"/>
                  <a:pt x="86705" y="62472"/>
                  <a:pt x="86705" y="60026"/>
                </a:cubicBezTo>
                <a:lnTo>
                  <a:pt x="86705" y="51133"/>
                </a:lnTo>
                <a:lnTo>
                  <a:pt x="95597" y="51133"/>
                </a:lnTo>
                <a:cubicBezTo>
                  <a:pt x="98043" y="51133"/>
                  <a:pt x="100044" y="49133"/>
                  <a:pt x="100044" y="46687"/>
                </a:cubicBezTo>
                <a:lnTo>
                  <a:pt x="100044" y="42241"/>
                </a:lnTo>
                <a:cubicBezTo>
                  <a:pt x="100044" y="39795"/>
                  <a:pt x="98043" y="37794"/>
                  <a:pt x="95597" y="37794"/>
                </a:cubicBezTo>
                <a:lnTo>
                  <a:pt x="86705" y="37794"/>
                </a:lnTo>
                <a:lnTo>
                  <a:pt x="86705" y="28902"/>
                </a:lnTo>
                <a:cubicBezTo>
                  <a:pt x="86705" y="26456"/>
                  <a:pt x="84704" y="24455"/>
                  <a:pt x="82258" y="24455"/>
                </a:cubicBezTo>
                <a:lnTo>
                  <a:pt x="77812" y="24455"/>
                </a:lnTo>
                <a:cubicBezTo>
                  <a:pt x="75366" y="24455"/>
                  <a:pt x="73365" y="26456"/>
                  <a:pt x="73365" y="28902"/>
                </a:cubicBezTo>
                <a:close/>
              </a:path>
            </a:pathLst>
          </a:custGeom>
          <a:solidFill>
            <a:srgbClr val="0071E3"/>
          </a:solidFill>
          <a:ln/>
        </p:spPr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598" y="347598"/>
            <a:ext cx="11557634" cy="173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8" b="1" kern="0" spc="48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Foundation</a:t>
            </a:r>
            <a:endParaRPr lang="en-US" sz="1600"/>
          </a:p>
        </p:txBody>
      </p:sp>
      <p:sp>
        <p:nvSpPr>
          <p:cNvPr id="3" name="Text 1"/>
          <p:cNvSpPr/>
          <p:nvPr/>
        </p:nvSpPr>
        <p:spPr>
          <a:xfrm>
            <a:off x="347598" y="590917"/>
            <a:ext cx="11653223" cy="347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63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Cleaning &amp; Preprocessing Pipeline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3728334" y="1049937"/>
            <a:ext cx="3593760" cy="3038947"/>
          </a:xfrm>
          <a:custGeom>
            <a:avLst/>
            <a:gdLst/>
            <a:ahLst/>
            <a:cxnLst/>
            <a:rect l="l" t="t" r="r" b="b"/>
            <a:pathLst>
              <a:path w="5672799" h="2935465">
                <a:moveTo>
                  <a:pt x="104268" y="0"/>
                </a:moveTo>
                <a:lnTo>
                  <a:pt x="5568532" y="0"/>
                </a:lnTo>
                <a:cubicBezTo>
                  <a:pt x="5626117" y="0"/>
                  <a:pt x="5672799" y="46682"/>
                  <a:pt x="5672799" y="104268"/>
                </a:cubicBezTo>
                <a:lnTo>
                  <a:pt x="5672799" y="2831197"/>
                </a:lnTo>
                <a:cubicBezTo>
                  <a:pt x="5672799" y="2888783"/>
                  <a:pt x="5626117" y="2935465"/>
                  <a:pt x="5568532" y="2935465"/>
                </a:cubicBezTo>
                <a:lnTo>
                  <a:pt x="104268" y="2935465"/>
                </a:lnTo>
                <a:cubicBezTo>
                  <a:pt x="46682" y="2935465"/>
                  <a:pt x="0" y="2888783"/>
                  <a:pt x="0" y="2831197"/>
                </a:cubicBezTo>
                <a:lnTo>
                  <a:pt x="0" y="104268"/>
                </a:lnTo>
                <a:cubicBezTo>
                  <a:pt x="0" y="46721"/>
                  <a:pt x="46721" y="0"/>
                  <a:pt x="10426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9163" y="1198991"/>
            <a:ext cx="3298608" cy="252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2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Integration &amp; Filtering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3852639" y="1559472"/>
            <a:ext cx="3304045" cy="588462"/>
          </a:xfrm>
          <a:custGeom>
            <a:avLst/>
            <a:gdLst/>
            <a:ahLst/>
            <a:cxnLst/>
            <a:rect l="l" t="t" r="r" b="b"/>
            <a:pathLst>
              <a:path w="5307822" h="597869">
                <a:moveTo>
                  <a:pt x="69520" y="0"/>
                </a:moveTo>
                <a:lnTo>
                  <a:pt x="5238301" y="0"/>
                </a:lnTo>
                <a:cubicBezTo>
                  <a:pt x="5276671" y="0"/>
                  <a:pt x="5307822" y="31151"/>
                  <a:pt x="5307822" y="69520"/>
                </a:cubicBezTo>
                <a:lnTo>
                  <a:pt x="5307822" y="528348"/>
                </a:lnTo>
                <a:cubicBezTo>
                  <a:pt x="5307822" y="566718"/>
                  <a:pt x="5276671" y="597869"/>
                  <a:pt x="5238301" y="597869"/>
                </a:cubicBezTo>
                <a:lnTo>
                  <a:pt x="69520" y="597869"/>
                </a:lnTo>
                <a:cubicBezTo>
                  <a:pt x="31151" y="597869"/>
                  <a:pt x="0" y="566718"/>
                  <a:pt x="0" y="528348"/>
                </a:cubicBezTo>
                <a:lnTo>
                  <a:pt x="0" y="69520"/>
                </a:lnTo>
                <a:cubicBezTo>
                  <a:pt x="0" y="31151"/>
                  <a:pt x="31151" y="0"/>
                  <a:pt x="69520" y="0"/>
                </a:cubicBezTo>
                <a:close/>
              </a:path>
            </a:pathLst>
          </a:custGeom>
          <a:solidFill>
            <a:srgbClr val="FAFAFA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50987" y="1657821"/>
            <a:ext cx="3215214" cy="183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8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 Python Parser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3950987" y="1885194"/>
            <a:ext cx="3205807" cy="15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8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Extracted fixed-width fields using SAS layout specifications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3852639" y="2315607"/>
            <a:ext cx="3304045" cy="654314"/>
          </a:xfrm>
          <a:custGeom>
            <a:avLst/>
            <a:gdLst/>
            <a:ahLst/>
            <a:cxnLst/>
            <a:rect l="l" t="t" r="r" b="b"/>
            <a:pathLst>
              <a:path w="5307822" h="597869">
                <a:moveTo>
                  <a:pt x="69520" y="0"/>
                </a:moveTo>
                <a:lnTo>
                  <a:pt x="5238301" y="0"/>
                </a:lnTo>
                <a:cubicBezTo>
                  <a:pt x="5276671" y="0"/>
                  <a:pt x="5307822" y="31151"/>
                  <a:pt x="5307822" y="69520"/>
                </a:cubicBezTo>
                <a:lnTo>
                  <a:pt x="5307822" y="528348"/>
                </a:lnTo>
                <a:cubicBezTo>
                  <a:pt x="5307822" y="566718"/>
                  <a:pt x="5276671" y="597869"/>
                  <a:pt x="5238301" y="597869"/>
                </a:cubicBezTo>
                <a:lnTo>
                  <a:pt x="69520" y="597869"/>
                </a:lnTo>
                <a:cubicBezTo>
                  <a:pt x="31151" y="597869"/>
                  <a:pt x="0" y="566718"/>
                  <a:pt x="0" y="528348"/>
                </a:cubicBezTo>
                <a:lnTo>
                  <a:pt x="0" y="69520"/>
                </a:lnTo>
                <a:cubicBezTo>
                  <a:pt x="0" y="31151"/>
                  <a:pt x="31151" y="0"/>
                  <a:pt x="69520" y="0"/>
                </a:cubicBezTo>
                <a:close/>
              </a:path>
            </a:pathLst>
          </a:custGeom>
          <a:solidFill>
            <a:srgbClr val="FAFAFA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2173" y="2376329"/>
            <a:ext cx="3224621" cy="15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8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Panel Merging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3950987" y="2575480"/>
            <a:ext cx="3196400" cy="286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8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Merged multiple MEPS longitudinal panels (11–15) using DUPERSID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3852639" y="3109375"/>
            <a:ext cx="3313452" cy="806427"/>
          </a:xfrm>
          <a:custGeom>
            <a:avLst/>
            <a:gdLst/>
            <a:ahLst/>
            <a:cxnLst/>
            <a:rect l="l" t="t" r="r" b="b"/>
            <a:pathLst>
              <a:path w="5307822" h="806427">
                <a:moveTo>
                  <a:pt x="69522" y="0"/>
                </a:moveTo>
                <a:lnTo>
                  <a:pt x="5238299" y="0"/>
                </a:lnTo>
                <a:cubicBezTo>
                  <a:pt x="5276695" y="0"/>
                  <a:pt x="5307822" y="31126"/>
                  <a:pt x="5307822" y="69522"/>
                </a:cubicBezTo>
                <a:lnTo>
                  <a:pt x="5307822" y="736905"/>
                </a:lnTo>
                <a:cubicBezTo>
                  <a:pt x="5307822" y="775301"/>
                  <a:pt x="5276695" y="806427"/>
                  <a:pt x="5238299" y="806427"/>
                </a:cubicBezTo>
                <a:lnTo>
                  <a:pt x="69522" y="806427"/>
                </a:lnTo>
                <a:cubicBezTo>
                  <a:pt x="31152" y="806427"/>
                  <a:pt x="0" y="775276"/>
                  <a:pt x="0" y="736905"/>
                </a:cubicBezTo>
                <a:lnTo>
                  <a:pt x="0" y="69522"/>
                </a:lnTo>
                <a:cubicBezTo>
                  <a:pt x="0" y="31152"/>
                  <a:pt x="31152" y="0"/>
                  <a:pt x="69522" y="0"/>
                </a:cubicBezTo>
                <a:close/>
              </a:path>
            </a:pathLst>
          </a:custGeom>
          <a:solidFill>
            <a:srgbClr val="FAFAFA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50987" y="3226540"/>
            <a:ext cx="3205807" cy="173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8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Filtering Criteria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3950987" y="3406878"/>
            <a:ext cx="3215214" cy="211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8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Adults (AGEY1X ≥ 18)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3950987" y="3624844"/>
            <a:ext cx="3196399" cy="183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8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Non-cancer patients (ICD-9 codes for Panel 11)</a:t>
            </a:r>
            <a:endParaRPr lang="en-US" sz="1600"/>
          </a:p>
        </p:txBody>
      </p:sp>
      <p:sp>
        <p:nvSpPr>
          <p:cNvPr id="16" name="Shape 14"/>
          <p:cNvSpPr/>
          <p:nvPr/>
        </p:nvSpPr>
        <p:spPr>
          <a:xfrm>
            <a:off x="7578586" y="1059345"/>
            <a:ext cx="4318132" cy="3029540"/>
          </a:xfrm>
          <a:custGeom>
            <a:avLst/>
            <a:gdLst/>
            <a:ahLst/>
            <a:cxnLst/>
            <a:rect l="l" t="t" r="r" b="b"/>
            <a:pathLst>
              <a:path w="5672799" h="2935465">
                <a:moveTo>
                  <a:pt x="104268" y="0"/>
                </a:moveTo>
                <a:lnTo>
                  <a:pt x="5568532" y="0"/>
                </a:lnTo>
                <a:cubicBezTo>
                  <a:pt x="5626117" y="0"/>
                  <a:pt x="5672799" y="46682"/>
                  <a:pt x="5672799" y="104268"/>
                </a:cubicBezTo>
                <a:lnTo>
                  <a:pt x="5672799" y="2831197"/>
                </a:lnTo>
                <a:cubicBezTo>
                  <a:pt x="5672799" y="2888783"/>
                  <a:pt x="5626117" y="2935465"/>
                  <a:pt x="5568532" y="2935465"/>
                </a:cubicBezTo>
                <a:lnTo>
                  <a:pt x="104268" y="2935465"/>
                </a:lnTo>
                <a:cubicBezTo>
                  <a:pt x="46682" y="2935465"/>
                  <a:pt x="0" y="2888783"/>
                  <a:pt x="0" y="2831197"/>
                </a:cubicBezTo>
                <a:lnTo>
                  <a:pt x="0" y="104268"/>
                </a:lnTo>
                <a:cubicBezTo>
                  <a:pt x="0" y="46721"/>
                  <a:pt x="46721" y="0"/>
                  <a:pt x="10426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3490" y="1208399"/>
            <a:ext cx="3985349" cy="252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2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Missing Value Handling</a:t>
            </a:r>
            <a:endParaRPr lang="en-US" sz="1600"/>
          </a:p>
        </p:txBody>
      </p:sp>
      <p:sp>
        <p:nvSpPr>
          <p:cNvPr id="18" name="Shape 16"/>
          <p:cNvSpPr/>
          <p:nvPr/>
        </p:nvSpPr>
        <p:spPr>
          <a:xfrm>
            <a:off x="7801463" y="1600164"/>
            <a:ext cx="121659" cy="121659"/>
          </a:xfrm>
          <a:custGeom>
            <a:avLst/>
            <a:gdLst/>
            <a:ahLst/>
            <a:cxnLst/>
            <a:rect l="l" t="t" r="r" b="b"/>
            <a:pathLst>
              <a:path w="121659" h="121659">
                <a:moveTo>
                  <a:pt x="119426" y="66200"/>
                </a:moveTo>
                <a:cubicBezTo>
                  <a:pt x="122396" y="63230"/>
                  <a:pt x="122396" y="58406"/>
                  <a:pt x="119426" y="55436"/>
                </a:cubicBezTo>
                <a:lnTo>
                  <a:pt x="81407" y="17417"/>
                </a:lnTo>
                <a:cubicBezTo>
                  <a:pt x="78437" y="14447"/>
                  <a:pt x="73613" y="14447"/>
                  <a:pt x="70643" y="17417"/>
                </a:cubicBezTo>
                <a:cubicBezTo>
                  <a:pt x="67673" y="20387"/>
                  <a:pt x="67673" y="25211"/>
                  <a:pt x="70643" y="28181"/>
                </a:cubicBezTo>
                <a:lnTo>
                  <a:pt x="95688" y="53226"/>
                </a:lnTo>
                <a:lnTo>
                  <a:pt x="7604" y="53226"/>
                </a:lnTo>
                <a:cubicBezTo>
                  <a:pt x="3398" y="53226"/>
                  <a:pt x="0" y="56624"/>
                  <a:pt x="0" y="60830"/>
                </a:cubicBezTo>
                <a:cubicBezTo>
                  <a:pt x="0" y="65035"/>
                  <a:pt x="3398" y="68433"/>
                  <a:pt x="7604" y="68433"/>
                </a:cubicBezTo>
                <a:lnTo>
                  <a:pt x="95688" y="68433"/>
                </a:lnTo>
                <a:lnTo>
                  <a:pt x="70643" y="93478"/>
                </a:lnTo>
                <a:cubicBezTo>
                  <a:pt x="67673" y="96448"/>
                  <a:pt x="67673" y="101272"/>
                  <a:pt x="70643" y="104242"/>
                </a:cubicBezTo>
                <a:cubicBezTo>
                  <a:pt x="73613" y="107212"/>
                  <a:pt x="78437" y="107212"/>
                  <a:pt x="81407" y="104242"/>
                </a:cubicBezTo>
                <a:lnTo>
                  <a:pt x="119426" y="66224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9" name="Text 17"/>
          <p:cNvSpPr/>
          <p:nvPr/>
        </p:nvSpPr>
        <p:spPr>
          <a:xfrm>
            <a:off x="8005677" y="1565404"/>
            <a:ext cx="3771438" cy="173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8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Converted MEPS negative codes [-1, -7, -8, -9] to missing values (NA)</a:t>
            </a:r>
            <a:endParaRPr lang="en-US" sz="1600"/>
          </a:p>
        </p:txBody>
      </p:sp>
      <p:sp>
        <p:nvSpPr>
          <p:cNvPr id="20" name="Shape 18"/>
          <p:cNvSpPr/>
          <p:nvPr/>
        </p:nvSpPr>
        <p:spPr>
          <a:xfrm>
            <a:off x="7801463" y="1843485"/>
            <a:ext cx="121659" cy="121659"/>
          </a:xfrm>
          <a:custGeom>
            <a:avLst/>
            <a:gdLst/>
            <a:ahLst/>
            <a:cxnLst/>
            <a:rect l="l" t="t" r="r" b="b"/>
            <a:pathLst>
              <a:path w="121659" h="121659">
                <a:moveTo>
                  <a:pt x="119426" y="66200"/>
                </a:moveTo>
                <a:cubicBezTo>
                  <a:pt x="122396" y="63230"/>
                  <a:pt x="122396" y="58406"/>
                  <a:pt x="119426" y="55436"/>
                </a:cubicBezTo>
                <a:lnTo>
                  <a:pt x="81407" y="17417"/>
                </a:lnTo>
                <a:cubicBezTo>
                  <a:pt x="78437" y="14447"/>
                  <a:pt x="73613" y="14447"/>
                  <a:pt x="70643" y="17417"/>
                </a:cubicBezTo>
                <a:cubicBezTo>
                  <a:pt x="67673" y="20387"/>
                  <a:pt x="67673" y="25211"/>
                  <a:pt x="70643" y="28181"/>
                </a:cubicBezTo>
                <a:lnTo>
                  <a:pt x="95688" y="53226"/>
                </a:lnTo>
                <a:lnTo>
                  <a:pt x="7604" y="53226"/>
                </a:lnTo>
                <a:cubicBezTo>
                  <a:pt x="3398" y="53226"/>
                  <a:pt x="0" y="56624"/>
                  <a:pt x="0" y="60830"/>
                </a:cubicBezTo>
                <a:cubicBezTo>
                  <a:pt x="0" y="65035"/>
                  <a:pt x="3398" y="68433"/>
                  <a:pt x="7604" y="68433"/>
                </a:cubicBezTo>
                <a:lnTo>
                  <a:pt x="95688" y="68433"/>
                </a:lnTo>
                <a:lnTo>
                  <a:pt x="70643" y="93478"/>
                </a:lnTo>
                <a:cubicBezTo>
                  <a:pt x="67673" y="96448"/>
                  <a:pt x="67673" y="101272"/>
                  <a:pt x="70643" y="104242"/>
                </a:cubicBezTo>
                <a:cubicBezTo>
                  <a:pt x="73613" y="107212"/>
                  <a:pt x="78437" y="107212"/>
                  <a:pt x="81407" y="104242"/>
                </a:cubicBezTo>
                <a:lnTo>
                  <a:pt x="119426" y="66224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1" name="Text 19"/>
          <p:cNvSpPr/>
          <p:nvPr/>
        </p:nvSpPr>
        <p:spPr>
          <a:xfrm>
            <a:off x="8015084" y="1836947"/>
            <a:ext cx="3765377" cy="136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8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Panel 11 Year-1 chronic conditions replaced using Round 5 data</a:t>
            </a:r>
            <a:endParaRPr lang="en-US" sz="1600"/>
          </a:p>
        </p:txBody>
      </p:sp>
      <p:sp>
        <p:nvSpPr>
          <p:cNvPr id="22" name="Shape 20"/>
          <p:cNvSpPr/>
          <p:nvPr/>
        </p:nvSpPr>
        <p:spPr>
          <a:xfrm>
            <a:off x="7801463" y="2086803"/>
            <a:ext cx="121659" cy="121659"/>
          </a:xfrm>
          <a:custGeom>
            <a:avLst/>
            <a:gdLst/>
            <a:ahLst/>
            <a:cxnLst/>
            <a:rect l="l" t="t" r="r" b="b"/>
            <a:pathLst>
              <a:path w="121659" h="121659">
                <a:moveTo>
                  <a:pt x="119426" y="66200"/>
                </a:moveTo>
                <a:cubicBezTo>
                  <a:pt x="122396" y="63230"/>
                  <a:pt x="122396" y="58406"/>
                  <a:pt x="119426" y="55436"/>
                </a:cubicBezTo>
                <a:lnTo>
                  <a:pt x="81407" y="17417"/>
                </a:lnTo>
                <a:cubicBezTo>
                  <a:pt x="78437" y="14447"/>
                  <a:pt x="73613" y="14447"/>
                  <a:pt x="70643" y="17417"/>
                </a:cubicBezTo>
                <a:cubicBezTo>
                  <a:pt x="67673" y="20387"/>
                  <a:pt x="67673" y="25211"/>
                  <a:pt x="70643" y="28181"/>
                </a:cubicBezTo>
                <a:lnTo>
                  <a:pt x="95688" y="53226"/>
                </a:lnTo>
                <a:lnTo>
                  <a:pt x="7604" y="53226"/>
                </a:lnTo>
                <a:cubicBezTo>
                  <a:pt x="3398" y="53226"/>
                  <a:pt x="0" y="56624"/>
                  <a:pt x="0" y="60830"/>
                </a:cubicBezTo>
                <a:cubicBezTo>
                  <a:pt x="0" y="65035"/>
                  <a:pt x="3398" y="68433"/>
                  <a:pt x="7604" y="68433"/>
                </a:cubicBezTo>
                <a:lnTo>
                  <a:pt x="95688" y="68433"/>
                </a:lnTo>
                <a:lnTo>
                  <a:pt x="70643" y="93478"/>
                </a:lnTo>
                <a:cubicBezTo>
                  <a:pt x="67673" y="96448"/>
                  <a:pt x="67673" y="101272"/>
                  <a:pt x="70643" y="104242"/>
                </a:cubicBezTo>
                <a:cubicBezTo>
                  <a:pt x="73613" y="107212"/>
                  <a:pt x="78437" y="107212"/>
                  <a:pt x="81407" y="104242"/>
                </a:cubicBezTo>
                <a:lnTo>
                  <a:pt x="119426" y="66224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3" name="Text 21"/>
          <p:cNvSpPr/>
          <p:nvPr/>
        </p:nvSpPr>
        <p:spPr>
          <a:xfrm>
            <a:off x="8005677" y="2052043"/>
            <a:ext cx="2415806" cy="173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8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Dropped columns with &gt;50% missing values</a:t>
            </a:r>
            <a:endParaRPr lang="en-US" sz="1600"/>
          </a:p>
        </p:txBody>
      </p:sp>
      <p:sp>
        <p:nvSpPr>
          <p:cNvPr id="24" name="Shape 22"/>
          <p:cNvSpPr/>
          <p:nvPr/>
        </p:nvSpPr>
        <p:spPr>
          <a:xfrm>
            <a:off x="7801463" y="2330122"/>
            <a:ext cx="121659" cy="121659"/>
          </a:xfrm>
          <a:custGeom>
            <a:avLst/>
            <a:gdLst/>
            <a:ahLst/>
            <a:cxnLst/>
            <a:rect l="l" t="t" r="r" b="b"/>
            <a:pathLst>
              <a:path w="121659" h="121659">
                <a:moveTo>
                  <a:pt x="119426" y="66200"/>
                </a:moveTo>
                <a:cubicBezTo>
                  <a:pt x="122396" y="63230"/>
                  <a:pt x="122396" y="58406"/>
                  <a:pt x="119426" y="55436"/>
                </a:cubicBezTo>
                <a:lnTo>
                  <a:pt x="81407" y="17417"/>
                </a:lnTo>
                <a:cubicBezTo>
                  <a:pt x="78437" y="14447"/>
                  <a:pt x="73613" y="14447"/>
                  <a:pt x="70643" y="17417"/>
                </a:cubicBezTo>
                <a:cubicBezTo>
                  <a:pt x="67673" y="20387"/>
                  <a:pt x="67673" y="25211"/>
                  <a:pt x="70643" y="28181"/>
                </a:cubicBezTo>
                <a:lnTo>
                  <a:pt x="95688" y="53226"/>
                </a:lnTo>
                <a:lnTo>
                  <a:pt x="7604" y="53226"/>
                </a:lnTo>
                <a:cubicBezTo>
                  <a:pt x="3398" y="53226"/>
                  <a:pt x="0" y="56624"/>
                  <a:pt x="0" y="60830"/>
                </a:cubicBezTo>
                <a:cubicBezTo>
                  <a:pt x="0" y="65035"/>
                  <a:pt x="3398" y="68433"/>
                  <a:pt x="7604" y="68433"/>
                </a:cubicBezTo>
                <a:lnTo>
                  <a:pt x="95688" y="68433"/>
                </a:lnTo>
                <a:lnTo>
                  <a:pt x="70643" y="93478"/>
                </a:lnTo>
                <a:cubicBezTo>
                  <a:pt x="67673" y="96448"/>
                  <a:pt x="67673" y="101272"/>
                  <a:pt x="70643" y="104242"/>
                </a:cubicBezTo>
                <a:cubicBezTo>
                  <a:pt x="73613" y="107212"/>
                  <a:pt x="78437" y="107212"/>
                  <a:pt x="81407" y="104242"/>
                </a:cubicBezTo>
                <a:lnTo>
                  <a:pt x="119426" y="66224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5" name="Text 23"/>
          <p:cNvSpPr/>
          <p:nvPr/>
        </p:nvSpPr>
        <p:spPr>
          <a:xfrm>
            <a:off x="8005677" y="2295362"/>
            <a:ext cx="3684539" cy="173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8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Median imputation</a:t>
            </a:r>
            <a:r>
              <a:rPr lang="en-US" sz="958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continuous variables (TOTEXPY2, BMINDX5)</a:t>
            </a:r>
            <a:endParaRPr lang="en-US" sz="1600"/>
          </a:p>
        </p:txBody>
      </p:sp>
      <p:sp>
        <p:nvSpPr>
          <p:cNvPr id="26" name="Shape 24"/>
          <p:cNvSpPr/>
          <p:nvPr/>
        </p:nvSpPr>
        <p:spPr>
          <a:xfrm>
            <a:off x="7801463" y="2573440"/>
            <a:ext cx="121659" cy="121659"/>
          </a:xfrm>
          <a:custGeom>
            <a:avLst/>
            <a:gdLst/>
            <a:ahLst/>
            <a:cxnLst/>
            <a:rect l="l" t="t" r="r" b="b"/>
            <a:pathLst>
              <a:path w="121659" h="121659">
                <a:moveTo>
                  <a:pt x="119426" y="66200"/>
                </a:moveTo>
                <a:cubicBezTo>
                  <a:pt x="122396" y="63230"/>
                  <a:pt x="122396" y="58406"/>
                  <a:pt x="119426" y="55436"/>
                </a:cubicBezTo>
                <a:lnTo>
                  <a:pt x="81407" y="17417"/>
                </a:lnTo>
                <a:cubicBezTo>
                  <a:pt x="78437" y="14447"/>
                  <a:pt x="73613" y="14447"/>
                  <a:pt x="70643" y="17417"/>
                </a:cubicBezTo>
                <a:cubicBezTo>
                  <a:pt x="67673" y="20387"/>
                  <a:pt x="67673" y="25211"/>
                  <a:pt x="70643" y="28181"/>
                </a:cubicBezTo>
                <a:lnTo>
                  <a:pt x="95688" y="53226"/>
                </a:lnTo>
                <a:lnTo>
                  <a:pt x="7604" y="53226"/>
                </a:lnTo>
                <a:cubicBezTo>
                  <a:pt x="3398" y="53226"/>
                  <a:pt x="0" y="56624"/>
                  <a:pt x="0" y="60830"/>
                </a:cubicBezTo>
                <a:cubicBezTo>
                  <a:pt x="0" y="65035"/>
                  <a:pt x="3398" y="68433"/>
                  <a:pt x="7604" y="68433"/>
                </a:cubicBezTo>
                <a:lnTo>
                  <a:pt x="95688" y="68433"/>
                </a:lnTo>
                <a:lnTo>
                  <a:pt x="70643" y="93478"/>
                </a:lnTo>
                <a:cubicBezTo>
                  <a:pt x="67673" y="96448"/>
                  <a:pt x="67673" y="101272"/>
                  <a:pt x="70643" y="104242"/>
                </a:cubicBezTo>
                <a:cubicBezTo>
                  <a:pt x="73613" y="107212"/>
                  <a:pt x="78437" y="107212"/>
                  <a:pt x="81407" y="104242"/>
                </a:cubicBezTo>
                <a:lnTo>
                  <a:pt x="119426" y="66224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7" name="Text 25"/>
          <p:cNvSpPr/>
          <p:nvPr/>
        </p:nvSpPr>
        <p:spPr>
          <a:xfrm>
            <a:off x="8005677" y="2538681"/>
            <a:ext cx="3832268" cy="173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>
                <a:solidFill>
                  <a:srgbClr val="1D1D1D"/>
                </a:solidFill>
                <a:latin typeface="Liter"/>
                <a:ea typeface="Liter" pitchFamily="34" charset="-122"/>
                <a:cs typeface="Liter" pitchFamily="34" charset="-120"/>
              </a:rPr>
              <a:t>Mode imputation</a:t>
            </a:r>
            <a:r>
              <a:rPr lang="en-US" sz="950">
                <a:solidFill>
                  <a:srgbClr val="1D1D1D"/>
                </a:solidFill>
                <a:latin typeface="Liter"/>
                <a:ea typeface="Liter" pitchFamily="34" charset="-122"/>
                <a:cs typeface="Liter" pitchFamily="34" charset="-120"/>
              </a:rPr>
              <a:t> for categorical variables (ADSMOK2, PHYACT3, etc.)</a:t>
            </a:r>
            <a:endParaRPr lang="en-US" sz="1600">
              <a:latin typeface="Liter"/>
              <a:ea typeface="Calibri"/>
              <a:cs typeface="Calibri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801463" y="2816759"/>
            <a:ext cx="121659" cy="121659"/>
          </a:xfrm>
          <a:custGeom>
            <a:avLst/>
            <a:gdLst/>
            <a:ahLst/>
            <a:cxnLst/>
            <a:rect l="l" t="t" r="r" b="b"/>
            <a:pathLst>
              <a:path w="121659" h="121659">
                <a:moveTo>
                  <a:pt x="119426" y="66200"/>
                </a:moveTo>
                <a:cubicBezTo>
                  <a:pt x="122396" y="63230"/>
                  <a:pt x="122396" y="58406"/>
                  <a:pt x="119426" y="55436"/>
                </a:cubicBezTo>
                <a:lnTo>
                  <a:pt x="81407" y="17417"/>
                </a:lnTo>
                <a:cubicBezTo>
                  <a:pt x="78437" y="14447"/>
                  <a:pt x="73613" y="14447"/>
                  <a:pt x="70643" y="17417"/>
                </a:cubicBezTo>
                <a:cubicBezTo>
                  <a:pt x="67673" y="20387"/>
                  <a:pt x="67673" y="25211"/>
                  <a:pt x="70643" y="28181"/>
                </a:cubicBezTo>
                <a:lnTo>
                  <a:pt x="95688" y="53226"/>
                </a:lnTo>
                <a:lnTo>
                  <a:pt x="7604" y="53226"/>
                </a:lnTo>
                <a:cubicBezTo>
                  <a:pt x="3398" y="53226"/>
                  <a:pt x="0" y="56624"/>
                  <a:pt x="0" y="60830"/>
                </a:cubicBezTo>
                <a:cubicBezTo>
                  <a:pt x="0" y="65035"/>
                  <a:pt x="3398" y="68433"/>
                  <a:pt x="7604" y="68433"/>
                </a:cubicBezTo>
                <a:lnTo>
                  <a:pt x="95688" y="68433"/>
                </a:lnTo>
                <a:lnTo>
                  <a:pt x="70643" y="93478"/>
                </a:lnTo>
                <a:cubicBezTo>
                  <a:pt x="67673" y="96448"/>
                  <a:pt x="67673" y="101272"/>
                  <a:pt x="70643" y="104242"/>
                </a:cubicBezTo>
                <a:cubicBezTo>
                  <a:pt x="73613" y="107212"/>
                  <a:pt x="78437" y="107212"/>
                  <a:pt x="81407" y="104242"/>
                </a:cubicBezTo>
                <a:lnTo>
                  <a:pt x="119426" y="66224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9" name="Text 27"/>
          <p:cNvSpPr/>
          <p:nvPr/>
        </p:nvSpPr>
        <p:spPr>
          <a:xfrm>
            <a:off x="8005677" y="2781999"/>
            <a:ext cx="2789474" cy="173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8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 status filled with neutral category 3 ("Good")</a:t>
            </a:r>
            <a:endParaRPr lang="en-US" sz="1600"/>
          </a:p>
        </p:txBody>
      </p:sp>
      <p:sp>
        <p:nvSpPr>
          <p:cNvPr id="30" name="Shape 28"/>
          <p:cNvSpPr/>
          <p:nvPr/>
        </p:nvSpPr>
        <p:spPr>
          <a:xfrm>
            <a:off x="7801463" y="3060078"/>
            <a:ext cx="121659" cy="121659"/>
          </a:xfrm>
          <a:custGeom>
            <a:avLst/>
            <a:gdLst/>
            <a:ahLst/>
            <a:cxnLst/>
            <a:rect l="l" t="t" r="r" b="b"/>
            <a:pathLst>
              <a:path w="121659" h="121659">
                <a:moveTo>
                  <a:pt x="119426" y="66200"/>
                </a:moveTo>
                <a:cubicBezTo>
                  <a:pt x="122396" y="63230"/>
                  <a:pt x="122396" y="58406"/>
                  <a:pt x="119426" y="55436"/>
                </a:cubicBezTo>
                <a:lnTo>
                  <a:pt x="81407" y="17417"/>
                </a:lnTo>
                <a:cubicBezTo>
                  <a:pt x="78437" y="14447"/>
                  <a:pt x="73613" y="14447"/>
                  <a:pt x="70643" y="17417"/>
                </a:cubicBezTo>
                <a:cubicBezTo>
                  <a:pt x="67673" y="20387"/>
                  <a:pt x="67673" y="25211"/>
                  <a:pt x="70643" y="28181"/>
                </a:cubicBezTo>
                <a:lnTo>
                  <a:pt x="95688" y="53226"/>
                </a:lnTo>
                <a:lnTo>
                  <a:pt x="7604" y="53226"/>
                </a:lnTo>
                <a:cubicBezTo>
                  <a:pt x="3398" y="53226"/>
                  <a:pt x="0" y="56624"/>
                  <a:pt x="0" y="60830"/>
                </a:cubicBezTo>
                <a:cubicBezTo>
                  <a:pt x="0" y="65035"/>
                  <a:pt x="3398" y="68433"/>
                  <a:pt x="7604" y="68433"/>
                </a:cubicBezTo>
                <a:lnTo>
                  <a:pt x="95688" y="68433"/>
                </a:lnTo>
                <a:lnTo>
                  <a:pt x="70643" y="93478"/>
                </a:lnTo>
                <a:cubicBezTo>
                  <a:pt x="67673" y="96448"/>
                  <a:pt x="67673" y="101272"/>
                  <a:pt x="70643" y="104242"/>
                </a:cubicBezTo>
                <a:cubicBezTo>
                  <a:pt x="73613" y="107212"/>
                  <a:pt x="78437" y="107212"/>
                  <a:pt x="81407" y="104242"/>
                </a:cubicBezTo>
                <a:lnTo>
                  <a:pt x="119426" y="66224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1" name="Text 29"/>
          <p:cNvSpPr/>
          <p:nvPr/>
        </p:nvSpPr>
        <p:spPr>
          <a:xfrm>
            <a:off x="8005677" y="3025318"/>
            <a:ext cx="2841614" cy="173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8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Employment filled with category 4 ("Not Employed")</a:t>
            </a:r>
            <a:endParaRPr lang="en-US" sz="1600"/>
          </a:p>
        </p:txBody>
      </p:sp>
      <p:sp>
        <p:nvSpPr>
          <p:cNvPr id="191" name="Shape 22">
            <a:extLst>
              <a:ext uri="{FF2B5EF4-FFF2-40B4-BE49-F238E27FC236}">
                <a16:creationId xmlns:a16="http://schemas.microsoft.com/office/drawing/2014/main" id="{54EF3158-E6A8-24FF-1491-46B0FA084821}"/>
              </a:ext>
            </a:extLst>
          </p:cNvPr>
          <p:cNvSpPr/>
          <p:nvPr/>
        </p:nvSpPr>
        <p:spPr>
          <a:xfrm>
            <a:off x="7810870" y="3270863"/>
            <a:ext cx="121659" cy="121659"/>
          </a:xfrm>
          <a:custGeom>
            <a:avLst/>
            <a:gdLst/>
            <a:ahLst/>
            <a:cxnLst/>
            <a:rect l="l" t="t" r="r" b="b"/>
            <a:pathLst>
              <a:path w="121659" h="121659">
                <a:moveTo>
                  <a:pt x="119426" y="66200"/>
                </a:moveTo>
                <a:cubicBezTo>
                  <a:pt x="122396" y="63230"/>
                  <a:pt x="122396" y="58406"/>
                  <a:pt x="119426" y="55436"/>
                </a:cubicBezTo>
                <a:lnTo>
                  <a:pt x="81407" y="17417"/>
                </a:lnTo>
                <a:cubicBezTo>
                  <a:pt x="78437" y="14447"/>
                  <a:pt x="73613" y="14447"/>
                  <a:pt x="70643" y="17417"/>
                </a:cubicBezTo>
                <a:cubicBezTo>
                  <a:pt x="67673" y="20387"/>
                  <a:pt x="67673" y="25211"/>
                  <a:pt x="70643" y="28181"/>
                </a:cubicBezTo>
                <a:lnTo>
                  <a:pt x="95688" y="53226"/>
                </a:lnTo>
                <a:lnTo>
                  <a:pt x="7604" y="53226"/>
                </a:lnTo>
                <a:cubicBezTo>
                  <a:pt x="3398" y="53226"/>
                  <a:pt x="0" y="56624"/>
                  <a:pt x="0" y="60830"/>
                </a:cubicBezTo>
                <a:cubicBezTo>
                  <a:pt x="0" y="65035"/>
                  <a:pt x="3398" y="68433"/>
                  <a:pt x="7604" y="68433"/>
                </a:cubicBezTo>
                <a:lnTo>
                  <a:pt x="95688" y="68433"/>
                </a:lnTo>
                <a:lnTo>
                  <a:pt x="70643" y="93478"/>
                </a:lnTo>
                <a:cubicBezTo>
                  <a:pt x="67673" y="96448"/>
                  <a:pt x="67673" y="101272"/>
                  <a:pt x="70643" y="104242"/>
                </a:cubicBezTo>
                <a:cubicBezTo>
                  <a:pt x="73613" y="107212"/>
                  <a:pt x="78437" y="107212"/>
                  <a:pt x="81407" y="104242"/>
                </a:cubicBezTo>
                <a:lnTo>
                  <a:pt x="119426" y="66224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92" name="Text 23">
            <a:extLst>
              <a:ext uri="{FF2B5EF4-FFF2-40B4-BE49-F238E27FC236}">
                <a16:creationId xmlns:a16="http://schemas.microsoft.com/office/drawing/2014/main" id="{19A1F883-9D5B-1F51-9611-20DDDB2357F9}"/>
              </a:ext>
            </a:extLst>
          </p:cNvPr>
          <p:cNvSpPr/>
          <p:nvPr/>
        </p:nvSpPr>
        <p:spPr>
          <a:xfrm>
            <a:off x="8015084" y="3236103"/>
            <a:ext cx="3684539" cy="173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1D1D1D"/>
                </a:solidFill>
                <a:latin typeface="Liter"/>
                <a:ea typeface="Calibri"/>
                <a:cs typeface="Calibri"/>
              </a:rPr>
              <a:t>Handled Missing Year information by Panel-Year </a:t>
            </a:r>
            <a:r>
              <a:rPr lang="en-US" sz="950" dirty="0" err="1">
                <a:solidFill>
                  <a:srgbClr val="1D1D1D"/>
                </a:solidFill>
                <a:latin typeface="Liter"/>
                <a:ea typeface="Calibri"/>
                <a:cs typeface="Calibri"/>
              </a:rPr>
              <a:t>Maping</a:t>
            </a:r>
          </a:p>
        </p:txBody>
      </p:sp>
      <p:sp>
        <p:nvSpPr>
          <p:cNvPr id="193" name="Rectangle: Rounded Corners 192">
            <a:extLst>
              <a:ext uri="{FF2B5EF4-FFF2-40B4-BE49-F238E27FC236}">
                <a16:creationId xmlns:a16="http://schemas.microsoft.com/office/drawing/2014/main" id="{38DA1699-886E-4422-4BE1-AE618EF4B54E}"/>
              </a:ext>
            </a:extLst>
          </p:cNvPr>
          <p:cNvSpPr/>
          <p:nvPr/>
        </p:nvSpPr>
        <p:spPr>
          <a:xfrm>
            <a:off x="531628" y="1061122"/>
            <a:ext cx="2846424" cy="915937"/>
          </a:xfrm>
          <a:prstGeom prst="rect">
            <a:avLst/>
          </a:prstGeom>
          <a:solidFill>
            <a:srgbClr val="0071E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ea typeface="Calibri"/>
              <a:cs typeface="Calibri"/>
            </a:endParaRPr>
          </a:p>
        </p:txBody>
      </p:sp>
      <p:sp>
        <p:nvSpPr>
          <p:cNvPr id="194" name="Rectangle: Rounded Corners 193">
            <a:extLst>
              <a:ext uri="{FF2B5EF4-FFF2-40B4-BE49-F238E27FC236}">
                <a16:creationId xmlns:a16="http://schemas.microsoft.com/office/drawing/2014/main" id="{8B965076-4785-0282-7C0B-E1B1178D08C9}"/>
              </a:ext>
            </a:extLst>
          </p:cNvPr>
          <p:cNvSpPr/>
          <p:nvPr/>
        </p:nvSpPr>
        <p:spPr>
          <a:xfrm>
            <a:off x="531628" y="2086531"/>
            <a:ext cx="2846424" cy="89712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5" name="Rectangle: Rounded Corners 194">
            <a:extLst>
              <a:ext uri="{FF2B5EF4-FFF2-40B4-BE49-F238E27FC236}">
                <a16:creationId xmlns:a16="http://schemas.microsoft.com/office/drawing/2014/main" id="{B2C364B4-210B-D8A2-CC6A-241B4652FE1D}"/>
              </a:ext>
            </a:extLst>
          </p:cNvPr>
          <p:cNvSpPr/>
          <p:nvPr/>
        </p:nvSpPr>
        <p:spPr>
          <a:xfrm>
            <a:off x="531628" y="3102529"/>
            <a:ext cx="2846424" cy="981788"/>
          </a:xfrm>
          <a:prstGeom prst="rect">
            <a:avLst/>
          </a:prstGeom>
          <a:solidFill>
            <a:srgbClr val="0071E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7" name="Shape 3">
            <a:extLst>
              <a:ext uri="{FF2B5EF4-FFF2-40B4-BE49-F238E27FC236}">
                <a16:creationId xmlns:a16="http://schemas.microsoft.com/office/drawing/2014/main" id="{EF194247-8EE6-CCB3-4BC9-2B44F3D970BF}"/>
              </a:ext>
            </a:extLst>
          </p:cNvPr>
          <p:cNvSpPr/>
          <p:nvPr/>
        </p:nvSpPr>
        <p:spPr>
          <a:xfrm>
            <a:off x="2558547" y="1306724"/>
            <a:ext cx="487785" cy="458019"/>
          </a:xfrm>
          <a:custGeom>
            <a:avLst/>
            <a:gdLst/>
            <a:ahLst/>
            <a:cxnLst/>
            <a:rect l="l" t="t" r="r" b="b"/>
            <a:pathLst>
              <a:path w="186748" h="213427">
                <a:moveTo>
                  <a:pt x="186748" y="85788"/>
                </a:moveTo>
                <a:cubicBezTo>
                  <a:pt x="180579" y="89873"/>
                  <a:pt x="173493" y="93166"/>
                  <a:pt x="166114" y="95792"/>
                </a:cubicBezTo>
                <a:cubicBezTo>
                  <a:pt x="146522" y="102795"/>
                  <a:pt x="120803" y="106713"/>
                  <a:pt x="93374" y="106713"/>
                </a:cubicBezTo>
                <a:cubicBezTo>
                  <a:pt x="65946" y="106713"/>
                  <a:pt x="40184" y="102753"/>
                  <a:pt x="20634" y="95792"/>
                </a:cubicBezTo>
                <a:cubicBezTo>
                  <a:pt x="13297" y="93166"/>
                  <a:pt x="6169" y="89873"/>
                  <a:pt x="0" y="85788"/>
                </a:cubicBezTo>
                <a:lnTo>
                  <a:pt x="0" y="120053"/>
                </a:lnTo>
                <a:cubicBezTo>
                  <a:pt x="0" y="138477"/>
                  <a:pt x="41810" y="153400"/>
                  <a:pt x="93374" y="153400"/>
                </a:cubicBezTo>
                <a:cubicBezTo>
                  <a:pt x="144938" y="153400"/>
                  <a:pt x="186748" y="138477"/>
                  <a:pt x="186748" y="120053"/>
                </a:cubicBezTo>
                <a:lnTo>
                  <a:pt x="186748" y="85788"/>
                </a:lnTo>
                <a:close/>
                <a:moveTo>
                  <a:pt x="186748" y="53357"/>
                </a:moveTo>
                <a:lnTo>
                  <a:pt x="186748" y="33348"/>
                </a:lnTo>
                <a:cubicBezTo>
                  <a:pt x="186748" y="14923"/>
                  <a:pt x="144938" y="0"/>
                  <a:pt x="93374" y="0"/>
                </a:cubicBezTo>
                <a:cubicBezTo>
                  <a:pt x="41810" y="0"/>
                  <a:pt x="0" y="14923"/>
                  <a:pt x="0" y="33348"/>
                </a:cubicBezTo>
                <a:lnTo>
                  <a:pt x="0" y="53357"/>
                </a:lnTo>
                <a:cubicBezTo>
                  <a:pt x="0" y="71781"/>
                  <a:pt x="41810" y="86705"/>
                  <a:pt x="93374" y="86705"/>
                </a:cubicBezTo>
                <a:cubicBezTo>
                  <a:pt x="144938" y="86705"/>
                  <a:pt x="186748" y="71781"/>
                  <a:pt x="186748" y="53357"/>
                </a:cubicBezTo>
                <a:close/>
                <a:moveTo>
                  <a:pt x="166114" y="162488"/>
                </a:moveTo>
                <a:cubicBezTo>
                  <a:pt x="146564" y="169449"/>
                  <a:pt x="120845" y="173409"/>
                  <a:pt x="93374" y="173409"/>
                </a:cubicBezTo>
                <a:cubicBezTo>
                  <a:pt x="65904" y="173409"/>
                  <a:pt x="40184" y="169449"/>
                  <a:pt x="20634" y="162488"/>
                </a:cubicBezTo>
                <a:cubicBezTo>
                  <a:pt x="13297" y="159862"/>
                  <a:pt x="6169" y="156568"/>
                  <a:pt x="0" y="152483"/>
                </a:cubicBezTo>
                <a:lnTo>
                  <a:pt x="0" y="180079"/>
                </a:lnTo>
                <a:cubicBezTo>
                  <a:pt x="0" y="198504"/>
                  <a:pt x="41810" y="213427"/>
                  <a:pt x="93374" y="213427"/>
                </a:cubicBezTo>
                <a:cubicBezTo>
                  <a:pt x="144938" y="213427"/>
                  <a:pt x="186748" y="198504"/>
                  <a:pt x="186748" y="180079"/>
                </a:cubicBezTo>
                <a:lnTo>
                  <a:pt x="186748" y="152483"/>
                </a:lnTo>
                <a:cubicBezTo>
                  <a:pt x="180579" y="156568"/>
                  <a:pt x="173493" y="159862"/>
                  <a:pt x="166114" y="16248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9" name="Text 4">
            <a:extLst>
              <a:ext uri="{FF2B5EF4-FFF2-40B4-BE49-F238E27FC236}">
                <a16:creationId xmlns:a16="http://schemas.microsoft.com/office/drawing/2014/main" id="{F2790861-C1AA-D7F3-3620-6B5C7E8B4EE3}"/>
              </a:ext>
            </a:extLst>
          </p:cNvPr>
          <p:cNvSpPr/>
          <p:nvPr/>
        </p:nvSpPr>
        <p:spPr>
          <a:xfrm>
            <a:off x="624841" y="1155176"/>
            <a:ext cx="1093812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Observations</a:t>
            </a:r>
            <a:endParaRPr lang="en-US" sz="1600"/>
          </a:p>
        </p:txBody>
      </p:sp>
      <p:sp>
        <p:nvSpPr>
          <p:cNvPr id="201" name="Text 5">
            <a:extLst>
              <a:ext uri="{FF2B5EF4-FFF2-40B4-BE49-F238E27FC236}">
                <a16:creationId xmlns:a16="http://schemas.microsoft.com/office/drawing/2014/main" id="{FC185F89-B70E-44DC-4BB5-0FEE082F8690}"/>
              </a:ext>
            </a:extLst>
          </p:cNvPr>
          <p:cNvSpPr/>
          <p:nvPr/>
        </p:nvSpPr>
        <p:spPr>
          <a:xfrm>
            <a:off x="646456" y="1382270"/>
            <a:ext cx="1356808" cy="3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21" b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78,022</a:t>
            </a:r>
            <a:endParaRPr lang="en-US" sz="1600"/>
          </a:p>
        </p:txBody>
      </p:sp>
      <p:sp>
        <p:nvSpPr>
          <p:cNvPr id="203" name="Text 6">
            <a:extLst>
              <a:ext uri="{FF2B5EF4-FFF2-40B4-BE49-F238E27FC236}">
                <a16:creationId xmlns:a16="http://schemas.microsoft.com/office/drawing/2014/main" id="{E1BF7216-406E-AE32-BEB3-7859BD3AD846}"/>
              </a:ext>
            </a:extLst>
          </p:cNvPr>
          <p:cNvSpPr/>
          <p:nvPr/>
        </p:nvSpPr>
        <p:spPr>
          <a:xfrm>
            <a:off x="637049" y="1764146"/>
            <a:ext cx="1371876" cy="159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Across 56 variables</a:t>
            </a:r>
            <a:endParaRPr lang="en-US" sz="1600"/>
          </a:p>
        </p:txBody>
      </p:sp>
      <p:sp>
        <p:nvSpPr>
          <p:cNvPr id="205" name="Shape 8">
            <a:extLst>
              <a:ext uri="{FF2B5EF4-FFF2-40B4-BE49-F238E27FC236}">
                <a16:creationId xmlns:a16="http://schemas.microsoft.com/office/drawing/2014/main" id="{AADD7073-DF02-0422-FB16-A028749EA5C8}"/>
              </a:ext>
            </a:extLst>
          </p:cNvPr>
          <p:cNvSpPr/>
          <p:nvPr/>
        </p:nvSpPr>
        <p:spPr>
          <a:xfrm>
            <a:off x="2561421" y="2303909"/>
            <a:ext cx="476834" cy="486242"/>
          </a:xfrm>
          <a:custGeom>
            <a:avLst/>
            <a:gdLst/>
            <a:ahLst/>
            <a:cxnLst/>
            <a:rect l="l" t="t" r="r" b="b"/>
            <a:pathLst>
              <a:path w="213427" h="213427">
                <a:moveTo>
                  <a:pt x="96917" y="2168"/>
                </a:moveTo>
                <a:cubicBezTo>
                  <a:pt x="103128" y="-709"/>
                  <a:pt x="110298" y="-709"/>
                  <a:pt x="116509" y="2168"/>
                </a:cubicBezTo>
                <a:lnTo>
                  <a:pt x="207632" y="44269"/>
                </a:lnTo>
                <a:cubicBezTo>
                  <a:pt x="211176" y="45895"/>
                  <a:pt x="213427" y="49438"/>
                  <a:pt x="213427" y="53357"/>
                </a:cubicBezTo>
                <a:cubicBezTo>
                  <a:pt x="213427" y="57275"/>
                  <a:pt x="211176" y="60818"/>
                  <a:pt x="207632" y="62444"/>
                </a:cubicBezTo>
                <a:lnTo>
                  <a:pt x="116509" y="104546"/>
                </a:lnTo>
                <a:cubicBezTo>
                  <a:pt x="110298" y="107422"/>
                  <a:pt x="103128" y="107422"/>
                  <a:pt x="96917" y="104546"/>
                </a:cubicBezTo>
                <a:lnTo>
                  <a:pt x="5794" y="62444"/>
                </a:lnTo>
                <a:cubicBezTo>
                  <a:pt x="2251" y="60777"/>
                  <a:pt x="0" y="57233"/>
                  <a:pt x="0" y="53357"/>
                </a:cubicBezTo>
                <a:cubicBezTo>
                  <a:pt x="0" y="49480"/>
                  <a:pt x="2251" y="45895"/>
                  <a:pt x="5794" y="44269"/>
                </a:cubicBezTo>
                <a:lnTo>
                  <a:pt x="96917" y="2168"/>
                </a:lnTo>
                <a:close/>
                <a:moveTo>
                  <a:pt x="20050" y="91040"/>
                </a:moveTo>
                <a:lnTo>
                  <a:pt x="88539" y="122679"/>
                </a:lnTo>
                <a:cubicBezTo>
                  <a:pt x="100085" y="128014"/>
                  <a:pt x="113383" y="128014"/>
                  <a:pt x="124930" y="122679"/>
                </a:cubicBezTo>
                <a:lnTo>
                  <a:pt x="193418" y="91040"/>
                </a:lnTo>
                <a:lnTo>
                  <a:pt x="207632" y="97626"/>
                </a:lnTo>
                <a:cubicBezTo>
                  <a:pt x="211176" y="99252"/>
                  <a:pt x="213427" y="102795"/>
                  <a:pt x="213427" y="106713"/>
                </a:cubicBezTo>
                <a:cubicBezTo>
                  <a:pt x="213427" y="110632"/>
                  <a:pt x="211176" y="114175"/>
                  <a:pt x="207632" y="115801"/>
                </a:cubicBezTo>
                <a:lnTo>
                  <a:pt x="116509" y="157902"/>
                </a:lnTo>
                <a:cubicBezTo>
                  <a:pt x="110298" y="160779"/>
                  <a:pt x="103128" y="160779"/>
                  <a:pt x="96917" y="157902"/>
                </a:cubicBezTo>
                <a:lnTo>
                  <a:pt x="5794" y="115801"/>
                </a:lnTo>
                <a:cubicBezTo>
                  <a:pt x="2251" y="114133"/>
                  <a:pt x="0" y="110590"/>
                  <a:pt x="0" y="106713"/>
                </a:cubicBezTo>
                <a:cubicBezTo>
                  <a:pt x="0" y="102837"/>
                  <a:pt x="2251" y="99252"/>
                  <a:pt x="5794" y="97626"/>
                </a:cubicBezTo>
                <a:lnTo>
                  <a:pt x="20009" y="91040"/>
                </a:lnTo>
                <a:close/>
                <a:moveTo>
                  <a:pt x="5794" y="150983"/>
                </a:moveTo>
                <a:lnTo>
                  <a:pt x="20009" y="144396"/>
                </a:lnTo>
                <a:lnTo>
                  <a:pt x="88497" y="176035"/>
                </a:lnTo>
                <a:cubicBezTo>
                  <a:pt x="100044" y="181371"/>
                  <a:pt x="113341" y="181371"/>
                  <a:pt x="124888" y="176035"/>
                </a:cubicBezTo>
                <a:lnTo>
                  <a:pt x="193376" y="144396"/>
                </a:lnTo>
                <a:lnTo>
                  <a:pt x="207591" y="150983"/>
                </a:lnTo>
                <a:cubicBezTo>
                  <a:pt x="211134" y="152608"/>
                  <a:pt x="213385" y="156152"/>
                  <a:pt x="213385" y="160070"/>
                </a:cubicBezTo>
                <a:cubicBezTo>
                  <a:pt x="213385" y="163988"/>
                  <a:pt x="211134" y="167532"/>
                  <a:pt x="207591" y="169157"/>
                </a:cubicBezTo>
                <a:lnTo>
                  <a:pt x="116468" y="211259"/>
                </a:lnTo>
                <a:cubicBezTo>
                  <a:pt x="110257" y="214135"/>
                  <a:pt x="103087" y="214135"/>
                  <a:pt x="96876" y="211259"/>
                </a:cubicBezTo>
                <a:lnTo>
                  <a:pt x="5794" y="169157"/>
                </a:lnTo>
                <a:cubicBezTo>
                  <a:pt x="2251" y="167490"/>
                  <a:pt x="0" y="163947"/>
                  <a:pt x="0" y="160070"/>
                </a:cubicBezTo>
                <a:cubicBezTo>
                  <a:pt x="0" y="156193"/>
                  <a:pt x="2251" y="152608"/>
                  <a:pt x="5794" y="15098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7" name="Text 9">
            <a:extLst>
              <a:ext uri="{FF2B5EF4-FFF2-40B4-BE49-F238E27FC236}">
                <a16:creationId xmlns:a16="http://schemas.microsoft.com/office/drawing/2014/main" id="{72D635BB-364F-BB57-10AE-C97FD647A233}"/>
              </a:ext>
            </a:extLst>
          </p:cNvPr>
          <p:cNvSpPr/>
          <p:nvPr/>
        </p:nvSpPr>
        <p:spPr>
          <a:xfrm>
            <a:off x="650461" y="2189991"/>
            <a:ext cx="791457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MEPS Panels</a:t>
            </a:r>
            <a:endParaRPr lang="en-US" sz="1600"/>
          </a:p>
        </p:txBody>
      </p:sp>
      <p:sp>
        <p:nvSpPr>
          <p:cNvPr id="209" name="Text 10">
            <a:extLst>
              <a:ext uri="{FF2B5EF4-FFF2-40B4-BE49-F238E27FC236}">
                <a16:creationId xmlns:a16="http://schemas.microsoft.com/office/drawing/2014/main" id="{E26936C2-929C-11D3-6BE7-F84C80F3A5AB}"/>
              </a:ext>
            </a:extLst>
          </p:cNvPr>
          <p:cNvSpPr/>
          <p:nvPr/>
        </p:nvSpPr>
        <p:spPr>
          <a:xfrm>
            <a:off x="653261" y="2407680"/>
            <a:ext cx="1714289" cy="365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21" b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11–15</a:t>
            </a:r>
            <a:endParaRPr lang="en-US" sz="1600"/>
          </a:p>
        </p:txBody>
      </p:sp>
      <p:sp>
        <p:nvSpPr>
          <p:cNvPr id="211" name="Text 11">
            <a:extLst>
              <a:ext uri="{FF2B5EF4-FFF2-40B4-BE49-F238E27FC236}">
                <a16:creationId xmlns:a16="http://schemas.microsoft.com/office/drawing/2014/main" id="{E1FE4BAC-D1A5-9024-3546-866E8B1C3D8B}"/>
              </a:ext>
            </a:extLst>
          </p:cNvPr>
          <p:cNvSpPr/>
          <p:nvPr/>
        </p:nvSpPr>
        <p:spPr>
          <a:xfrm>
            <a:off x="643854" y="2723704"/>
            <a:ext cx="1729357" cy="215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Years 2006–2010</a:t>
            </a:r>
            <a:endParaRPr lang="en-US" sz="1600"/>
          </a:p>
        </p:txBody>
      </p:sp>
      <p:sp>
        <p:nvSpPr>
          <p:cNvPr id="213" name="Shape 13">
            <a:extLst>
              <a:ext uri="{FF2B5EF4-FFF2-40B4-BE49-F238E27FC236}">
                <a16:creationId xmlns:a16="http://schemas.microsoft.com/office/drawing/2014/main" id="{74EAA662-E45D-1F7C-3FA0-22AD78DDB05C}"/>
              </a:ext>
            </a:extLst>
          </p:cNvPr>
          <p:cNvSpPr/>
          <p:nvPr/>
        </p:nvSpPr>
        <p:spPr>
          <a:xfrm>
            <a:off x="2587042" y="3319909"/>
            <a:ext cx="458019" cy="467428"/>
          </a:xfrm>
          <a:custGeom>
            <a:avLst/>
            <a:gdLst/>
            <a:ahLst/>
            <a:cxnLst/>
            <a:rect l="l" t="t" r="r" b="b"/>
            <a:pathLst>
              <a:path w="213427" h="213427">
                <a:moveTo>
                  <a:pt x="13339" y="26678"/>
                </a:moveTo>
                <a:cubicBezTo>
                  <a:pt x="7962" y="26678"/>
                  <a:pt x="3085" y="29930"/>
                  <a:pt x="1000" y="34932"/>
                </a:cubicBezTo>
                <a:cubicBezTo>
                  <a:pt x="-1084" y="39934"/>
                  <a:pt x="83" y="45645"/>
                  <a:pt x="3918" y="49438"/>
                </a:cubicBezTo>
                <a:lnTo>
                  <a:pt x="80035" y="125597"/>
                </a:lnTo>
                <a:lnTo>
                  <a:pt x="80035" y="173409"/>
                </a:lnTo>
                <a:cubicBezTo>
                  <a:pt x="80035" y="176952"/>
                  <a:pt x="81452" y="180329"/>
                  <a:pt x="83953" y="182830"/>
                </a:cubicBezTo>
                <a:lnTo>
                  <a:pt x="110632" y="209508"/>
                </a:lnTo>
                <a:cubicBezTo>
                  <a:pt x="114467" y="213343"/>
                  <a:pt x="120178" y="214469"/>
                  <a:pt x="125180" y="212385"/>
                </a:cubicBezTo>
                <a:cubicBezTo>
                  <a:pt x="130182" y="210300"/>
                  <a:pt x="133392" y="205465"/>
                  <a:pt x="133392" y="200088"/>
                </a:cubicBezTo>
                <a:lnTo>
                  <a:pt x="133392" y="125597"/>
                </a:lnTo>
                <a:lnTo>
                  <a:pt x="209508" y="49480"/>
                </a:lnTo>
                <a:cubicBezTo>
                  <a:pt x="213343" y="45645"/>
                  <a:pt x="214469" y="39934"/>
                  <a:pt x="212385" y="34932"/>
                </a:cubicBezTo>
                <a:cubicBezTo>
                  <a:pt x="210300" y="29930"/>
                  <a:pt x="205465" y="26678"/>
                  <a:pt x="200088" y="26678"/>
                </a:cubicBezTo>
                <a:lnTo>
                  <a:pt x="13339" y="2667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5" name="Text 14">
            <a:extLst>
              <a:ext uri="{FF2B5EF4-FFF2-40B4-BE49-F238E27FC236}">
                <a16:creationId xmlns:a16="http://schemas.microsoft.com/office/drawing/2014/main" id="{EF8CDF61-866B-4182-292D-384EBE79AF84}"/>
              </a:ext>
            </a:extLst>
          </p:cNvPr>
          <p:cNvSpPr/>
          <p:nvPr/>
        </p:nvSpPr>
        <p:spPr>
          <a:xfrm>
            <a:off x="657268" y="3205992"/>
            <a:ext cx="773672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 Dataset</a:t>
            </a:r>
            <a:endParaRPr lang="en-US" sz="1600"/>
          </a:p>
        </p:txBody>
      </p:sp>
      <p:sp>
        <p:nvSpPr>
          <p:cNvPr id="217" name="Text 15">
            <a:extLst>
              <a:ext uri="{FF2B5EF4-FFF2-40B4-BE49-F238E27FC236}">
                <a16:creationId xmlns:a16="http://schemas.microsoft.com/office/drawing/2014/main" id="{CCA37AFC-C972-A519-2ED2-DFFF8111C26D}"/>
              </a:ext>
            </a:extLst>
          </p:cNvPr>
          <p:cNvSpPr/>
          <p:nvPr/>
        </p:nvSpPr>
        <p:spPr>
          <a:xfrm>
            <a:off x="631845" y="3423679"/>
            <a:ext cx="1723697" cy="3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21" b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49,820</a:t>
            </a:r>
            <a:endParaRPr lang="en-US" sz="1600"/>
          </a:p>
        </p:txBody>
      </p:sp>
      <p:sp>
        <p:nvSpPr>
          <p:cNvPr id="219" name="Text 16">
            <a:extLst>
              <a:ext uri="{FF2B5EF4-FFF2-40B4-BE49-F238E27FC236}">
                <a16:creationId xmlns:a16="http://schemas.microsoft.com/office/drawing/2014/main" id="{579093DB-92FE-E8BE-1B64-7552B0AD3D14}"/>
              </a:ext>
            </a:extLst>
          </p:cNvPr>
          <p:cNvSpPr/>
          <p:nvPr/>
        </p:nvSpPr>
        <p:spPr>
          <a:xfrm>
            <a:off x="631845" y="3814963"/>
            <a:ext cx="1719950" cy="159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After filtering</a:t>
            </a:r>
            <a:endParaRPr lang="en-US" sz="1600"/>
          </a:p>
        </p:txBody>
      </p:sp>
      <p:sp>
        <p:nvSpPr>
          <p:cNvPr id="221" name="Text 31">
            <a:extLst>
              <a:ext uri="{FF2B5EF4-FFF2-40B4-BE49-F238E27FC236}">
                <a16:creationId xmlns:a16="http://schemas.microsoft.com/office/drawing/2014/main" id="{7FB58413-E917-2BD0-8BE9-FD4E29603FCB}"/>
              </a:ext>
            </a:extLst>
          </p:cNvPr>
          <p:cNvSpPr/>
          <p:nvPr/>
        </p:nvSpPr>
        <p:spPr>
          <a:xfrm>
            <a:off x="557701" y="4254251"/>
            <a:ext cx="1896702" cy="17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2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Panel-wise Record Counts</a:t>
            </a:r>
            <a:endParaRPr lang="en-US" sz="1600"/>
          </a:p>
        </p:txBody>
      </p:sp>
      <p:sp>
        <p:nvSpPr>
          <p:cNvPr id="223" name="Text 32">
            <a:extLst>
              <a:ext uri="{FF2B5EF4-FFF2-40B4-BE49-F238E27FC236}">
                <a16:creationId xmlns:a16="http://schemas.microsoft.com/office/drawing/2014/main" id="{C626D422-C969-8CC0-653D-DA907177F494}"/>
              </a:ext>
            </a:extLst>
          </p:cNvPr>
          <p:cNvSpPr/>
          <p:nvPr/>
        </p:nvSpPr>
        <p:spPr>
          <a:xfrm>
            <a:off x="386174" y="4551942"/>
            <a:ext cx="1798820" cy="173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8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Panel</a:t>
            </a:r>
            <a:endParaRPr lang="en-US" sz="1600"/>
          </a:p>
        </p:txBody>
      </p:sp>
      <p:sp>
        <p:nvSpPr>
          <p:cNvPr id="225" name="Text 33">
            <a:extLst>
              <a:ext uri="{FF2B5EF4-FFF2-40B4-BE49-F238E27FC236}">
                <a16:creationId xmlns:a16="http://schemas.microsoft.com/office/drawing/2014/main" id="{EB490F45-9E19-582F-7570-7EC35AD160CE}"/>
              </a:ext>
            </a:extLst>
          </p:cNvPr>
          <p:cNvSpPr/>
          <p:nvPr/>
        </p:nvSpPr>
        <p:spPr>
          <a:xfrm>
            <a:off x="381829" y="4795261"/>
            <a:ext cx="1807510" cy="20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95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/>
          </a:p>
        </p:txBody>
      </p:sp>
      <p:sp>
        <p:nvSpPr>
          <p:cNvPr id="227" name="Text 34">
            <a:extLst>
              <a:ext uri="{FF2B5EF4-FFF2-40B4-BE49-F238E27FC236}">
                <a16:creationId xmlns:a16="http://schemas.microsoft.com/office/drawing/2014/main" id="{DE36C68F-762B-0AF7-A029-A78BCEFF3012}"/>
              </a:ext>
            </a:extLst>
          </p:cNvPr>
          <p:cNvSpPr/>
          <p:nvPr/>
        </p:nvSpPr>
        <p:spPr>
          <a:xfrm>
            <a:off x="381829" y="5073339"/>
            <a:ext cx="1807510" cy="20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95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/>
          </a:p>
        </p:txBody>
      </p:sp>
      <p:sp>
        <p:nvSpPr>
          <p:cNvPr id="229" name="Text 35">
            <a:extLst>
              <a:ext uri="{FF2B5EF4-FFF2-40B4-BE49-F238E27FC236}">
                <a16:creationId xmlns:a16="http://schemas.microsoft.com/office/drawing/2014/main" id="{B9B29E21-67E5-9272-650C-C4D5B31478AF}"/>
              </a:ext>
            </a:extLst>
          </p:cNvPr>
          <p:cNvSpPr/>
          <p:nvPr/>
        </p:nvSpPr>
        <p:spPr>
          <a:xfrm>
            <a:off x="381829" y="5351418"/>
            <a:ext cx="1807510" cy="20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95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600"/>
          </a:p>
        </p:txBody>
      </p:sp>
      <p:sp>
        <p:nvSpPr>
          <p:cNvPr id="231" name="Text 36">
            <a:extLst>
              <a:ext uri="{FF2B5EF4-FFF2-40B4-BE49-F238E27FC236}">
                <a16:creationId xmlns:a16="http://schemas.microsoft.com/office/drawing/2014/main" id="{3C4CB4DD-D017-AFC9-57C1-D244D16558AD}"/>
              </a:ext>
            </a:extLst>
          </p:cNvPr>
          <p:cNvSpPr/>
          <p:nvPr/>
        </p:nvSpPr>
        <p:spPr>
          <a:xfrm>
            <a:off x="381829" y="5629496"/>
            <a:ext cx="1807510" cy="20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95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1600"/>
          </a:p>
        </p:txBody>
      </p:sp>
      <p:sp>
        <p:nvSpPr>
          <p:cNvPr id="233" name="Text 37">
            <a:extLst>
              <a:ext uri="{FF2B5EF4-FFF2-40B4-BE49-F238E27FC236}">
                <a16:creationId xmlns:a16="http://schemas.microsoft.com/office/drawing/2014/main" id="{E1232721-A52A-02B7-01BE-A3C85FE25F58}"/>
              </a:ext>
            </a:extLst>
          </p:cNvPr>
          <p:cNvSpPr/>
          <p:nvPr/>
        </p:nvSpPr>
        <p:spPr>
          <a:xfrm>
            <a:off x="381829" y="5907575"/>
            <a:ext cx="1807510" cy="20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95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endParaRPr lang="en-US" sz="1600"/>
          </a:p>
        </p:txBody>
      </p:sp>
      <p:sp>
        <p:nvSpPr>
          <p:cNvPr id="235" name="Shape 38">
            <a:extLst>
              <a:ext uri="{FF2B5EF4-FFF2-40B4-BE49-F238E27FC236}">
                <a16:creationId xmlns:a16="http://schemas.microsoft.com/office/drawing/2014/main" id="{5BB7A984-EAC5-8486-71F0-256008B8C8B3}"/>
              </a:ext>
            </a:extLst>
          </p:cNvPr>
          <p:cNvSpPr/>
          <p:nvPr/>
        </p:nvSpPr>
        <p:spPr>
          <a:xfrm>
            <a:off x="416589" y="6189129"/>
            <a:ext cx="1737990" cy="6952"/>
          </a:xfrm>
          <a:custGeom>
            <a:avLst/>
            <a:gdLst/>
            <a:ahLst/>
            <a:cxnLst/>
            <a:rect l="l" t="t" r="r" b="b"/>
            <a:pathLst>
              <a:path w="1737990" h="6952">
                <a:moveTo>
                  <a:pt x="0" y="0"/>
                </a:moveTo>
                <a:lnTo>
                  <a:pt x="1737990" y="0"/>
                </a:lnTo>
                <a:lnTo>
                  <a:pt x="1737990" y="6952"/>
                </a:lnTo>
                <a:lnTo>
                  <a:pt x="0" y="6952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237" name="Text 39">
            <a:extLst>
              <a:ext uri="{FF2B5EF4-FFF2-40B4-BE49-F238E27FC236}">
                <a16:creationId xmlns:a16="http://schemas.microsoft.com/office/drawing/2014/main" id="{C8288F51-BB99-02D9-0629-AF81A1B743C0}"/>
              </a:ext>
            </a:extLst>
          </p:cNvPr>
          <p:cNvSpPr/>
          <p:nvPr/>
        </p:nvSpPr>
        <p:spPr>
          <a:xfrm>
            <a:off x="381829" y="6185653"/>
            <a:ext cx="1807510" cy="278078"/>
          </a:xfrm>
          <a:prstGeom prst="rect">
            <a:avLst/>
          </a:prstGeom>
          <a:noFill/>
          <a:ln/>
        </p:spPr>
        <p:txBody>
          <a:bodyPr wrap="square" lIns="0" tIns="6952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95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</a:t>
            </a:r>
            <a:endParaRPr lang="en-US" sz="1600"/>
          </a:p>
        </p:txBody>
      </p:sp>
      <p:sp>
        <p:nvSpPr>
          <p:cNvPr id="239" name="Text 40">
            <a:extLst>
              <a:ext uri="{FF2B5EF4-FFF2-40B4-BE49-F238E27FC236}">
                <a16:creationId xmlns:a16="http://schemas.microsoft.com/office/drawing/2014/main" id="{7178B35D-BDAC-7772-EEC0-AA4244E9093F}"/>
              </a:ext>
            </a:extLst>
          </p:cNvPr>
          <p:cNvSpPr/>
          <p:nvPr/>
        </p:nvSpPr>
        <p:spPr>
          <a:xfrm>
            <a:off x="2264724" y="4551942"/>
            <a:ext cx="3675849" cy="173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8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Records (Before)</a:t>
            </a:r>
            <a:endParaRPr lang="en-US" sz="1600"/>
          </a:p>
        </p:txBody>
      </p:sp>
      <p:sp>
        <p:nvSpPr>
          <p:cNvPr id="241" name="Text 41">
            <a:extLst>
              <a:ext uri="{FF2B5EF4-FFF2-40B4-BE49-F238E27FC236}">
                <a16:creationId xmlns:a16="http://schemas.microsoft.com/office/drawing/2014/main" id="{A13E8A28-F886-BD87-C8AD-99CED7975E76}"/>
              </a:ext>
            </a:extLst>
          </p:cNvPr>
          <p:cNvSpPr/>
          <p:nvPr/>
        </p:nvSpPr>
        <p:spPr>
          <a:xfrm>
            <a:off x="2260379" y="4795261"/>
            <a:ext cx="3684539" cy="20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95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16,533</a:t>
            </a:r>
            <a:endParaRPr lang="en-US" sz="1600"/>
          </a:p>
        </p:txBody>
      </p:sp>
      <p:sp>
        <p:nvSpPr>
          <p:cNvPr id="243" name="Text 42">
            <a:extLst>
              <a:ext uri="{FF2B5EF4-FFF2-40B4-BE49-F238E27FC236}">
                <a16:creationId xmlns:a16="http://schemas.microsoft.com/office/drawing/2014/main" id="{225DCBEA-93B0-0A70-114F-3FA6CBA4F423}"/>
              </a:ext>
            </a:extLst>
          </p:cNvPr>
          <p:cNvSpPr/>
          <p:nvPr/>
        </p:nvSpPr>
        <p:spPr>
          <a:xfrm>
            <a:off x="2260379" y="5073339"/>
            <a:ext cx="3684539" cy="20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95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12,440</a:t>
            </a:r>
            <a:endParaRPr lang="en-US" sz="1600"/>
          </a:p>
        </p:txBody>
      </p:sp>
      <p:sp>
        <p:nvSpPr>
          <p:cNvPr id="245" name="Text 43">
            <a:extLst>
              <a:ext uri="{FF2B5EF4-FFF2-40B4-BE49-F238E27FC236}">
                <a16:creationId xmlns:a16="http://schemas.microsoft.com/office/drawing/2014/main" id="{6FE5CA5A-F4F8-3E32-B4A4-41AA03120F2C}"/>
              </a:ext>
            </a:extLst>
          </p:cNvPr>
          <p:cNvSpPr/>
          <p:nvPr/>
        </p:nvSpPr>
        <p:spPr>
          <a:xfrm>
            <a:off x="2260379" y="5351418"/>
            <a:ext cx="3684539" cy="20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95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18,287</a:t>
            </a:r>
            <a:endParaRPr lang="en-US" sz="1600"/>
          </a:p>
        </p:txBody>
      </p:sp>
      <p:sp>
        <p:nvSpPr>
          <p:cNvPr id="247" name="Text 44">
            <a:extLst>
              <a:ext uri="{FF2B5EF4-FFF2-40B4-BE49-F238E27FC236}">
                <a16:creationId xmlns:a16="http://schemas.microsoft.com/office/drawing/2014/main" id="{FFEB8EEF-5E11-9C58-60C2-B7DEE7FC786C}"/>
              </a:ext>
            </a:extLst>
          </p:cNvPr>
          <p:cNvSpPr/>
          <p:nvPr/>
        </p:nvSpPr>
        <p:spPr>
          <a:xfrm>
            <a:off x="2260379" y="5629496"/>
            <a:ext cx="3684539" cy="20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95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16,221</a:t>
            </a:r>
            <a:endParaRPr lang="en-US" sz="1600"/>
          </a:p>
        </p:txBody>
      </p:sp>
      <p:sp>
        <p:nvSpPr>
          <p:cNvPr id="249" name="Text 45">
            <a:extLst>
              <a:ext uri="{FF2B5EF4-FFF2-40B4-BE49-F238E27FC236}">
                <a16:creationId xmlns:a16="http://schemas.microsoft.com/office/drawing/2014/main" id="{FE1D834E-3138-637E-2C63-29CE3BCF785F}"/>
              </a:ext>
            </a:extLst>
          </p:cNvPr>
          <p:cNvSpPr/>
          <p:nvPr/>
        </p:nvSpPr>
        <p:spPr>
          <a:xfrm>
            <a:off x="2260379" y="5907575"/>
            <a:ext cx="3684539" cy="20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95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14,541</a:t>
            </a:r>
            <a:endParaRPr lang="en-US" sz="1600"/>
          </a:p>
        </p:txBody>
      </p:sp>
      <p:sp>
        <p:nvSpPr>
          <p:cNvPr id="251" name="Shape 46">
            <a:extLst>
              <a:ext uri="{FF2B5EF4-FFF2-40B4-BE49-F238E27FC236}">
                <a16:creationId xmlns:a16="http://schemas.microsoft.com/office/drawing/2014/main" id="{731737DB-1E2B-6F13-B61F-BC5E65040FA4}"/>
              </a:ext>
            </a:extLst>
          </p:cNvPr>
          <p:cNvSpPr/>
          <p:nvPr/>
        </p:nvSpPr>
        <p:spPr>
          <a:xfrm>
            <a:off x="2295139" y="6189129"/>
            <a:ext cx="3615019" cy="6952"/>
          </a:xfrm>
          <a:custGeom>
            <a:avLst/>
            <a:gdLst/>
            <a:ahLst/>
            <a:cxnLst/>
            <a:rect l="l" t="t" r="r" b="b"/>
            <a:pathLst>
              <a:path w="3615019" h="6952">
                <a:moveTo>
                  <a:pt x="0" y="0"/>
                </a:moveTo>
                <a:lnTo>
                  <a:pt x="3615019" y="0"/>
                </a:lnTo>
                <a:lnTo>
                  <a:pt x="3615019" y="6952"/>
                </a:lnTo>
                <a:lnTo>
                  <a:pt x="0" y="6952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253" name="Text 47">
            <a:extLst>
              <a:ext uri="{FF2B5EF4-FFF2-40B4-BE49-F238E27FC236}">
                <a16:creationId xmlns:a16="http://schemas.microsoft.com/office/drawing/2014/main" id="{75D89B69-ED74-6830-E698-552709DA0796}"/>
              </a:ext>
            </a:extLst>
          </p:cNvPr>
          <p:cNvSpPr/>
          <p:nvPr/>
        </p:nvSpPr>
        <p:spPr>
          <a:xfrm>
            <a:off x="2260379" y="6185653"/>
            <a:ext cx="3684539" cy="278078"/>
          </a:xfrm>
          <a:prstGeom prst="rect">
            <a:avLst/>
          </a:prstGeom>
          <a:noFill/>
          <a:ln/>
        </p:spPr>
        <p:txBody>
          <a:bodyPr wrap="square" lIns="0" tIns="6952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95" b="1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78,022</a:t>
            </a:r>
            <a:endParaRPr lang="en-US" sz="1600"/>
          </a:p>
        </p:txBody>
      </p:sp>
      <p:sp>
        <p:nvSpPr>
          <p:cNvPr id="255" name="Text 48">
            <a:extLst>
              <a:ext uri="{FF2B5EF4-FFF2-40B4-BE49-F238E27FC236}">
                <a16:creationId xmlns:a16="http://schemas.microsoft.com/office/drawing/2014/main" id="{DE2D7663-A266-5C08-6000-D1F5618B4AF9}"/>
              </a:ext>
            </a:extLst>
          </p:cNvPr>
          <p:cNvSpPr/>
          <p:nvPr/>
        </p:nvSpPr>
        <p:spPr>
          <a:xfrm>
            <a:off x="6021824" y="4551942"/>
            <a:ext cx="3675849" cy="173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8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Records (After)</a:t>
            </a:r>
            <a:endParaRPr lang="en-US" sz="1600"/>
          </a:p>
        </p:txBody>
      </p:sp>
      <p:sp>
        <p:nvSpPr>
          <p:cNvPr id="257" name="Text 49">
            <a:extLst>
              <a:ext uri="{FF2B5EF4-FFF2-40B4-BE49-F238E27FC236}">
                <a16:creationId xmlns:a16="http://schemas.microsoft.com/office/drawing/2014/main" id="{3A35505B-C53C-5779-18BA-83896ADE8A15}"/>
              </a:ext>
            </a:extLst>
          </p:cNvPr>
          <p:cNvSpPr/>
          <p:nvPr/>
        </p:nvSpPr>
        <p:spPr>
          <a:xfrm>
            <a:off x="6017479" y="4795261"/>
            <a:ext cx="3684539" cy="20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95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10,991</a:t>
            </a:r>
            <a:endParaRPr lang="en-US" sz="1600"/>
          </a:p>
        </p:txBody>
      </p:sp>
      <p:sp>
        <p:nvSpPr>
          <p:cNvPr id="259" name="Text 50">
            <a:extLst>
              <a:ext uri="{FF2B5EF4-FFF2-40B4-BE49-F238E27FC236}">
                <a16:creationId xmlns:a16="http://schemas.microsoft.com/office/drawing/2014/main" id="{3C579EFF-3073-661D-CF44-3652C6EABB25}"/>
              </a:ext>
            </a:extLst>
          </p:cNvPr>
          <p:cNvSpPr/>
          <p:nvPr/>
        </p:nvSpPr>
        <p:spPr>
          <a:xfrm>
            <a:off x="6017479" y="5073339"/>
            <a:ext cx="3684539" cy="20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95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7,795</a:t>
            </a:r>
            <a:endParaRPr lang="en-US" sz="1600"/>
          </a:p>
        </p:txBody>
      </p:sp>
      <p:sp>
        <p:nvSpPr>
          <p:cNvPr id="261" name="Text 51">
            <a:extLst>
              <a:ext uri="{FF2B5EF4-FFF2-40B4-BE49-F238E27FC236}">
                <a16:creationId xmlns:a16="http://schemas.microsoft.com/office/drawing/2014/main" id="{22C722BE-9291-109C-6791-5240FA36476F}"/>
              </a:ext>
            </a:extLst>
          </p:cNvPr>
          <p:cNvSpPr/>
          <p:nvPr/>
        </p:nvSpPr>
        <p:spPr>
          <a:xfrm>
            <a:off x="6017479" y="5351418"/>
            <a:ext cx="3684539" cy="20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95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11,421</a:t>
            </a:r>
            <a:endParaRPr lang="en-US" sz="1600"/>
          </a:p>
        </p:txBody>
      </p:sp>
      <p:sp>
        <p:nvSpPr>
          <p:cNvPr id="263" name="Text 52">
            <a:extLst>
              <a:ext uri="{FF2B5EF4-FFF2-40B4-BE49-F238E27FC236}">
                <a16:creationId xmlns:a16="http://schemas.microsoft.com/office/drawing/2014/main" id="{6095A782-1ECE-BCA1-1593-7D15604A302C}"/>
              </a:ext>
            </a:extLst>
          </p:cNvPr>
          <p:cNvSpPr/>
          <p:nvPr/>
        </p:nvSpPr>
        <p:spPr>
          <a:xfrm>
            <a:off x="6017479" y="5629496"/>
            <a:ext cx="3684539" cy="20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95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10,336</a:t>
            </a:r>
            <a:endParaRPr lang="en-US" sz="1600"/>
          </a:p>
        </p:txBody>
      </p:sp>
      <p:sp>
        <p:nvSpPr>
          <p:cNvPr id="265" name="Text 53">
            <a:extLst>
              <a:ext uri="{FF2B5EF4-FFF2-40B4-BE49-F238E27FC236}">
                <a16:creationId xmlns:a16="http://schemas.microsoft.com/office/drawing/2014/main" id="{6D77C4BF-7A8B-984C-219D-41A8228B4722}"/>
              </a:ext>
            </a:extLst>
          </p:cNvPr>
          <p:cNvSpPr/>
          <p:nvPr/>
        </p:nvSpPr>
        <p:spPr>
          <a:xfrm>
            <a:off x="6017479" y="5907575"/>
            <a:ext cx="3684539" cy="20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95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9,277</a:t>
            </a:r>
            <a:endParaRPr lang="en-US" sz="1600"/>
          </a:p>
        </p:txBody>
      </p:sp>
      <p:sp>
        <p:nvSpPr>
          <p:cNvPr id="267" name="Shape 54">
            <a:extLst>
              <a:ext uri="{FF2B5EF4-FFF2-40B4-BE49-F238E27FC236}">
                <a16:creationId xmlns:a16="http://schemas.microsoft.com/office/drawing/2014/main" id="{AD6ACB3B-25BF-F617-3186-DD3762232635}"/>
              </a:ext>
            </a:extLst>
          </p:cNvPr>
          <p:cNvSpPr/>
          <p:nvPr/>
        </p:nvSpPr>
        <p:spPr>
          <a:xfrm>
            <a:off x="6052239" y="6189129"/>
            <a:ext cx="3615019" cy="6952"/>
          </a:xfrm>
          <a:custGeom>
            <a:avLst/>
            <a:gdLst/>
            <a:ahLst/>
            <a:cxnLst/>
            <a:rect l="l" t="t" r="r" b="b"/>
            <a:pathLst>
              <a:path w="3615019" h="6952">
                <a:moveTo>
                  <a:pt x="0" y="0"/>
                </a:moveTo>
                <a:lnTo>
                  <a:pt x="3615019" y="0"/>
                </a:lnTo>
                <a:lnTo>
                  <a:pt x="3615019" y="6952"/>
                </a:lnTo>
                <a:lnTo>
                  <a:pt x="0" y="6952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269" name="Text 55">
            <a:extLst>
              <a:ext uri="{FF2B5EF4-FFF2-40B4-BE49-F238E27FC236}">
                <a16:creationId xmlns:a16="http://schemas.microsoft.com/office/drawing/2014/main" id="{18626928-8D1B-2C13-6CA2-124EAC445AF3}"/>
              </a:ext>
            </a:extLst>
          </p:cNvPr>
          <p:cNvSpPr/>
          <p:nvPr/>
        </p:nvSpPr>
        <p:spPr>
          <a:xfrm>
            <a:off x="6017479" y="6185653"/>
            <a:ext cx="3684539" cy="278078"/>
          </a:xfrm>
          <a:prstGeom prst="rect">
            <a:avLst/>
          </a:prstGeom>
          <a:noFill/>
          <a:ln/>
        </p:spPr>
        <p:txBody>
          <a:bodyPr wrap="square" lIns="0" tIns="6952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95" b="1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49,820</a:t>
            </a:r>
            <a:endParaRPr lang="en-US" sz="1600"/>
          </a:p>
        </p:txBody>
      </p:sp>
      <p:sp>
        <p:nvSpPr>
          <p:cNvPr id="271" name="Text 56">
            <a:extLst>
              <a:ext uri="{FF2B5EF4-FFF2-40B4-BE49-F238E27FC236}">
                <a16:creationId xmlns:a16="http://schemas.microsoft.com/office/drawing/2014/main" id="{93CD89DA-0D88-F289-D62A-C6B41D4C261D}"/>
              </a:ext>
            </a:extLst>
          </p:cNvPr>
          <p:cNvSpPr/>
          <p:nvPr/>
        </p:nvSpPr>
        <p:spPr>
          <a:xfrm>
            <a:off x="9778924" y="4551942"/>
            <a:ext cx="1798820" cy="173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8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Retention</a:t>
            </a:r>
            <a:endParaRPr lang="en-US" sz="1600"/>
          </a:p>
        </p:txBody>
      </p:sp>
      <p:sp>
        <p:nvSpPr>
          <p:cNvPr id="273" name="Text 57">
            <a:extLst>
              <a:ext uri="{FF2B5EF4-FFF2-40B4-BE49-F238E27FC236}">
                <a16:creationId xmlns:a16="http://schemas.microsoft.com/office/drawing/2014/main" id="{4874FA09-2DD3-7186-D598-510E2372F2DB}"/>
              </a:ext>
            </a:extLst>
          </p:cNvPr>
          <p:cNvSpPr/>
          <p:nvPr/>
        </p:nvSpPr>
        <p:spPr>
          <a:xfrm>
            <a:off x="9774579" y="4795261"/>
            <a:ext cx="1807510" cy="20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95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66.5%</a:t>
            </a:r>
            <a:endParaRPr lang="en-US" sz="1600"/>
          </a:p>
        </p:txBody>
      </p:sp>
      <p:sp>
        <p:nvSpPr>
          <p:cNvPr id="275" name="Text 58">
            <a:extLst>
              <a:ext uri="{FF2B5EF4-FFF2-40B4-BE49-F238E27FC236}">
                <a16:creationId xmlns:a16="http://schemas.microsoft.com/office/drawing/2014/main" id="{BCADCA3C-966F-D6F7-326C-A3B4A2945464}"/>
              </a:ext>
            </a:extLst>
          </p:cNvPr>
          <p:cNvSpPr/>
          <p:nvPr/>
        </p:nvSpPr>
        <p:spPr>
          <a:xfrm>
            <a:off x="9774579" y="5073339"/>
            <a:ext cx="1807510" cy="20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95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62.7%</a:t>
            </a:r>
            <a:endParaRPr lang="en-US" sz="1600"/>
          </a:p>
        </p:txBody>
      </p:sp>
      <p:sp>
        <p:nvSpPr>
          <p:cNvPr id="277" name="Text 59">
            <a:extLst>
              <a:ext uri="{FF2B5EF4-FFF2-40B4-BE49-F238E27FC236}">
                <a16:creationId xmlns:a16="http://schemas.microsoft.com/office/drawing/2014/main" id="{9B353217-8124-FC0B-14E3-D2C91D8D31A0}"/>
              </a:ext>
            </a:extLst>
          </p:cNvPr>
          <p:cNvSpPr/>
          <p:nvPr/>
        </p:nvSpPr>
        <p:spPr>
          <a:xfrm>
            <a:off x="9774579" y="5351418"/>
            <a:ext cx="1807510" cy="20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95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62.5%</a:t>
            </a:r>
            <a:endParaRPr lang="en-US" sz="1600"/>
          </a:p>
        </p:txBody>
      </p:sp>
      <p:sp>
        <p:nvSpPr>
          <p:cNvPr id="279" name="Text 60">
            <a:extLst>
              <a:ext uri="{FF2B5EF4-FFF2-40B4-BE49-F238E27FC236}">
                <a16:creationId xmlns:a16="http://schemas.microsoft.com/office/drawing/2014/main" id="{8CA83AC5-9A56-62F5-7A77-C4400CEC2D64}"/>
              </a:ext>
            </a:extLst>
          </p:cNvPr>
          <p:cNvSpPr/>
          <p:nvPr/>
        </p:nvSpPr>
        <p:spPr>
          <a:xfrm>
            <a:off x="9774579" y="5629496"/>
            <a:ext cx="1807510" cy="20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95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63.7%</a:t>
            </a:r>
            <a:endParaRPr lang="en-US" sz="1600"/>
          </a:p>
        </p:txBody>
      </p:sp>
      <p:sp>
        <p:nvSpPr>
          <p:cNvPr id="281" name="Text 61">
            <a:extLst>
              <a:ext uri="{FF2B5EF4-FFF2-40B4-BE49-F238E27FC236}">
                <a16:creationId xmlns:a16="http://schemas.microsoft.com/office/drawing/2014/main" id="{5A03C109-FC66-43FC-6E87-72A938CC9869}"/>
              </a:ext>
            </a:extLst>
          </p:cNvPr>
          <p:cNvSpPr/>
          <p:nvPr/>
        </p:nvSpPr>
        <p:spPr>
          <a:xfrm>
            <a:off x="9774579" y="5907575"/>
            <a:ext cx="1807510" cy="20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95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63.8%</a:t>
            </a:r>
            <a:endParaRPr lang="en-US" sz="1600"/>
          </a:p>
        </p:txBody>
      </p:sp>
      <p:sp>
        <p:nvSpPr>
          <p:cNvPr id="283" name="Shape 62">
            <a:extLst>
              <a:ext uri="{FF2B5EF4-FFF2-40B4-BE49-F238E27FC236}">
                <a16:creationId xmlns:a16="http://schemas.microsoft.com/office/drawing/2014/main" id="{1492D944-6CCE-EB5A-D73C-8A1CEDDE630C}"/>
              </a:ext>
            </a:extLst>
          </p:cNvPr>
          <p:cNvSpPr/>
          <p:nvPr/>
        </p:nvSpPr>
        <p:spPr>
          <a:xfrm>
            <a:off x="9809339" y="6189129"/>
            <a:ext cx="1737990" cy="6952"/>
          </a:xfrm>
          <a:custGeom>
            <a:avLst/>
            <a:gdLst/>
            <a:ahLst/>
            <a:cxnLst/>
            <a:rect l="l" t="t" r="r" b="b"/>
            <a:pathLst>
              <a:path w="1737990" h="6952">
                <a:moveTo>
                  <a:pt x="0" y="0"/>
                </a:moveTo>
                <a:lnTo>
                  <a:pt x="1737990" y="0"/>
                </a:lnTo>
                <a:lnTo>
                  <a:pt x="1737990" y="6952"/>
                </a:lnTo>
                <a:lnTo>
                  <a:pt x="0" y="6952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285" name="Text 63">
            <a:extLst>
              <a:ext uri="{FF2B5EF4-FFF2-40B4-BE49-F238E27FC236}">
                <a16:creationId xmlns:a16="http://schemas.microsoft.com/office/drawing/2014/main" id="{BB40CD8D-CA19-D8CF-1622-44298E2A3B80}"/>
              </a:ext>
            </a:extLst>
          </p:cNvPr>
          <p:cNvSpPr/>
          <p:nvPr/>
        </p:nvSpPr>
        <p:spPr>
          <a:xfrm>
            <a:off x="9774579" y="6185653"/>
            <a:ext cx="1807510" cy="278078"/>
          </a:xfrm>
          <a:prstGeom prst="rect">
            <a:avLst/>
          </a:prstGeom>
          <a:noFill/>
          <a:ln/>
        </p:spPr>
        <p:txBody>
          <a:bodyPr wrap="square" lIns="0" tIns="6952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95" b="1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63.9%</a:t>
            </a:r>
            <a:endParaRPr lang="en-US" sz="160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Foundation</a:t>
            </a:r>
            <a:endParaRPr lang="en-US" sz="160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Engineering Strategy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400050" y="1219200"/>
            <a:ext cx="3686175" cy="1600200"/>
          </a:xfrm>
          <a:custGeom>
            <a:avLst/>
            <a:gdLst/>
            <a:ahLst/>
            <a:cxnLst/>
            <a:rect l="l" t="t" r="r" b="b"/>
            <a:pathLst>
              <a:path w="3686175" h="1600200">
                <a:moveTo>
                  <a:pt x="38100" y="0"/>
                </a:moveTo>
                <a:lnTo>
                  <a:pt x="3571873" y="0"/>
                </a:lnTo>
                <a:cubicBezTo>
                  <a:pt x="3634958" y="0"/>
                  <a:pt x="3686175" y="51217"/>
                  <a:pt x="3686175" y="114302"/>
                </a:cubicBezTo>
                <a:lnTo>
                  <a:pt x="3686175" y="1485898"/>
                </a:lnTo>
                <a:cubicBezTo>
                  <a:pt x="3686175" y="1548983"/>
                  <a:pt x="3634958" y="1600200"/>
                  <a:pt x="3571873" y="1600200"/>
                </a:cubicBez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EEEEE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219200"/>
            <a:ext cx="38100" cy="1600200"/>
          </a:xfrm>
          <a:custGeom>
            <a:avLst/>
            <a:gdLst/>
            <a:ahLst/>
            <a:cxnLst/>
            <a:rect l="l" t="t" r="r" b="b"/>
            <a:pathLst>
              <a:path w="38100" h="1600200">
                <a:moveTo>
                  <a:pt x="38100" y="0"/>
                </a:moveTo>
                <a:lnTo>
                  <a:pt x="38100" y="0"/>
                </a:lnTo>
                <a:lnTo>
                  <a:pt x="38100" y="1600200"/>
                </a:ln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4287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9050" y="0"/>
                </a:moveTo>
                <a:cubicBezTo>
                  <a:pt x="8543" y="0"/>
                  <a:pt x="0" y="8543"/>
                  <a:pt x="0" y="19050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95250" y="152400"/>
                </a:lnTo>
                <a:cubicBezTo>
                  <a:pt x="105757" y="152400"/>
                  <a:pt x="114300" y="143857"/>
                  <a:pt x="114300" y="133350"/>
                </a:cubicBezTo>
                <a:lnTo>
                  <a:pt x="114300" y="19050"/>
                </a:lnTo>
                <a:cubicBezTo>
                  <a:pt x="114300" y="8543"/>
                  <a:pt x="105757" y="0"/>
                  <a:pt x="95250" y="0"/>
                </a:cubicBezTo>
                <a:lnTo>
                  <a:pt x="19050" y="0"/>
                </a:lnTo>
                <a:close/>
                <a:moveTo>
                  <a:pt x="28575" y="19050"/>
                </a:moveTo>
                <a:lnTo>
                  <a:pt x="85725" y="19050"/>
                </a:lnTo>
                <a:cubicBezTo>
                  <a:pt x="90994" y="19050"/>
                  <a:pt x="95250" y="23306"/>
                  <a:pt x="95250" y="28575"/>
                </a:cubicBezTo>
                <a:lnTo>
                  <a:pt x="95250" y="38100"/>
                </a:lnTo>
                <a:cubicBezTo>
                  <a:pt x="95250" y="43369"/>
                  <a:pt x="90994" y="47625"/>
                  <a:pt x="85725" y="47625"/>
                </a:cubicBezTo>
                <a:lnTo>
                  <a:pt x="28575" y="47625"/>
                </a:lnTo>
                <a:cubicBezTo>
                  <a:pt x="23306" y="47625"/>
                  <a:pt x="19050" y="43369"/>
                  <a:pt x="19050" y="38100"/>
                </a:cubicBezTo>
                <a:lnTo>
                  <a:pt x="19050" y="28575"/>
                </a:lnTo>
                <a:cubicBezTo>
                  <a:pt x="19050" y="23306"/>
                  <a:pt x="23306" y="19050"/>
                  <a:pt x="28575" y="19050"/>
                </a:cubicBezTo>
                <a:close/>
                <a:moveTo>
                  <a:pt x="33338" y="69056"/>
                </a:moveTo>
                <a:cubicBezTo>
                  <a:pt x="33338" y="72999"/>
                  <a:pt x="30136" y="76200"/>
                  <a:pt x="26194" y="76200"/>
                </a:cubicBezTo>
                <a:cubicBezTo>
                  <a:pt x="22251" y="76200"/>
                  <a:pt x="19050" y="72999"/>
                  <a:pt x="19050" y="69056"/>
                </a:cubicBezTo>
                <a:cubicBezTo>
                  <a:pt x="19050" y="65114"/>
                  <a:pt x="22251" y="61912"/>
                  <a:pt x="26194" y="61912"/>
                </a:cubicBezTo>
                <a:cubicBezTo>
                  <a:pt x="30136" y="61912"/>
                  <a:pt x="33338" y="65114"/>
                  <a:pt x="33338" y="69056"/>
                </a:cubicBezTo>
                <a:close/>
                <a:moveTo>
                  <a:pt x="57150" y="76200"/>
                </a:moveTo>
                <a:cubicBezTo>
                  <a:pt x="53207" y="76200"/>
                  <a:pt x="50006" y="72999"/>
                  <a:pt x="50006" y="69056"/>
                </a:cubicBezTo>
                <a:cubicBezTo>
                  <a:pt x="50006" y="65114"/>
                  <a:pt x="53207" y="61912"/>
                  <a:pt x="57150" y="61912"/>
                </a:cubicBezTo>
                <a:cubicBezTo>
                  <a:pt x="61093" y="61912"/>
                  <a:pt x="64294" y="65114"/>
                  <a:pt x="64294" y="69056"/>
                </a:cubicBezTo>
                <a:cubicBezTo>
                  <a:pt x="64294" y="72999"/>
                  <a:pt x="61093" y="76200"/>
                  <a:pt x="57150" y="76200"/>
                </a:cubicBezTo>
                <a:close/>
                <a:moveTo>
                  <a:pt x="95250" y="69056"/>
                </a:moveTo>
                <a:cubicBezTo>
                  <a:pt x="95250" y="72999"/>
                  <a:pt x="92049" y="76200"/>
                  <a:pt x="88106" y="76200"/>
                </a:cubicBezTo>
                <a:cubicBezTo>
                  <a:pt x="84164" y="76200"/>
                  <a:pt x="80962" y="72999"/>
                  <a:pt x="80962" y="69056"/>
                </a:cubicBezTo>
                <a:cubicBezTo>
                  <a:pt x="80962" y="65114"/>
                  <a:pt x="84164" y="61912"/>
                  <a:pt x="88106" y="61912"/>
                </a:cubicBezTo>
                <a:cubicBezTo>
                  <a:pt x="92049" y="61912"/>
                  <a:pt x="95250" y="65114"/>
                  <a:pt x="95250" y="69056"/>
                </a:cubicBezTo>
                <a:close/>
                <a:moveTo>
                  <a:pt x="26194" y="104775"/>
                </a:moveTo>
                <a:cubicBezTo>
                  <a:pt x="22251" y="104775"/>
                  <a:pt x="19050" y="101574"/>
                  <a:pt x="19050" y="97631"/>
                </a:cubicBezTo>
                <a:cubicBezTo>
                  <a:pt x="19050" y="93689"/>
                  <a:pt x="22251" y="90488"/>
                  <a:pt x="26194" y="90488"/>
                </a:cubicBezTo>
                <a:cubicBezTo>
                  <a:pt x="30136" y="90488"/>
                  <a:pt x="33338" y="93689"/>
                  <a:pt x="33338" y="97631"/>
                </a:cubicBezTo>
                <a:cubicBezTo>
                  <a:pt x="33338" y="101574"/>
                  <a:pt x="30136" y="104775"/>
                  <a:pt x="26194" y="104775"/>
                </a:cubicBezTo>
                <a:close/>
                <a:moveTo>
                  <a:pt x="64294" y="97631"/>
                </a:moveTo>
                <a:cubicBezTo>
                  <a:pt x="64294" y="101574"/>
                  <a:pt x="61093" y="104775"/>
                  <a:pt x="57150" y="104775"/>
                </a:cubicBezTo>
                <a:cubicBezTo>
                  <a:pt x="53207" y="104775"/>
                  <a:pt x="50006" y="101574"/>
                  <a:pt x="50006" y="97631"/>
                </a:cubicBezTo>
                <a:cubicBezTo>
                  <a:pt x="50006" y="93689"/>
                  <a:pt x="53207" y="90488"/>
                  <a:pt x="57150" y="90488"/>
                </a:cubicBezTo>
                <a:cubicBezTo>
                  <a:pt x="61093" y="90488"/>
                  <a:pt x="64294" y="93689"/>
                  <a:pt x="64294" y="97631"/>
                </a:cubicBezTo>
                <a:close/>
                <a:moveTo>
                  <a:pt x="88106" y="104775"/>
                </a:moveTo>
                <a:cubicBezTo>
                  <a:pt x="84164" y="104775"/>
                  <a:pt x="80962" y="101574"/>
                  <a:pt x="80962" y="97631"/>
                </a:cubicBezTo>
                <a:cubicBezTo>
                  <a:pt x="80962" y="93689"/>
                  <a:pt x="84164" y="90488"/>
                  <a:pt x="88106" y="90488"/>
                </a:cubicBezTo>
                <a:cubicBezTo>
                  <a:pt x="92049" y="90488"/>
                  <a:pt x="95250" y="93689"/>
                  <a:pt x="95250" y="97631"/>
                </a:cubicBezTo>
                <a:cubicBezTo>
                  <a:pt x="95250" y="101574"/>
                  <a:pt x="92049" y="104775"/>
                  <a:pt x="88106" y="104775"/>
                </a:cubicBezTo>
                <a:close/>
                <a:moveTo>
                  <a:pt x="19050" y="126206"/>
                </a:moveTo>
                <a:cubicBezTo>
                  <a:pt x="19050" y="122247"/>
                  <a:pt x="22235" y="119062"/>
                  <a:pt x="26194" y="119062"/>
                </a:cubicBezTo>
                <a:lnTo>
                  <a:pt x="59531" y="119062"/>
                </a:lnTo>
                <a:cubicBezTo>
                  <a:pt x="63490" y="119062"/>
                  <a:pt x="66675" y="122247"/>
                  <a:pt x="66675" y="126206"/>
                </a:cubicBezTo>
                <a:cubicBezTo>
                  <a:pt x="66675" y="130165"/>
                  <a:pt x="63490" y="133350"/>
                  <a:pt x="59531" y="133350"/>
                </a:cubicBezTo>
                <a:lnTo>
                  <a:pt x="26194" y="133350"/>
                </a:lnTo>
                <a:cubicBezTo>
                  <a:pt x="22235" y="133350"/>
                  <a:pt x="19050" y="130165"/>
                  <a:pt x="19050" y="126206"/>
                </a:cubicBezTo>
                <a:close/>
                <a:moveTo>
                  <a:pt x="88106" y="119062"/>
                </a:moveTo>
                <a:cubicBezTo>
                  <a:pt x="92065" y="119062"/>
                  <a:pt x="95250" y="122247"/>
                  <a:pt x="95250" y="126206"/>
                </a:cubicBezTo>
                <a:cubicBezTo>
                  <a:pt x="95250" y="130165"/>
                  <a:pt x="92065" y="133350"/>
                  <a:pt x="88106" y="133350"/>
                </a:cubicBezTo>
                <a:cubicBezTo>
                  <a:pt x="84147" y="133350"/>
                  <a:pt x="80962" y="130165"/>
                  <a:pt x="80962" y="126206"/>
                </a:cubicBezTo>
                <a:cubicBezTo>
                  <a:pt x="80962" y="122247"/>
                  <a:pt x="84147" y="119062"/>
                  <a:pt x="88106" y="119062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7" name="Text 5"/>
          <p:cNvSpPr/>
          <p:nvPr/>
        </p:nvSpPr>
        <p:spPr>
          <a:xfrm>
            <a:off x="838200" y="1371600"/>
            <a:ext cx="1885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Chronic Disease Burden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571500" y="1714500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Summing 11 binary chronic conditions: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571500" y="1981200"/>
            <a:ext cx="3362325" cy="304800"/>
          </a:xfrm>
          <a:custGeom>
            <a:avLst/>
            <a:gdLst/>
            <a:ahLst/>
            <a:cxnLst/>
            <a:rect l="l" t="t" r="r" b="b"/>
            <a:pathLst>
              <a:path w="3362325" h="304800">
                <a:moveTo>
                  <a:pt x="76200" y="0"/>
                </a:moveTo>
                <a:lnTo>
                  <a:pt x="3286125" y="0"/>
                </a:lnTo>
                <a:cubicBezTo>
                  <a:pt x="3328181" y="0"/>
                  <a:pt x="3362325" y="34144"/>
                  <a:pt x="3362325" y="76200"/>
                </a:cubicBezTo>
                <a:lnTo>
                  <a:pt x="3362325" y="228600"/>
                </a:lnTo>
                <a:cubicBezTo>
                  <a:pt x="3362325" y="270656"/>
                  <a:pt x="3328181" y="304800"/>
                  <a:pt x="3286125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AFAFA"/>
          </a:solidFill>
          <a:ln/>
        </p:spPr>
      </p:sp>
      <p:sp>
        <p:nvSpPr>
          <p:cNvPr id="10" name="Text 8"/>
          <p:cNvSpPr/>
          <p:nvPr/>
        </p:nvSpPr>
        <p:spPr>
          <a:xfrm>
            <a:off x="571500" y="1981200"/>
            <a:ext cx="3419475" cy="304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>
              <a:lnSpc>
                <a:spcPct val="110000"/>
              </a:lnSpc>
            </a:pPr>
            <a:r>
              <a:rPr lang="en-US" sz="90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total_chronic = sum(chronic_vars == 1)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571500" y="2362084"/>
            <a:ext cx="3419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Angina, Arthritis, Asthma, CHD, Cholesterol, Diabetes, Emphysema, Hypertension, MI, Other Heart Disease, Stroke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400050" y="3126382"/>
            <a:ext cx="3686175" cy="1943100"/>
          </a:xfrm>
          <a:custGeom>
            <a:avLst/>
            <a:gdLst/>
            <a:ahLst/>
            <a:cxnLst/>
            <a:rect l="l" t="t" r="r" b="b"/>
            <a:pathLst>
              <a:path w="3686175" h="1943100">
                <a:moveTo>
                  <a:pt x="38100" y="0"/>
                </a:moveTo>
                <a:lnTo>
                  <a:pt x="3571869" y="0"/>
                </a:lnTo>
                <a:cubicBezTo>
                  <a:pt x="3634999" y="0"/>
                  <a:pt x="3686175" y="44237"/>
                  <a:pt x="3686175" y="98807"/>
                </a:cubicBezTo>
                <a:lnTo>
                  <a:pt x="3686175" y="1844293"/>
                </a:lnTo>
                <a:cubicBezTo>
                  <a:pt x="3686175" y="1898863"/>
                  <a:pt x="3634999" y="1943100"/>
                  <a:pt x="3571869" y="1943100"/>
                </a:cubicBezTo>
                <a:lnTo>
                  <a:pt x="38100" y="1943100"/>
                </a:lnTo>
                <a:cubicBezTo>
                  <a:pt x="17072" y="1943100"/>
                  <a:pt x="0" y="1928343"/>
                  <a:pt x="0" y="1910166"/>
                </a:cubicBezTo>
                <a:lnTo>
                  <a:pt x="0" y="32934"/>
                </a:lnTo>
                <a:cubicBezTo>
                  <a:pt x="0" y="14757"/>
                  <a:pt x="17072" y="0"/>
                  <a:pt x="38100" y="0"/>
                </a:cubicBezTo>
                <a:close/>
              </a:path>
            </a:pathLst>
          </a:custGeom>
          <a:solidFill>
            <a:srgbClr val="EEEEEE"/>
          </a:solidFill>
          <a:ln/>
        </p:spPr>
      </p:sp>
      <p:sp>
        <p:nvSpPr>
          <p:cNvPr id="13" name="Shape 11"/>
          <p:cNvSpPr/>
          <p:nvPr/>
        </p:nvSpPr>
        <p:spPr>
          <a:xfrm>
            <a:off x="600075" y="3335932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25718" y="-3125"/>
                </a:moveTo>
                <a:lnTo>
                  <a:pt x="18395" y="9406"/>
                </a:lnTo>
                <a:cubicBezTo>
                  <a:pt x="17264" y="11341"/>
                  <a:pt x="16669" y="13573"/>
                  <a:pt x="16669" y="15835"/>
                </a:cubicBezTo>
                <a:lnTo>
                  <a:pt x="16669" y="16669"/>
                </a:lnTo>
                <a:cubicBezTo>
                  <a:pt x="16669" y="23247"/>
                  <a:pt x="21997" y="28575"/>
                  <a:pt x="28575" y="28575"/>
                </a:cubicBezTo>
                <a:cubicBezTo>
                  <a:pt x="35153" y="28575"/>
                  <a:pt x="40481" y="23247"/>
                  <a:pt x="40481" y="16669"/>
                </a:cubicBezTo>
                <a:lnTo>
                  <a:pt x="40481" y="15835"/>
                </a:lnTo>
                <a:cubicBezTo>
                  <a:pt x="40481" y="13573"/>
                  <a:pt x="39886" y="11370"/>
                  <a:pt x="38755" y="9406"/>
                </a:cubicBezTo>
                <a:lnTo>
                  <a:pt x="31432" y="-3125"/>
                </a:lnTo>
                <a:cubicBezTo>
                  <a:pt x="30837" y="-4137"/>
                  <a:pt x="29736" y="-4762"/>
                  <a:pt x="28575" y="-4762"/>
                </a:cubicBezTo>
                <a:cubicBezTo>
                  <a:pt x="27414" y="-4762"/>
                  <a:pt x="26313" y="-4137"/>
                  <a:pt x="25718" y="-3125"/>
                </a:cubicBezTo>
                <a:close/>
                <a:moveTo>
                  <a:pt x="63818" y="-3125"/>
                </a:moveTo>
                <a:lnTo>
                  <a:pt x="56495" y="9406"/>
                </a:lnTo>
                <a:cubicBezTo>
                  <a:pt x="55364" y="11341"/>
                  <a:pt x="54769" y="13573"/>
                  <a:pt x="54769" y="15835"/>
                </a:cubicBezTo>
                <a:lnTo>
                  <a:pt x="54769" y="16669"/>
                </a:lnTo>
                <a:cubicBezTo>
                  <a:pt x="54769" y="23247"/>
                  <a:pt x="60097" y="28575"/>
                  <a:pt x="66675" y="28575"/>
                </a:cubicBezTo>
                <a:cubicBezTo>
                  <a:pt x="73253" y="28575"/>
                  <a:pt x="78581" y="23247"/>
                  <a:pt x="78581" y="16669"/>
                </a:cubicBezTo>
                <a:lnTo>
                  <a:pt x="78581" y="15835"/>
                </a:lnTo>
                <a:cubicBezTo>
                  <a:pt x="78581" y="13573"/>
                  <a:pt x="77986" y="11370"/>
                  <a:pt x="76855" y="9406"/>
                </a:cubicBezTo>
                <a:lnTo>
                  <a:pt x="69533" y="-3125"/>
                </a:lnTo>
                <a:cubicBezTo>
                  <a:pt x="68937" y="-4137"/>
                  <a:pt x="67836" y="-4762"/>
                  <a:pt x="66675" y="-4762"/>
                </a:cubicBezTo>
                <a:cubicBezTo>
                  <a:pt x="65514" y="-4762"/>
                  <a:pt x="64413" y="-4137"/>
                  <a:pt x="63818" y="-3125"/>
                </a:cubicBezTo>
                <a:close/>
                <a:moveTo>
                  <a:pt x="94595" y="9406"/>
                </a:moveTo>
                <a:cubicBezTo>
                  <a:pt x="93464" y="11341"/>
                  <a:pt x="92869" y="13573"/>
                  <a:pt x="92869" y="15835"/>
                </a:cubicBezTo>
                <a:lnTo>
                  <a:pt x="92869" y="16669"/>
                </a:lnTo>
                <a:cubicBezTo>
                  <a:pt x="92869" y="23247"/>
                  <a:pt x="98197" y="28575"/>
                  <a:pt x="104775" y="28575"/>
                </a:cubicBezTo>
                <a:cubicBezTo>
                  <a:pt x="111353" y="28575"/>
                  <a:pt x="116681" y="23247"/>
                  <a:pt x="116681" y="16669"/>
                </a:cubicBezTo>
                <a:lnTo>
                  <a:pt x="116681" y="15835"/>
                </a:lnTo>
                <a:cubicBezTo>
                  <a:pt x="116681" y="13573"/>
                  <a:pt x="116086" y="11370"/>
                  <a:pt x="114955" y="9406"/>
                </a:cubicBezTo>
                <a:lnTo>
                  <a:pt x="107633" y="-3125"/>
                </a:lnTo>
                <a:cubicBezTo>
                  <a:pt x="107037" y="-4137"/>
                  <a:pt x="105936" y="-4762"/>
                  <a:pt x="104775" y="-4762"/>
                </a:cubicBezTo>
                <a:cubicBezTo>
                  <a:pt x="103614" y="-4762"/>
                  <a:pt x="102513" y="-4137"/>
                  <a:pt x="101918" y="-3125"/>
                </a:cubicBezTo>
                <a:lnTo>
                  <a:pt x="94595" y="9406"/>
                </a:lnTo>
                <a:close/>
                <a:moveTo>
                  <a:pt x="38100" y="47625"/>
                </a:moveTo>
                <a:cubicBezTo>
                  <a:pt x="38100" y="42356"/>
                  <a:pt x="33844" y="38100"/>
                  <a:pt x="28575" y="38100"/>
                </a:cubicBezTo>
                <a:cubicBezTo>
                  <a:pt x="23306" y="38100"/>
                  <a:pt x="19050" y="42356"/>
                  <a:pt x="19050" y="47625"/>
                </a:cubicBezTo>
                <a:lnTo>
                  <a:pt x="19050" y="63550"/>
                </a:lnTo>
                <a:cubicBezTo>
                  <a:pt x="7947" y="67449"/>
                  <a:pt x="0" y="78045"/>
                  <a:pt x="0" y="90488"/>
                </a:cubicBezTo>
                <a:lnTo>
                  <a:pt x="0" y="96679"/>
                </a:lnTo>
                <a:cubicBezTo>
                  <a:pt x="6221" y="97066"/>
                  <a:pt x="12383" y="98852"/>
                  <a:pt x="17949" y="102037"/>
                </a:cubicBezTo>
                <a:lnTo>
                  <a:pt x="20062" y="103257"/>
                </a:lnTo>
                <a:cubicBezTo>
                  <a:pt x="27890" y="107722"/>
                  <a:pt x="37594" y="107246"/>
                  <a:pt x="44946" y="102007"/>
                </a:cubicBezTo>
                <a:cubicBezTo>
                  <a:pt x="57954" y="92720"/>
                  <a:pt x="75396" y="92720"/>
                  <a:pt x="88404" y="102007"/>
                </a:cubicBezTo>
                <a:cubicBezTo>
                  <a:pt x="95726" y="107246"/>
                  <a:pt x="105460" y="107752"/>
                  <a:pt x="113288" y="103257"/>
                </a:cubicBezTo>
                <a:lnTo>
                  <a:pt x="115401" y="102037"/>
                </a:lnTo>
                <a:cubicBezTo>
                  <a:pt x="120968" y="98852"/>
                  <a:pt x="127099" y="97066"/>
                  <a:pt x="133350" y="96679"/>
                </a:cubicBezTo>
                <a:lnTo>
                  <a:pt x="133350" y="90488"/>
                </a:lnTo>
                <a:cubicBezTo>
                  <a:pt x="133350" y="78045"/>
                  <a:pt x="125403" y="67449"/>
                  <a:pt x="114300" y="63550"/>
                </a:cubicBezTo>
                <a:lnTo>
                  <a:pt x="114300" y="47625"/>
                </a:lnTo>
                <a:cubicBezTo>
                  <a:pt x="114300" y="42356"/>
                  <a:pt x="110044" y="38100"/>
                  <a:pt x="104775" y="38100"/>
                </a:cubicBezTo>
                <a:cubicBezTo>
                  <a:pt x="99506" y="38100"/>
                  <a:pt x="95250" y="42356"/>
                  <a:pt x="95250" y="47625"/>
                </a:cubicBezTo>
                <a:lnTo>
                  <a:pt x="95250" y="61912"/>
                </a:lnTo>
                <a:lnTo>
                  <a:pt x="76200" y="61912"/>
                </a:lnTo>
                <a:lnTo>
                  <a:pt x="76200" y="47625"/>
                </a:lnTo>
                <a:cubicBezTo>
                  <a:pt x="76200" y="42356"/>
                  <a:pt x="71944" y="38100"/>
                  <a:pt x="66675" y="38100"/>
                </a:cubicBezTo>
                <a:cubicBezTo>
                  <a:pt x="61406" y="38100"/>
                  <a:pt x="57150" y="42356"/>
                  <a:pt x="57150" y="47625"/>
                </a:cubicBezTo>
                <a:lnTo>
                  <a:pt x="57150" y="61912"/>
                </a:lnTo>
                <a:lnTo>
                  <a:pt x="38100" y="61912"/>
                </a:lnTo>
                <a:lnTo>
                  <a:pt x="38100" y="47625"/>
                </a:lnTo>
                <a:close/>
                <a:moveTo>
                  <a:pt x="133350" y="111026"/>
                </a:moveTo>
                <a:cubicBezTo>
                  <a:pt x="129570" y="111383"/>
                  <a:pt x="125879" y="112514"/>
                  <a:pt x="122486" y="114449"/>
                </a:cubicBezTo>
                <a:lnTo>
                  <a:pt x="120372" y="115669"/>
                </a:lnTo>
                <a:cubicBezTo>
                  <a:pt x="107692" y="122902"/>
                  <a:pt x="91976" y="122128"/>
                  <a:pt x="80099" y="113645"/>
                </a:cubicBezTo>
                <a:cubicBezTo>
                  <a:pt x="72063" y="107900"/>
                  <a:pt x="61287" y="107900"/>
                  <a:pt x="53251" y="113645"/>
                </a:cubicBezTo>
                <a:cubicBezTo>
                  <a:pt x="41374" y="122128"/>
                  <a:pt x="25658" y="122932"/>
                  <a:pt x="12978" y="115669"/>
                </a:cubicBezTo>
                <a:lnTo>
                  <a:pt x="10864" y="114449"/>
                </a:lnTo>
                <a:cubicBezTo>
                  <a:pt x="7471" y="112514"/>
                  <a:pt x="3780" y="111353"/>
                  <a:pt x="0" y="111026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114300" y="152400"/>
                </a:lnTo>
                <a:cubicBezTo>
                  <a:pt x="124807" y="152400"/>
                  <a:pt x="133350" y="143857"/>
                  <a:pt x="133350" y="133350"/>
                </a:cubicBezTo>
                <a:lnTo>
                  <a:pt x="133350" y="111026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4" name="Text 12"/>
          <p:cNvSpPr/>
          <p:nvPr/>
        </p:nvSpPr>
        <p:spPr>
          <a:xfrm>
            <a:off x="838200" y="3278782"/>
            <a:ext cx="1400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 Stratification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571500" y="3621682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 clinically meaningful groups: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571500" y="3888382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1:</a:t>
            </a:r>
            <a:r>
              <a:rPr lang="en-US" sz="105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18–29 (Young adults)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571500" y="4116982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2:</a:t>
            </a:r>
            <a:r>
              <a:rPr lang="en-US" sz="105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30–44 (Middle-aged)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571500" y="4345582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3:</a:t>
            </a:r>
            <a:r>
              <a:rPr lang="en-US" sz="105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45–59 (Pre-elderly)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571500" y="4574182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4:</a:t>
            </a:r>
            <a:r>
              <a:rPr lang="en-US" sz="105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60–74 (Young elderly)</a:t>
            </a:r>
            <a:endParaRPr lang="en-US" sz="1600"/>
          </a:p>
        </p:txBody>
      </p:sp>
      <p:sp>
        <p:nvSpPr>
          <p:cNvPr id="20" name="Text 18"/>
          <p:cNvSpPr/>
          <p:nvPr/>
        </p:nvSpPr>
        <p:spPr>
          <a:xfrm>
            <a:off x="571500" y="4802782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5:</a:t>
            </a:r>
            <a:r>
              <a:rPr lang="en-US" sz="105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75+ (Elderly)</a:t>
            </a:r>
            <a:endParaRPr lang="en-US" sz="1600"/>
          </a:p>
        </p:txBody>
      </p:sp>
      <p:sp>
        <p:nvSpPr>
          <p:cNvPr id="21" name="Shape 19"/>
          <p:cNvSpPr/>
          <p:nvPr/>
        </p:nvSpPr>
        <p:spPr>
          <a:xfrm>
            <a:off x="4252913" y="1219200"/>
            <a:ext cx="3686175" cy="1790700"/>
          </a:xfrm>
          <a:custGeom>
            <a:avLst/>
            <a:gdLst/>
            <a:ahLst/>
            <a:cxnLst/>
            <a:rect l="l" t="t" r="r" b="b"/>
            <a:pathLst>
              <a:path w="3686175" h="1790700">
                <a:moveTo>
                  <a:pt x="38100" y="0"/>
                </a:moveTo>
                <a:lnTo>
                  <a:pt x="3571875" y="0"/>
                </a:lnTo>
                <a:cubicBezTo>
                  <a:pt x="3635001" y="0"/>
                  <a:pt x="3686175" y="51174"/>
                  <a:pt x="3686175" y="114300"/>
                </a:cubicBezTo>
                <a:lnTo>
                  <a:pt x="3686175" y="1676400"/>
                </a:lnTo>
                <a:cubicBezTo>
                  <a:pt x="3686175" y="1739526"/>
                  <a:pt x="3635001" y="1790700"/>
                  <a:pt x="3571875" y="1790700"/>
                </a:cubicBezTo>
                <a:lnTo>
                  <a:pt x="38100" y="1790700"/>
                </a:lnTo>
                <a:cubicBezTo>
                  <a:pt x="17058" y="1790700"/>
                  <a:pt x="0" y="1773642"/>
                  <a:pt x="0" y="1752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EEEEE"/>
          </a:solidFill>
          <a:ln/>
        </p:spPr>
      </p:sp>
      <p:sp>
        <p:nvSpPr>
          <p:cNvPr id="22" name="Shape 20"/>
          <p:cNvSpPr/>
          <p:nvPr/>
        </p:nvSpPr>
        <p:spPr>
          <a:xfrm>
            <a:off x="4252913" y="1219200"/>
            <a:ext cx="38100" cy="1790700"/>
          </a:xfrm>
          <a:custGeom>
            <a:avLst/>
            <a:gdLst/>
            <a:ahLst/>
            <a:cxnLst/>
            <a:rect l="l" t="t" r="r" b="b"/>
            <a:pathLst>
              <a:path w="38100" h="1790700">
                <a:moveTo>
                  <a:pt x="38100" y="0"/>
                </a:moveTo>
                <a:lnTo>
                  <a:pt x="38100" y="0"/>
                </a:lnTo>
                <a:lnTo>
                  <a:pt x="38100" y="1790700"/>
                </a:lnTo>
                <a:lnTo>
                  <a:pt x="38100" y="1790700"/>
                </a:lnTo>
                <a:cubicBezTo>
                  <a:pt x="17072" y="1790700"/>
                  <a:pt x="0" y="1773628"/>
                  <a:pt x="0" y="1752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3" name="Shape 21"/>
          <p:cNvSpPr/>
          <p:nvPr/>
        </p:nvSpPr>
        <p:spPr>
          <a:xfrm>
            <a:off x="4452938" y="14287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4707" y="57150"/>
                </a:moveTo>
                <a:cubicBezTo>
                  <a:pt x="33814" y="54144"/>
                  <a:pt x="33338" y="50929"/>
                  <a:pt x="33338" y="47625"/>
                </a:cubicBezTo>
                <a:cubicBezTo>
                  <a:pt x="33338" y="29200"/>
                  <a:pt x="48250" y="14288"/>
                  <a:pt x="66675" y="14288"/>
                </a:cubicBezTo>
                <a:cubicBezTo>
                  <a:pt x="85100" y="14288"/>
                  <a:pt x="100013" y="29200"/>
                  <a:pt x="100013" y="47625"/>
                </a:cubicBezTo>
                <a:cubicBezTo>
                  <a:pt x="100013" y="50929"/>
                  <a:pt x="99536" y="54144"/>
                  <a:pt x="98643" y="57150"/>
                </a:cubicBezTo>
                <a:lnTo>
                  <a:pt x="77510" y="57150"/>
                </a:lnTo>
                <a:lnTo>
                  <a:pt x="84832" y="43964"/>
                </a:lnTo>
                <a:cubicBezTo>
                  <a:pt x="86737" y="40511"/>
                  <a:pt x="85517" y="36165"/>
                  <a:pt x="82064" y="34260"/>
                </a:cubicBezTo>
                <a:cubicBezTo>
                  <a:pt x="78611" y="32355"/>
                  <a:pt x="74265" y="33576"/>
                  <a:pt x="72360" y="37028"/>
                </a:cubicBezTo>
                <a:lnTo>
                  <a:pt x="61168" y="57180"/>
                </a:lnTo>
                <a:lnTo>
                  <a:pt x="34736" y="57180"/>
                </a:lnTo>
                <a:close/>
                <a:moveTo>
                  <a:pt x="38100" y="9525"/>
                </a:moveTo>
                <a:lnTo>
                  <a:pt x="19050" y="9525"/>
                </a:lnTo>
                <a:cubicBezTo>
                  <a:pt x="8543" y="9525"/>
                  <a:pt x="0" y="18068"/>
                  <a:pt x="0" y="2857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28575"/>
                </a:lnTo>
                <a:cubicBezTo>
                  <a:pt x="133350" y="18068"/>
                  <a:pt x="124807" y="9525"/>
                  <a:pt x="114300" y="9525"/>
                </a:cubicBezTo>
                <a:lnTo>
                  <a:pt x="95250" y="9525"/>
                </a:lnTo>
                <a:cubicBezTo>
                  <a:pt x="87303" y="3542"/>
                  <a:pt x="77391" y="0"/>
                  <a:pt x="66675" y="0"/>
                </a:cubicBezTo>
                <a:cubicBezTo>
                  <a:pt x="55959" y="0"/>
                  <a:pt x="46047" y="3542"/>
                  <a:pt x="38100" y="9525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4" name="Text 22"/>
          <p:cNvSpPr/>
          <p:nvPr/>
        </p:nvSpPr>
        <p:spPr>
          <a:xfrm>
            <a:off x="4691063" y="1371600"/>
            <a:ext cx="1533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BMI Categorization</a:t>
            </a:r>
            <a:endParaRPr lang="en-US" sz="1600"/>
          </a:p>
        </p:txBody>
      </p:sp>
      <p:sp>
        <p:nvSpPr>
          <p:cNvPr id="25" name="Text 23"/>
          <p:cNvSpPr/>
          <p:nvPr/>
        </p:nvSpPr>
        <p:spPr>
          <a:xfrm>
            <a:off x="4424363" y="1714500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WHO standards:</a:t>
            </a:r>
            <a:endParaRPr lang="en-US" sz="1600"/>
          </a:p>
        </p:txBody>
      </p:sp>
      <p:sp>
        <p:nvSpPr>
          <p:cNvPr id="26" name="Text 24"/>
          <p:cNvSpPr/>
          <p:nvPr/>
        </p:nvSpPr>
        <p:spPr>
          <a:xfrm>
            <a:off x="4424363" y="1981200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1:</a:t>
            </a:r>
            <a:r>
              <a:rPr lang="en-US" sz="105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Underweight (&lt;18.5)</a:t>
            </a:r>
            <a:endParaRPr lang="en-US" sz="1600"/>
          </a:p>
        </p:txBody>
      </p:sp>
      <p:sp>
        <p:nvSpPr>
          <p:cNvPr id="27" name="Text 25"/>
          <p:cNvSpPr/>
          <p:nvPr/>
        </p:nvSpPr>
        <p:spPr>
          <a:xfrm>
            <a:off x="4424363" y="2209800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2:</a:t>
            </a:r>
            <a:r>
              <a:rPr lang="en-US" sz="105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Normal (18.5–25.0)</a:t>
            </a:r>
            <a:endParaRPr lang="en-US" sz="1600"/>
          </a:p>
        </p:txBody>
      </p:sp>
      <p:sp>
        <p:nvSpPr>
          <p:cNvPr id="28" name="Text 26"/>
          <p:cNvSpPr/>
          <p:nvPr/>
        </p:nvSpPr>
        <p:spPr>
          <a:xfrm>
            <a:off x="4424363" y="2438400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3:</a:t>
            </a:r>
            <a:r>
              <a:rPr lang="en-US" sz="105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Overweight (25.0–30.0)</a:t>
            </a:r>
            <a:endParaRPr lang="en-US" sz="1600"/>
          </a:p>
        </p:txBody>
      </p:sp>
      <p:sp>
        <p:nvSpPr>
          <p:cNvPr id="29" name="Text 27"/>
          <p:cNvSpPr/>
          <p:nvPr/>
        </p:nvSpPr>
        <p:spPr>
          <a:xfrm>
            <a:off x="4424363" y="2667000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4:</a:t>
            </a:r>
            <a:r>
              <a:rPr lang="en-US" sz="105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Obese (≥30.0)</a:t>
            </a:r>
            <a:endParaRPr lang="en-US" sz="1600"/>
          </a:p>
        </p:txBody>
      </p:sp>
      <p:sp>
        <p:nvSpPr>
          <p:cNvPr id="30" name="Shape 28"/>
          <p:cNvSpPr/>
          <p:nvPr/>
        </p:nvSpPr>
        <p:spPr>
          <a:xfrm>
            <a:off x="4279900" y="3352442"/>
            <a:ext cx="3686175" cy="1485900"/>
          </a:xfrm>
          <a:custGeom>
            <a:avLst/>
            <a:gdLst/>
            <a:ahLst/>
            <a:cxnLst/>
            <a:rect l="l" t="t" r="r" b="b"/>
            <a:pathLst>
              <a:path w="3686175" h="1485900">
                <a:moveTo>
                  <a:pt x="38100" y="0"/>
                </a:moveTo>
                <a:lnTo>
                  <a:pt x="3571880" y="0"/>
                </a:lnTo>
                <a:cubicBezTo>
                  <a:pt x="3634961" y="0"/>
                  <a:pt x="3686175" y="51214"/>
                  <a:pt x="3686175" y="114295"/>
                </a:cubicBezTo>
                <a:lnTo>
                  <a:pt x="3686175" y="1371605"/>
                </a:lnTo>
                <a:cubicBezTo>
                  <a:pt x="3686175" y="1434686"/>
                  <a:pt x="3634961" y="1485900"/>
                  <a:pt x="3571880" y="1485900"/>
                </a:cubicBezTo>
                <a:lnTo>
                  <a:pt x="38100" y="1485900"/>
                </a:lnTo>
                <a:cubicBezTo>
                  <a:pt x="17072" y="1485900"/>
                  <a:pt x="0" y="1468828"/>
                  <a:pt x="0" y="1447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/>
        </p:spPr>
      </p:sp>
      <p:sp>
        <p:nvSpPr>
          <p:cNvPr id="31" name="Shape 29"/>
          <p:cNvSpPr/>
          <p:nvPr/>
        </p:nvSpPr>
        <p:spPr>
          <a:xfrm>
            <a:off x="4279900" y="3352442"/>
            <a:ext cx="38100" cy="1485900"/>
          </a:xfrm>
          <a:custGeom>
            <a:avLst/>
            <a:gdLst/>
            <a:ahLst/>
            <a:cxnLst/>
            <a:rect l="l" t="t" r="r" b="b"/>
            <a:pathLst>
              <a:path w="38100" h="1485900">
                <a:moveTo>
                  <a:pt x="38100" y="0"/>
                </a:moveTo>
                <a:lnTo>
                  <a:pt x="38100" y="0"/>
                </a:lnTo>
                <a:lnTo>
                  <a:pt x="38100" y="1485900"/>
                </a:lnTo>
                <a:lnTo>
                  <a:pt x="38100" y="1485900"/>
                </a:lnTo>
                <a:cubicBezTo>
                  <a:pt x="17072" y="1485900"/>
                  <a:pt x="0" y="1468828"/>
                  <a:pt x="0" y="1447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2" name="Shape 30"/>
          <p:cNvSpPr/>
          <p:nvPr/>
        </p:nvSpPr>
        <p:spPr>
          <a:xfrm>
            <a:off x="4460875" y="3561992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07394" y="357"/>
                </a:moveTo>
                <a:cubicBezTo>
                  <a:pt x="102334" y="-1101"/>
                  <a:pt x="97066" y="1845"/>
                  <a:pt x="95607" y="6906"/>
                </a:cubicBezTo>
                <a:lnTo>
                  <a:pt x="57507" y="140256"/>
                </a:lnTo>
                <a:cubicBezTo>
                  <a:pt x="56049" y="145316"/>
                  <a:pt x="58995" y="150584"/>
                  <a:pt x="64056" y="152043"/>
                </a:cubicBezTo>
                <a:cubicBezTo>
                  <a:pt x="69116" y="153501"/>
                  <a:pt x="74384" y="150555"/>
                  <a:pt x="75843" y="145494"/>
                </a:cubicBezTo>
                <a:lnTo>
                  <a:pt x="113943" y="12144"/>
                </a:lnTo>
                <a:cubicBezTo>
                  <a:pt x="115401" y="7084"/>
                  <a:pt x="112455" y="1816"/>
                  <a:pt x="107394" y="357"/>
                </a:cubicBezTo>
                <a:close/>
                <a:moveTo>
                  <a:pt x="126623" y="40868"/>
                </a:moveTo>
                <a:cubicBezTo>
                  <a:pt x="122902" y="44589"/>
                  <a:pt x="122902" y="50631"/>
                  <a:pt x="126623" y="54352"/>
                </a:cubicBezTo>
                <a:lnTo>
                  <a:pt x="148471" y="76200"/>
                </a:lnTo>
                <a:lnTo>
                  <a:pt x="126623" y="98048"/>
                </a:lnTo>
                <a:cubicBezTo>
                  <a:pt x="122902" y="101769"/>
                  <a:pt x="122902" y="107811"/>
                  <a:pt x="126623" y="111532"/>
                </a:cubicBezTo>
                <a:cubicBezTo>
                  <a:pt x="130344" y="115253"/>
                  <a:pt x="136386" y="115253"/>
                  <a:pt x="140107" y="111532"/>
                </a:cubicBezTo>
                <a:lnTo>
                  <a:pt x="168682" y="82957"/>
                </a:lnTo>
                <a:cubicBezTo>
                  <a:pt x="172403" y="79236"/>
                  <a:pt x="172403" y="73194"/>
                  <a:pt x="168682" y="69473"/>
                </a:cubicBezTo>
                <a:lnTo>
                  <a:pt x="140107" y="40898"/>
                </a:lnTo>
                <a:cubicBezTo>
                  <a:pt x="136386" y="37177"/>
                  <a:pt x="130344" y="37177"/>
                  <a:pt x="126623" y="40898"/>
                </a:cubicBezTo>
                <a:close/>
                <a:moveTo>
                  <a:pt x="44857" y="40868"/>
                </a:moveTo>
                <a:cubicBezTo>
                  <a:pt x="41136" y="37147"/>
                  <a:pt x="35094" y="37147"/>
                  <a:pt x="31373" y="40868"/>
                </a:cubicBezTo>
                <a:lnTo>
                  <a:pt x="2798" y="69443"/>
                </a:lnTo>
                <a:cubicBezTo>
                  <a:pt x="-923" y="73164"/>
                  <a:pt x="-923" y="79206"/>
                  <a:pt x="2798" y="82927"/>
                </a:cubicBezTo>
                <a:lnTo>
                  <a:pt x="31373" y="111502"/>
                </a:lnTo>
                <a:cubicBezTo>
                  <a:pt x="35094" y="115223"/>
                  <a:pt x="41136" y="115223"/>
                  <a:pt x="44857" y="111502"/>
                </a:cubicBezTo>
                <a:cubicBezTo>
                  <a:pt x="48578" y="107781"/>
                  <a:pt x="48578" y="101739"/>
                  <a:pt x="44857" y="98018"/>
                </a:cubicBezTo>
                <a:lnTo>
                  <a:pt x="23009" y="76200"/>
                </a:lnTo>
                <a:lnTo>
                  <a:pt x="44827" y="54352"/>
                </a:lnTo>
                <a:cubicBezTo>
                  <a:pt x="48548" y="50631"/>
                  <a:pt x="48548" y="44589"/>
                  <a:pt x="44827" y="40868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33" name="Text 31"/>
          <p:cNvSpPr/>
          <p:nvPr/>
        </p:nvSpPr>
        <p:spPr>
          <a:xfrm>
            <a:off x="4718050" y="3504842"/>
            <a:ext cx="1314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Binary Encoding</a:t>
            </a:r>
            <a:endParaRPr lang="en-US" sz="1600"/>
          </a:p>
        </p:txBody>
      </p:sp>
      <p:sp>
        <p:nvSpPr>
          <p:cNvPr id="34" name="Text 32"/>
          <p:cNvSpPr/>
          <p:nvPr/>
        </p:nvSpPr>
        <p:spPr>
          <a:xfrm>
            <a:off x="4451350" y="3847742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Converted 1=Yes, 2=No to binary:</a:t>
            </a:r>
            <a:endParaRPr lang="en-US" sz="1600"/>
          </a:p>
        </p:txBody>
      </p:sp>
      <p:sp>
        <p:nvSpPr>
          <p:cNvPr id="35" name="Text 33"/>
          <p:cNvSpPr/>
          <p:nvPr/>
        </p:nvSpPr>
        <p:spPr>
          <a:xfrm>
            <a:off x="4451350" y="4114442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 → 1, 2 → 0</a:t>
            </a:r>
            <a:endParaRPr lang="en-US" sz="1600"/>
          </a:p>
        </p:txBody>
      </p:sp>
      <p:sp>
        <p:nvSpPr>
          <p:cNvPr id="36" name="Text 34"/>
          <p:cNvSpPr/>
          <p:nvPr/>
        </p:nvSpPr>
        <p:spPr>
          <a:xfrm>
            <a:off x="4451350" y="4381142"/>
            <a:ext cx="3419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Variables: ADSMOK2, PHYACT3, JTPAIN1, VISION2, HEARNG2, EMPST1, TRIEVY1, MCREVY1, MCDEVY1</a:t>
            </a:r>
            <a:endParaRPr lang="en-US" sz="1600"/>
          </a:p>
        </p:txBody>
      </p:sp>
      <p:sp>
        <p:nvSpPr>
          <p:cNvPr id="37" name="Shape 35"/>
          <p:cNvSpPr/>
          <p:nvPr/>
        </p:nvSpPr>
        <p:spPr>
          <a:xfrm>
            <a:off x="4290060" y="5216565"/>
            <a:ext cx="3686175" cy="1028700"/>
          </a:xfrm>
          <a:custGeom>
            <a:avLst/>
            <a:gdLst/>
            <a:ahLst/>
            <a:cxnLst/>
            <a:rect l="l" t="t" r="r" b="b"/>
            <a:pathLst>
              <a:path w="3686175" h="1028700">
                <a:moveTo>
                  <a:pt x="38100" y="0"/>
                </a:moveTo>
                <a:lnTo>
                  <a:pt x="3571876" y="0"/>
                </a:lnTo>
                <a:cubicBezTo>
                  <a:pt x="3635002" y="0"/>
                  <a:pt x="3686175" y="51173"/>
                  <a:pt x="3686175" y="114299"/>
                </a:cubicBezTo>
                <a:lnTo>
                  <a:pt x="3686175" y="914401"/>
                </a:lnTo>
                <a:cubicBezTo>
                  <a:pt x="3686175" y="977527"/>
                  <a:pt x="3635002" y="1028700"/>
                  <a:pt x="3571876" y="1028700"/>
                </a:cubicBez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/>
        </p:spPr>
      </p:sp>
      <p:sp>
        <p:nvSpPr>
          <p:cNvPr id="38" name="Shape 36"/>
          <p:cNvSpPr/>
          <p:nvPr/>
        </p:nvSpPr>
        <p:spPr>
          <a:xfrm>
            <a:off x="4290060" y="5216565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3810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9" name="Shape 37"/>
          <p:cNvSpPr/>
          <p:nvPr/>
        </p:nvSpPr>
        <p:spPr>
          <a:xfrm>
            <a:off x="4480560" y="542611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1906" y="14288"/>
                </a:moveTo>
                <a:cubicBezTo>
                  <a:pt x="7947" y="14288"/>
                  <a:pt x="4763" y="17472"/>
                  <a:pt x="4763" y="21431"/>
                </a:cubicBezTo>
                <a:lnTo>
                  <a:pt x="4763" y="35719"/>
                </a:lnTo>
                <a:cubicBezTo>
                  <a:pt x="4763" y="39678"/>
                  <a:pt x="7947" y="42863"/>
                  <a:pt x="11906" y="42863"/>
                </a:cubicBezTo>
                <a:lnTo>
                  <a:pt x="26194" y="42863"/>
                </a:lnTo>
                <a:cubicBezTo>
                  <a:pt x="30153" y="42863"/>
                  <a:pt x="33338" y="39678"/>
                  <a:pt x="33338" y="35719"/>
                </a:cubicBezTo>
                <a:lnTo>
                  <a:pt x="33338" y="21431"/>
                </a:lnTo>
                <a:cubicBezTo>
                  <a:pt x="33338" y="17472"/>
                  <a:pt x="30153" y="14288"/>
                  <a:pt x="26194" y="14288"/>
                </a:cubicBezTo>
                <a:lnTo>
                  <a:pt x="11906" y="14288"/>
                </a:lnTo>
                <a:close/>
                <a:moveTo>
                  <a:pt x="57150" y="19050"/>
                </a:moveTo>
                <a:cubicBezTo>
                  <a:pt x="51881" y="19050"/>
                  <a:pt x="47625" y="23306"/>
                  <a:pt x="47625" y="28575"/>
                </a:cubicBezTo>
                <a:cubicBezTo>
                  <a:pt x="47625" y="33844"/>
                  <a:pt x="51881" y="38100"/>
                  <a:pt x="57150" y="38100"/>
                </a:cubicBezTo>
                <a:lnTo>
                  <a:pt x="142875" y="38100"/>
                </a:lnTo>
                <a:cubicBezTo>
                  <a:pt x="148144" y="38100"/>
                  <a:pt x="152400" y="33844"/>
                  <a:pt x="152400" y="28575"/>
                </a:cubicBezTo>
                <a:cubicBezTo>
                  <a:pt x="152400" y="23306"/>
                  <a:pt x="148144" y="19050"/>
                  <a:pt x="142875" y="19050"/>
                </a:cubicBezTo>
                <a:lnTo>
                  <a:pt x="57150" y="19050"/>
                </a:lnTo>
                <a:close/>
                <a:moveTo>
                  <a:pt x="57150" y="66675"/>
                </a:moveTo>
                <a:cubicBezTo>
                  <a:pt x="51881" y="66675"/>
                  <a:pt x="47625" y="70931"/>
                  <a:pt x="47625" y="76200"/>
                </a:cubicBezTo>
                <a:cubicBezTo>
                  <a:pt x="47625" y="81469"/>
                  <a:pt x="51881" y="85725"/>
                  <a:pt x="57150" y="85725"/>
                </a:cubicBezTo>
                <a:lnTo>
                  <a:pt x="142875" y="85725"/>
                </a:lnTo>
                <a:cubicBezTo>
                  <a:pt x="148144" y="85725"/>
                  <a:pt x="152400" y="81469"/>
                  <a:pt x="152400" y="76200"/>
                </a:cubicBezTo>
                <a:cubicBezTo>
                  <a:pt x="152400" y="70931"/>
                  <a:pt x="148144" y="66675"/>
                  <a:pt x="142875" y="66675"/>
                </a:cubicBezTo>
                <a:lnTo>
                  <a:pt x="57150" y="66675"/>
                </a:lnTo>
                <a:close/>
                <a:moveTo>
                  <a:pt x="57150" y="114300"/>
                </a:moveTo>
                <a:cubicBezTo>
                  <a:pt x="51881" y="114300"/>
                  <a:pt x="47625" y="118556"/>
                  <a:pt x="47625" y="123825"/>
                </a:cubicBezTo>
                <a:cubicBezTo>
                  <a:pt x="47625" y="129094"/>
                  <a:pt x="51881" y="133350"/>
                  <a:pt x="57150" y="133350"/>
                </a:cubicBezTo>
                <a:lnTo>
                  <a:pt x="142875" y="133350"/>
                </a:lnTo>
                <a:cubicBezTo>
                  <a:pt x="148144" y="133350"/>
                  <a:pt x="152400" y="129094"/>
                  <a:pt x="152400" y="123825"/>
                </a:cubicBezTo>
                <a:cubicBezTo>
                  <a:pt x="152400" y="118556"/>
                  <a:pt x="148144" y="114300"/>
                  <a:pt x="142875" y="114300"/>
                </a:cubicBezTo>
                <a:lnTo>
                  <a:pt x="57150" y="114300"/>
                </a:lnTo>
                <a:close/>
                <a:moveTo>
                  <a:pt x="4763" y="69056"/>
                </a:moveTo>
                <a:lnTo>
                  <a:pt x="4763" y="83344"/>
                </a:lnTo>
                <a:cubicBezTo>
                  <a:pt x="4763" y="87303"/>
                  <a:pt x="7947" y="90488"/>
                  <a:pt x="11906" y="90488"/>
                </a:cubicBezTo>
                <a:lnTo>
                  <a:pt x="26194" y="90488"/>
                </a:lnTo>
                <a:cubicBezTo>
                  <a:pt x="30153" y="90488"/>
                  <a:pt x="33338" y="87303"/>
                  <a:pt x="33338" y="83344"/>
                </a:cubicBezTo>
                <a:lnTo>
                  <a:pt x="33338" y="69056"/>
                </a:lnTo>
                <a:cubicBezTo>
                  <a:pt x="33338" y="65097"/>
                  <a:pt x="30153" y="61912"/>
                  <a:pt x="26194" y="61912"/>
                </a:cubicBezTo>
                <a:lnTo>
                  <a:pt x="11906" y="61912"/>
                </a:lnTo>
                <a:cubicBezTo>
                  <a:pt x="7947" y="61912"/>
                  <a:pt x="4763" y="65097"/>
                  <a:pt x="4763" y="69056"/>
                </a:cubicBezTo>
                <a:close/>
                <a:moveTo>
                  <a:pt x="11906" y="109537"/>
                </a:moveTo>
                <a:cubicBezTo>
                  <a:pt x="7947" y="109537"/>
                  <a:pt x="4763" y="112722"/>
                  <a:pt x="4763" y="116681"/>
                </a:cubicBezTo>
                <a:lnTo>
                  <a:pt x="4763" y="130969"/>
                </a:lnTo>
                <a:cubicBezTo>
                  <a:pt x="4763" y="134928"/>
                  <a:pt x="7947" y="138113"/>
                  <a:pt x="11906" y="138113"/>
                </a:cubicBezTo>
                <a:lnTo>
                  <a:pt x="26194" y="138113"/>
                </a:lnTo>
                <a:cubicBezTo>
                  <a:pt x="30153" y="138113"/>
                  <a:pt x="33338" y="134928"/>
                  <a:pt x="33338" y="130969"/>
                </a:cubicBezTo>
                <a:lnTo>
                  <a:pt x="33338" y="116681"/>
                </a:lnTo>
                <a:cubicBezTo>
                  <a:pt x="33338" y="112722"/>
                  <a:pt x="30153" y="109537"/>
                  <a:pt x="26194" y="109537"/>
                </a:cubicBezTo>
                <a:lnTo>
                  <a:pt x="11906" y="109537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40" name="Text 38"/>
          <p:cNvSpPr/>
          <p:nvPr/>
        </p:nvSpPr>
        <p:spPr>
          <a:xfrm>
            <a:off x="4728210" y="5368965"/>
            <a:ext cx="1495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One-Hot Encoding</a:t>
            </a:r>
            <a:endParaRPr lang="en-US" sz="1600"/>
          </a:p>
        </p:txBody>
      </p:sp>
      <p:sp>
        <p:nvSpPr>
          <p:cNvPr id="41" name="Text 39"/>
          <p:cNvSpPr/>
          <p:nvPr/>
        </p:nvSpPr>
        <p:spPr>
          <a:xfrm>
            <a:off x="4461510" y="5711865"/>
            <a:ext cx="342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Applied to nominal variables: SEX, RACETHNX, MARRYY1X, REGIONY1, INSCOVY1</a:t>
            </a:r>
            <a:endParaRPr lang="en-US" sz="1600"/>
          </a:p>
        </p:txBody>
      </p:sp>
      <p:sp>
        <p:nvSpPr>
          <p:cNvPr id="42" name="Shape 40"/>
          <p:cNvSpPr/>
          <p:nvPr/>
        </p:nvSpPr>
        <p:spPr>
          <a:xfrm>
            <a:off x="8121611" y="1219200"/>
            <a:ext cx="3686175" cy="1600200"/>
          </a:xfrm>
          <a:custGeom>
            <a:avLst/>
            <a:gdLst/>
            <a:ahLst/>
            <a:cxnLst/>
            <a:rect l="l" t="t" r="r" b="b"/>
            <a:pathLst>
              <a:path w="3686175" h="1600200">
                <a:moveTo>
                  <a:pt x="38100" y="0"/>
                </a:moveTo>
                <a:lnTo>
                  <a:pt x="3571873" y="0"/>
                </a:lnTo>
                <a:cubicBezTo>
                  <a:pt x="3634958" y="0"/>
                  <a:pt x="3686175" y="51217"/>
                  <a:pt x="3686175" y="114302"/>
                </a:cubicBezTo>
                <a:lnTo>
                  <a:pt x="3686175" y="1485898"/>
                </a:lnTo>
                <a:cubicBezTo>
                  <a:pt x="3686175" y="1548983"/>
                  <a:pt x="3634958" y="1600200"/>
                  <a:pt x="3571873" y="1600200"/>
                </a:cubicBez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/>
        </p:spPr>
      </p:sp>
      <p:sp>
        <p:nvSpPr>
          <p:cNvPr id="43" name="Shape 41"/>
          <p:cNvSpPr/>
          <p:nvPr/>
        </p:nvSpPr>
        <p:spPr>
          <a:xfrm>
            <a:off x="8121611" y="1219200"/>
            <a:ext cx="38100" cy="1600200"/>
          </a:xfrm>
          <a:custGeom>
            <a:avLst/>
            <a:gdLst/>
            <a:ahLst/>
            <a:cxnLst/>
            <a:rect l="l" t="t" r="r" b="b"/>
            <a:pathLst>
              <a:path w="38100" h="1600200">
                <a:moveTo>
                  <a:pt x="38100" y="0"/>
                </a:moveTo>
                <a:lnTo>
                  <a:pt x="38100" y="0"/>
                </a:lnTo>
                <a:lnTo>
                  <a:pt x="38100" y="1600200"/>
                </a:ln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4" name="Shape 42"/>
          <p:cNvSpPr/>
          <p:nvPr/>
        </p:nvSpPr>
        <p:spPr>
          <a:xfrm>
            <a:off x="8340686" y="1428750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40481" y="7144"/>
                </a:moveTo>
                <a:cubicBezTo>
                  <a:pt x="40481" y="3185"/>
                  <a:pt x="43666" y="0"/>
                  <a:pt x="47625" y="0"/>
                </a:cubicBezTo>
                <a:cubicBezTo>
                  <a:pt x="51584" y="0"/>
                  <a:pt x="54769" y="3185"/>
                  <a:pt x="54769" y="7144"/>
                </a:cubicBezTo>
                <a:lnTo>
                  <a:pt x="54769" y="19050"/>
                </a:lnTo>
                <a:lnTo>
                  <a:pt x="71438" y="19050"/>
                </a:lnTo>
                <a:cubicBezTo>
                  <a:pt x="76706" y="19050"/>
                  <a:pt x="80962" y="23306"/>
                  <a:pt x="80962" y="28575"/>
                </a:cubicBezTo>
                <a:cubicBezTo>
                  <a:pt x="80962" y="33844"/>
                  <a:pt x="76706" y="38100"/>
                  <a:pt x="71438" y="38100"/>
                </a:cubicBezTo>
                <a:lnTo>
                  <a:pt x="37237" y="38100"/>
                </a:lnTo>
                <a:cubicBezTo>
                  <a:pt x="29825" y="38100"/>
                  <a:pt x="23813" y="44113"/>
                  <a:pt x="23813" y="51524"/>
                </a:cubicBezTo>
                <a:cubicBezTo>
                  <a:pt x="23813" y="58222"/>
                  <a:pt x="28724" y="63877"/>
                  <a:pt x="35332" y="64830"/>
                </a:cubicBezTo>
                <a:lnTo>
                  <a:pt x="62597" y="68729"/>
                </a:lnTo>
                <a:cubicBezTo>
                  <a:pt x="78611" y="71021"/>
                  <a:pt x="90488" y="84713"/>
                  <a:pt x="90488" y="100876"/>
                </a:cubicBezTo>
                <a:cubicBezTo>
                  <a:pt x="90488" y="118824"/>
                  <a:pt x="75932" y="133350"/>
                  <a:pt x="58013" y="133350"/>
                </a:cubicBezTo>
                <a:lnTo>
                  <a:pt x="54769" y="133350"/>
                </a:lnTo>
                <a:lnTo>
                  <a:pt x="54769" y="145256"/>
                </a:lnTo>
                <a:cubicBezTo>
                  <a:pt x="54769" y="149215"/>
                  <a:pt x="51584" y="152400"/>
                  <a:pt x="47625" y="152400"/>
                </a:cubicBezTo>
                <a:cubicBezTo>
                  <a:pt x="43666" y="152400"/>
                  <a:pt x="40481" y="149215"/>
                  <a:pt x="40481" y="145256"/>
                </a:cubicBezTo>
                <a:lnTo>
                  <a:pt x="40481" y="133350"/>
                </a:lnTo>
                <a:lnTo>
                  <a:pt x="19050" y="133350"/>
                </a:lnTo>
                <a:cubicBezTo>
                  <a:pt x="13781" y="133350"/>
                  <a:pt x="9525" y="129094"/>
                  <a:pt x="9525" y="123825"/>
                </a:cubicBezTo>
                <a:cubicBezTo>
                  <a:pt x="9525" y="118556"/>
                  <a:pt x="13781" y="114300"/>
                  <a:pt x="19050" y="114300"/>
                </a:cubicBezTo>
                <a:lnTo>
                  <a:pt x="58013" y="114300"/>
                </a:lnTo>
                <a:cubicBezTo>
                  <a:pt x="65425" y="114300"/>
                  <a:pt x="71438" y="108287"/>
                  <a:pt x="71438" y="100876"/>
                </a:cubicBezTo>
                <a:cubicBezTo>
                  <a:pt x="71438" y="94178"/>
                  <a:pt x="66526" y="88523"/>
                  <a:pt x="59918" y="87570"/>
                </a:cubicBezTo>
                <a:lnTo>
                  <a:pt x="32653" y="83671"/>
                </a:lnTo>
                <a:cubicBezTo>
                  <a:pt x="16639" y="81409"/>
                  <a:pt x="4763" y="67687"/>
                  <a:pt x="4763" y="51524"/>
                </a:cubicBezTo>
                <a:cubicBezTo>
                  <a:pt x="4763" y="33605"/>
                  <a:pt x="19318" y="19050"/>
                  <a:pt x="37237" y="19050"/>
                </a:cubicBezTo>
                <a:lnTo>
                  <a:pt x="40481" y="19050"/>
                </a:lnTo>
                <a:lnTo>
                  <a:pt x="40481" y="7144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5" name="Text 43"/>
          <p:cNvSpPr/>
          <p:nvPr/>
        </p:nvSpPr>
        <p:spPr>
          <a:xfrm>
            <a:off x="8559761" y="1371600"/>
            <a:ext cx="160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Inflation Adjustment</a:t>
            </a:r>
            <a:endParaRPr lang="en-US" sz="1600"/>
          </a:p>
        </p:txBody>
      </p:sp>
      <p:sp>
        <p:nvSpPr>
          <p:cNvPr id="46" name="Text 44"/>
          <p:cNvSpPr/>
          <p:nvPr/>
        </p:nvSpPr>
        <p:spPr>
          <a:xfrm>
            <a:off x="8293061" y="1714500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CPI adjustment to constant 2011 dollars:</a:t>
            </a:r>
            <a:endParaRPr lang="en-US" sz="1600"/>
          </a:p>
        </p:txBody>
      </p:sp>
      <p:sp>
        <p:nvSpPr>
          <p:cNvPr id="47" name="Shape 45"/>
          <p:cNvSpPr/>
          <p:nvPr/>
        </p:nvSpPr>
        <p:spPr>
          <a:xfrm>
            <a:off x="8293061" y="1981200"/>
            <a:ext cx="3362325" cy="304800"/>
          </a:xfrm>
          <a:custGeom>
            <a:avLst/>
            <a:gdLst/>
            <a:ahLst/>
            <a:cxnLst/>
            <a:rect l="l" t="t" r="r" b="b"/>
            <a:pathLst>
              <a:path w="3362325" h="304800">
                <a:moveTo>
                  <a:pt x="76200" y="0"/>
                </a:moveTo>
                <a:lnTo>
                  <a:pt x="3286125" y="0"/>
                </a:lnTo>
                <a:cubicBezTo>
                  <a:pt x="3328181" y="0"/>
                  <a:pt x="3362325" y="34144"/>
                  <a:pt x="3362325" y="76200"/>
                </a:cubicBezTo>
                <a:lnTo>
                  <a:pt x="3362325" y="228600"/>
                </a:lnTo>
                <a:cubicBezTo>
                  <a:pt x="3362325" y="270656"/>
                  <a:pt x="3328181" y="304800"/>
                  <a:pt x="3286125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AFAFA"/>
          </a:solidFill>
          <a:ln/>
        </p:spPr>
      </p:sp>
      <p:sp>
        <p:nvSpPr>
          <p:cNvPr id="48" name="Text 46"/>
          <p:cNvSpPr/>
          <p:nvPr/>
        </p:nvSpPr>
        <p:spPr>
          <a:xfrm>
            <a:off x="8293061" y="1981200"/>
            <a:ext cx="3419475" cy="304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>
              <a:lnSpc>
                <a:spcPct val="110000"/>
              </a:lnSpc>
            </a:pPr>
            <a:r>
              <a:rPr lang="en-US" sz="90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Factor = CPI_year / CPI_2011</a:t>
            </a:r>
            <a:endParaRPr lang="en-US" sz="1600"/>
          </a:p>
        </p:txBody>
      </p:sp>
      <p:sp>
        <p:nvSpPr>
          <p:cNvPr id="49" name="Text 47"/>
          <p:cNvSpPr/>
          <p:nvPr/>
        </p:nvSpPr>
        <p:spPr>
          <a:xfrm>
            <a:off x="8293061" y="2362084"/>
            <a:ext cx="3419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Variables adjusted: TOTEXPY1/2, TOTSLFY1, TOTMCDY1, TOTMCRY1, TOTPRVY1, TOTTRIY1, TOTOPUY1</a:t>
            </a:r>
            <a:endParaRPr lang="en-US" sz="1600"/>
          </a:p>
        </p:txBody>
      </p:sp>
      <p:sp>
        <p:nvSpPr>
          <p:cNvPr id="50" name="Shape 48"/>
          <p:cNvSpPr/>
          <p:nvPr/>
        </p:nvSpPr>
        <p:spPr>
          <a:xfrm>
            <a:off x="8131771" y="3085742"/>
            <a:ext cx="3686175" cy="1943100"/>
          </a:xfrm>
          <a:custGeom>
            <a:avLst/>
            <a:gdLst/>
            <a:ahLst/>
            <a:cxnLst/>
            <a:rect l="l" t="t" r="r" b="b"/>
            <a:pathLst>
              <a:path w="3686175" h="1943100">
                <a:moveTo>
                  <a:pt x="38100" y="0"/>
                </a:moveTo>
                <a:lnTo>
                  <a:pt x="3571882" y="0"/>
                </a:lnTo>
                <a:cubicBezTo>
                  <a:pt x="3634962" y="0"/>
                  <a:pt x="3686175" y="51213"/>
                  <a:pt x="3686175" y="114293"/>
                </a:cubicBezTo>
                <a:lnTo>
                  <a:pt x="3686175" y="1828807"/>
                </a:lnTo>
                <a:cubicBezTo>
                  <a:pt x="3686175" y="1891887"/>
                  <a:pt x="3634962" y="1943100"/>
                  <a:pt x="3571882" y="1943100"/>
                </a:cubicBezTo>
                <a:lnTo>
                  <a:pt x="38100" y="1943100"/>
                </a:lnTo>
                <a:cubicBezTo>
                  <a:pt x="17072" y="1943100"/>
                  <a:pt x="0" y="1926028"/>
                  <a:pt x="0" y="1905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/>
        </p:spPr>
      </p:sp>
      <p:sp>
        <p:nvSpPr>
          <p:cNvPr id="51" name="Shape 49"/>
          <p:cNvSpPr/>
          <p:nvPr/>
        </p:nvSpPr>
        <p:spPr>
          <a:xfrm>
            <a:off x="8131771" y="3085742"/>
            <a:ext cx="38100" cy="1943100"/>
          </a:xfrm>
          <a:custGeom>
            <a:avLst/>
            <a:gdLst/>
            <a:ahLst/>
            <a:cxnLst/>
            <a:rect l="l" t="t" r="r" b="b"/>
            <a:pathLst>
              <a:path w="38100" h="1943100">
                <a:moveTo>
                  <a:pt x="38100" y="0"/>
                </a:moveTo>
                <a:lnTo>
                  <a:pt x="38100" y="0"/>
                </a:lnTo>
                <a:lnTo>
                  <a:pt x="38100" y="1943100"/>
                </a:lnTo>
                <a:lnTo>
                  <a:pt x="38100" y="1943100"/>
                </a:lnTo>
                <a:cubicBezTo>
                  <a:pt x="17072" y="1943100"/>
                  <a:pt x="0" y="1926028"/>
                  <a:pt x="0" y="1905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2" name="Shape 50"/>
          <p:cNvSpPr/>
          <p:nvPr/>
        </p:nvSpPr>
        <p:spPr>
          <a:xfrm>
            <a:off x="8322271" y="329529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9525"/>
                </a:moveTo>
                <a:cubicBezTo>
                  <a:pt x="14794" y="9525"/>
                  <a:pt x="19050" y="13781"/>
                  <a:pt x="19050" y="19050"/>
                </a:cubicBez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142875" y="123825"/>
                </a:lnTo>
                <a:cubicBezTo>
                  <a:pt x="148144" y="123825"/>
                  <a:pt x="152400" y="128081"/>
                  <a:pt x="152400" y="133350"/>
                </a:cubicBezTo>
                <a:cubicBezTo>
                  <a:pt x="152400" y="138619"/>
                  <a:pt x="148144" y="142875"/>
                  <a:pt x="142875" y="142875"/>
                </a:cubicBezTo>
                <a:lnTo>
                  <a:pt x="23813" y="142875"/>
                </a:lnTo>
                <a:cubicBezTo>
                  <a:pt x="10656" y="142875"/>
                  <a:pt x="0" y="132219"/>
                  <a:pt x="0" y="119062"/>
                </a:cubicBezTo>
                <a:lnTo>
                  <a:pt x="0" y="19050"/>
                </a:lnTo>
                <a:cubicBezTo>
                  <a:pt x="0" y="13781"/>
                  <a:pt x="4256" y="9525"/>
                  <a:pt x="9525" y="9525"/>
                </a:cubicBezTo>
                <a:close/>
                <a:moveTo>
                  <a:pt x="38100" y="28575"/>
                </a:moveTo>
                <a:cubicBezTo>
                  <a:pt x="38100" y="23306"/>
                  <a:pt x="42356" y="19050"/>
                  <a:pt x="47625" y="19050"/>
                </a:cubicBezTo>
                <a:lnTo>
                  <a:pt x="104775" y="19050"/>
                </a:lnTo>
                <a:cubicBezTo>
                  <a:pt x="110044" y="19050"/>
                  <a:pt x="114300" y="23306"/>
                  <a:pt x="114300" y="28575"/>
                </a:cubicBezTo>
                <a:cubicBezTo>
                  <a:pt x="114300" y="33844"/>
                  <a:pt x="110044" y="38100"/>
                  <a:pt x="104775" y="38100"/>
                </a:cubicBezTo>
                <a:lnTo>
                  <a:pt x="47625" y="38100"/>
                </a:lnTo>
                <a:cubicBezTo>
                  <a:pt x="42356" y="38100"/>
                  <a:pt x="38100" y="33844"/>
                  <a:pt x="38100" y="28575"/>
                </a:cubicBezTo>
                <a:close/>
                <a:moveTo>
                  <a:pt x="47625" y="52388"/>
                </a:moveTo>
                <a:lnTo>
                  <a:pt x="85725" y="52388"/>
                </a:lnTo>
                <a:cubicBezTo>
                  <a:pt x="90994" y="52388"/>
                  <a:pt x="95250" y="56644"/>
                  <a:pt x="95250" y="61912"/>
                </a:cubicBezTo>
                <a:cubicBezTo>
                  <a:pt x="95250" y="67181"/>
                  <a:pt x="90994" y="71438"/>
                  <a:pt x="85725" y="71438"/>
                </a:cubicBezTo>
                <a:lnTo>
                  <a:pt x="47625" y="71438"/>
                </a:lnTo>
                <a:cubicBezTo>
                  <a:pt x="42356" y="71438"/>
                  <a:pt x="38100" y="67181"/>
                  <a:pt x="38100" y="61912"/>
                </a:cubicBezTo>
                <a:cubicBezTo>
                  <a:pt x="38100" y="56644"/>
                  <a:pt x="42356" y="52388"/>
                  <a:pt x="47625" y="52388"/>
                </a:cubicBezTo>
                <a:close/>
                <a:moveTo>
                  <a:pt x="47625" y="85725"/>
                </a:moveTo>
                <a:lnTo>
                  <a:pt x="123825" y="85725"/>
                </a:lnTo>
                <a:cubicBezTo>
                  <a:pt x="129094" y="85725"/>
                  <a:pt x="133350" y="89981"/>
                  <a:pt x="133350" y="95250"/>
                </a:cubicBezTo>
                <a:cubicBezTo>
                  <a:pt x="133350" y="100519"/>
                  <a:pt x="129094" y="104775"/>
                  <a:pt x="123825" y="104775"/>
                </a:cubicBezTo>
                <a:lnTo>
                  <a:pt x="47625" y="104775"/>
                </a:lnTo>
                <a:cubicBezTo>
                  <a:pt x="42356" y="104775"/>
                  <a:pt x="38100" y="100519"/>
                  <a:pt x="38100" y="95250"/>
                </a:cubicBezTo>
                <a:cubicBezTo>
                  <a:pt x="38100" y="89981"/>
                  <a:pt x="42356" y="85725"/>
                  <a:pt x="47625" y="85725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3" name="Text 51"/>
          <p:cNvSpPr/>
          <p:nvPr/>
        </p:nvSpPr>
        <p:spPr>
          <a:xfrm>
            <a:off x="8569921" y="3238142"/>
            <a:ext cx="2143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Expenditure Categorization</a:t>
            </a:r>
            <a:endParaRPr lang="en-US" sz="1600"/>
          </a:p>
        </p:txBody>
      </p:sp>
      <p:sp>
        <p:nvSpPr>
          <p:cNvPr id="54" name="Text 52"/>
          <p:cNvSpPr/>
          <p:nvPr/>
        </p:nvSpPr>
        <p:spPr>
          <a:xfrm>
            <a:off x="8303221" y="3581042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 transformation + quantile binning:</a:t>
            </a:r>
            <a:endParaRPr lang="en-US" sz="1600"/>
          </a:p>
        </p:txBody>
      </p:sp>
      <p:sp>
        <p:nvSpPr>
          <p:cNvPr id="55" name="Shape 53"/>
          <p:cNvSpPr/>
          <p:nvPr/>
        </p:nvSpPr>
        <p:spPr>
          <a:xfrm>
            <a:off x="8303221" y="3847742"/>
            <a:ext cx="3362325" cy="304800"/>
          </a:xfrm>
          <a:custGeom>
            <a:avLst/>
            <a:gdLst/>
            <a:ahLst/>
            <a:cxnLst/>
            <a:rect l="l" t="t" r="r" b="b"/>
            <a:pathLst>
              <a:path w="3362325" h="304800">
                <a:moveTo>
                  <a:pt x="76200" y="0"/>
                </a:moveTo>
                <a:lnTo>
                  <a:pt x="3286125" y="0"/>
                </a:lnTo>
                <a:cubicBezTo>
                  <a:pt x="3328181" y="0"/>
                  <a:pt x="3362325" y="34144"/>
                  <a:pt x="3362325" y="76200"/>
                </a:cubicBezTo>
                <a:lnTo>
                  <a:pt x="3362325" y="228600"/>
                </a:lnTo>
                <a:cubicBezTo>
                  <a:pt x="3362325" y="270656"/>
                  <a:pt x="3328181" y="304800"/>
                  <a:pt x="3286125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AFAFA"/>
          </a:solidFill>
          <a:ln/>
        </p:spPr>
      </p:sp>
      <p:sp>
        <p:nvSpPr>
          <p:cNvPr id="56" name="Text 54"/>
          <p:cNvSpPr/>
          <p:nvPr/>
        </p:nvSpPr>
        <p:spPr>
          <a:xfrm>
            <a:off x="8303221" y="3847742"/>
            <a:ext cx="3419475" cy="304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>
              <a:lnSpc>
                <a:spcPct val="110000"/>
              </a:lnSpc>
            </a:pPr>
            <a:r>
              <a:rPr lang="en-US" sz="900">
                <a:solidFill>
                  <a:srgbClr val="1D1D1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log_exp = log(1 + TOTEXPY2_adj)</a:t>
            </a:r>
            <a:endParaRPr lang="en-US" sz="1600"/>
          </a:p>
        </p:txBody>
      </p:sp>
      <p:sp>
        <p:nvSpPr>
          <p:cNvPr id="57" name="Text 55"/>
          <p:cNvSpPr/>
          <p:nvPr/>
        </p:nvSpPr>
        <p:spPr>
          <a:xfrm>
            <a:off x="8303221" y="4228626"/>
            <a:ext cx="457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0:</a:t>
            </a:r>
            <a:r>
              <a:rPr lang="en-US" sz="105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Low</a:t>
            </a:r>
            <a:endParaRPr lang="en-US" sz="1600"/>
          </a:p>
        </p:txBody>
      </p:sp>
      <p:sp>
        <p:nvSpPr>
          <p:cNvPr id="58" name="Text 56"/>
          <p:cNvSpPr/>
          <p:nvPr/>
        </p:nvSpPr>
        <p:spPr>
          <a:xfrm>
            <a:off x="11400989" y="4228626"/>
            <a:ext cx="33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50%</a:t>
            </a:r>
            <a:endParaRPr lang="en-US" sz="1600"/>
          </a:p>
        </p:txBody>
      </p:sp>
      <p:sp>
        <p:nvSpPr>
          <p:cNvPr id="59" name="Text 57"/>
          <p:cNvSpPr/>
          <p:nvPr/>
        </p:nvSpPr>
        <p:spPr>
          <a:xfrm>
            <a:off x="8303221" y="4457226"/>
            <a:ext cx="66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1:</a:t>
            </a:r>
            <a:r>
              <a:rPr lang="en-US" sz="105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Medium</a:t>
            </a:r>
            <a:endParaRPr lang="en-US" sz="1600"/>
          </a:p>
        </p:txBody>
      </p:sp>
      <p:sp>
        <p:nvSpPr>
          <p:cNvPr id="60" name="Text 58"/>
          <p:cNvSpPr/>
          <p:nvPr/>
        </p:nvSpPr>
        <p:spPr>
          <a:xfrm>
            <a:off x="11399203" y="4457226"/>
            <a:ext cx="33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40%</a:t>
            </a:r>
            <a:endParaRPr lang="en-US" sz="1600"/>
          </a:p>
        </p:txBody>
      </p:sp>
      <p:sp>
        <p:nvSpPr>
          <p:cNvPr id="61" name="Text 59"/>
          <p:cNvSpPr/>
          <p:nvPr/>
        </p:nvSpPr>
        <p:spPr>
          <a:xfrm>
            <a:off x="8303221" y="4685826"/>
            <a:ext cx="485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2:</a:t>
            </a:r>
            <a:r>
              <a:rPr lang="en-US" sz="105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High</a:t>
            </a:r>
            <a:endParaRPr lang="en-US" sz="1600"/>
          </a:p>
        </p:txBody>
      </p:sp>
      <p:sp>
        <p:nvSpPr>
          <p:cNvPr id="62" name="Text 60"/>
          <p:cNvSpPr/>
          <p:nvPr/>
        </p:nvSpPr>
        <p:spPr>
          <a:xfrm>
            <a:off x="11424444" y="4685826"/>
            <a:ext cx="314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10%</a:t>
            </a:r>
            <a:endParaRPr lang="en-US" sz="1600"/>
          </a:p>
        </p:txBody>
      </p:sp>
      <p:sp>
        <p:nvSpPr>
          <p:cNvPr id="63" name="Shape 3">
            <a:extLst>
              <a:ext uri="{FF2B5EF4-FFF2-40B4-BE49-F238E27FC236}">
                <a16:creationId xmlns:a16="http://schemas.microsoft.com/office/drawing/2014/main" id="{1C085312-F2B0-2CE8-85A3-76254EEBA408}"/>
              </a:ext>
            </a:extLst>
          </p:cNvPr>
          <p:cNvSpPr/>
          <p:nvPr/>
        </p:nvSpPr>
        <p:spPr>
          <a:xfrm>
            <a:off x="378279" y="3124201"/>
            <a:ext cx="38099" cy="1948542"/>
          </a:xfrm>
          <a:custGeom>
            <a:avLst/>
            <a:gdLst/>
            <a:ahLst/>
            <a:cxnLst/>
            <a:rect l="l" t="t" r="r" b="b"/>
            <a:pathLst>
              <a:path w="38100" h="1600200">
                <a:moveTo>
                  <a:pt x="38100" y="0"/>
                </a:moveTo>
                <a:lnTo>
                  <a:pt x="38100" y="0"/>
                </a:lnTo>
                <a:lnTo>
                  <a:pt x="38100" y="1600200"/>
                </a:ln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Patient Segmentation</a:t>
            </a:r>
            <a:endParaRPr lang="en-US" sz="160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Patient Segmentation by Clinical Burden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384810" y="1223010"/>
            <a:ext cx="4474845" cy="2446020"/>
          </a:xfrm>
          <a:custGeom>
            <a:avLst/>
            <a:gdLst/>
            <a:ahLst/>
            <a:cxnLst/>
            <a:rect l="l" t="t" r="r" b="b"/>
            <a:pathLst>
              <a:path w="4474845" h="2446020">
                <a:moveTo>
                  <a:pt x="114303" y="0"/>
                </a:moveTo>
                <a:lnTo>
                  <a:pt x="4360542" y="0"/>
                </a:lnTo>
                <a:cubicBezTo>
                  <a:pt x="4423670" y="0"/>
                  <a:pt x="4474845" y="51175"/>
                  <a:pt x="4474845" y="114303"/>
                </a:cubicBezTo>
                <a:lnTo>
                  <a:pt x="4474845" y="2331717"/>
                </a:lnTo>
                <a:cubicBezTo>
                  <a:pt x="4474845" y="2394845"/>
                  <a:pt x="4423670" y="2446020"/>
                  <a:pt x="4360542" y="2446020"/>
                </a:cubicBezTo>
                <a:lnTo>
                  <a:pt x="114303" y="2446020"/>
                </a:lnTo>
                <a:cubicBezTo>
                  <a:pt x="51175" y="2446020"/>
                  <a:pt x="0" y="2394845"/>
                  <a:pt x="0" y="2331717"/>
                </a:cubicBezTo>
                <a:lnTo>
                  <a:pt x="0" y="114303"/>
                </a:lnTo>
                <a:cubicBezTo>
                  <a:pt x="0" y="51175"/>
                  <a:pt x="51175" y="0"/>
                  <a:pt x="11430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1020" y="1379223"/>
            <a:ext cx="4248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Clustering Features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568404" y="179832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58341" y="64591"/>
                </a:moveTo>
                <a:cubicBezTo>
                  <a:pt x="75590" y="64591"/>
                  <a:pt x="89595" y="50587"/>
                  <a:pt x="89595" y="33337"/>
                </a:cubicBezTo>
                <a:cubicBezTo>
                  <a:pt x="89595" y="16088"/>
                  <a:pt x="75590" y="2084"/>
                  <a:pt x="58341" y="2084"/>
                </a:cubicBezTo>
                <a:cubicBezTo>
                  <a:pt x="41091" y="2084"/>
                  <a:pt x="27087" y="16088"/>
                  <a:pt x="27087" y="33337"/>
                </a:cubicBezTo>
                <a:cubicBezTo>
                  <a:pt x="27087" y="50587"/>
                  <a:pt x="41091" y="64591"/>
                  <a:pt x="58341" y="64591"/>
                </a:cubicBezTo>
                <a:close/>
                <a:moveTo>
                  <a:pt x="50605" y="79177"/>
                </a:moveTo>
                <a:cubicBezTo>
                  <a:pt x="24951" y="79177"/>
                  <a:pt x="4167" y="99960"/>
                  <a:pt x="4167" y="125615"/>
                </a:cubicBezTo>
                <a:cubicBezTo>
                  <a:pt x="4167" y="129886"/>
                  <a:pt x="7631" y="133350"/>
                  <a:pt x="11903" y="133350"/>
                </a:cubicBezTo>
                <a:lnTo>
                  <a:pt x="104779" y="133350"/>
                </a:lnTo>
                <a:cubicBezTo>
                  <a:pt x="109050" y="133350"/>
                  <a:pt x="112514" y="129886"/>
                  <a:pt x="112514" y="125615"/>
                </a:cubicBezTo>
                <a:cubicBezTo>
                  <a:pt x="112514" y="99960"/>
                  <a:pt x="91730" y="79177"/>
                  <a:pt x="66076" y="79177"/>
                </a:cubicBezTo>
                <a:lnTo>
                  <a:pt x="50605" y="79177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7" name="Text 5"/>
          <p:cNvSpPr/>
          <p:nvPr/>
        </p:nvSpPr>
        <p:spPr>
          <a:xfrm>
            <a:off x="783908" y="1760223"/>
            <a:ext cx="100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Demographics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783908" y="1950723"/>
            <a:ext cx="100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age_group, SEX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560070" y="225552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28102"/>
                </a:moveTo>
                <a:lnTo>
                  <a:pt x="62768" y="22685"/>
                </a:lnTo>
                <a:cubicBezTo>
                  <a:pt x="56257" y="13674"/>
                  <a:pt x="45813" y="8334"/>
                  <a:pt x="34666" y="8334"/>
                </a:cubicBezTo>
                <a:cubicBezTo>
                  <a:pt x="15523" y="8334"/>
                  <a:pt x="0" y="23857"/>
                  <a:pt x="0" y="43000"/>
                </a:cubicBezTo>
                <a:lnTo>
                  <a:pt x="0" y="43677"/>
                </a:lnTo>
                <a:cubicBezTo>
                  <a:pt x="0" y="49824"/>
                  <a:pt x="1615" y="56179"/>
                  <a:pt x="4323" y="62508"/>
                </a:cubicBezTo>
                <a:lnTo>
                  <a:pt x="31931" y="62508"/>
                </a:lnTo>
                <a:cubicBezTo>
                  <a:pt x="32765" y="62508"/>
                  <a:pt x="33520" y="62013"/>
                  <a:pt x="33858" y="61232"/>
                </a:cubicBezTo>
                <a:lnTo>
                  <a:pt x="42141" y="41359"/>
                </a:lnTo>
                <a:cubicBezTo>
                  <a:pt x="43104" y="39067"/>
                  <a:pt x="45344" y="37557"/>
                  <a:pt x="47818" y="37505"/>
                </a:cubicBezTo>
                <a:cubicBezTo>
                  <a:pt x="50293" y="37453"/>
                  <a:pt x="52585" y="38911"/>
                  <a:pt x="53600" y="41177"/>
                </a:cubicBezTo>
                <a:lnTo>
                  <a:pt x="66961" y="70842"/>
                </a:lnTo>
                <a:lnTo>
                  <a:pt x="77744" y="49277"/>
                </a:lnTo>
                <a:cubicBezTo>
                  <a:pt x="78812" y="47167"/>
                  <a:pt x="80974" y="45813"/>
                  <a:pt x="83344" y="45813"/>
                </a:cubicBezTo>
                <a:cubicBezTo>
                  <a:pt x="85714" y="45813"/>
                  <a:pt x="87876" y="47141"/>
                  <a:pt x="88943" y="49277"/>
                </a:cubicBezTo>
                <a:lnTo>
                  <a:pt x="94986" y="61336"/>
                </a:lnTo>
                <a:cubicBezTo>
                  <a:pt x="95350" y="62039"/>
                  <a:pt x="96054" y="62482"/>
                  <a:pt x="96861" y="62482"/>
                </a:cubicBezTo>
                <a:lnTo>
                  <a:pt x="129053" y="62482"/>
                </a:lnTo>
                <a:cubicBezTo>
                  <a:pt x="131787" y="56153"/>
                  <a:pt x="133376" y="49798"/>
                  <a:pt x="133376" y="43651"/>
                </a:cubicBezTo>
                <a:lnTo>
                  <a:pt x="133376" y="42974"/>
                </a:lnTo>
                <a:cubicBezTo>
                  <a:pt x="133350" y="23857"/>
                  <a:pt x="117827" y="8334"/>
                  <a:pt x="98684" y="8334"/>
                </a:cubicBezTo>
                <a:cubicBezTo>
                  <a:pt x="87563" y="8334"/>
                  <a:pt x="77093" y="13674"/>
                  <a:pt x="70582" y="22685"/>
                </a:cubicBezTo>
                <a:lnTo>
                  <a:pt x="66675" y="28076"/>
                </a:lnTo>
                <a:close/>
                <a:moveTo>
                  <a:pt x="122307" y="75009"/>
                </a:moveTo>
                <a:lnTo>
                  <a:pt x="96835" y="75009"/>
                </a:lnTo>
                <a:cubicBezTo>
                  <a:pt x="91313" y="75009"/>
                  <a:pt x="86261" y="71884"/>
                  <a:pt x="83787" y="66935"/>
                </a:cubicBezTo>
                <a:lnTo>
                  <a:pt x="83344" y="66050"/>
                </a:lnTo>
                <a:lnTo>
                  <a:pt x="72275" y="88214"/>
                </a:lnTo>
                <a:cubicBezTo>
                  <a:pt x="71207" y="90376"/>
                  <a:pt x="68967" y="91730"/>
                  <a:pt x="66545" y="91678"/>
                </a:cubicBezTo>
                <a:cubicBezTo>
                  <a:pt x="64123" y="91626"/>
                  <a:pt x="61961" y="90194"/>
                  <a:pt x="60971" y="88006"/>
                </a:cubicBezTo>
                <a:lnTo>
                  <a:pt x="48131" y="59487"/>
                </a:lnTo>
                <a:lnTo>
                  <a:pt x="45396" y="66050"/>
                </a:lnTo>
                <a:cubicBezTo>
                  <a:pt x="43130" y="71493"/>
                  <a:pt x="37817" y="75035"/>
                  <a:pt x="31931" y="75035"/>
                </a:cubicBezTo>
                <a:lnTo>
                  <a:pt x="11043" y="75035"/>
                </a:lnTo>
                <a:cubicBezTo>
                  <a:pt x="23336" y="94257"/>
                  <a:pt x="43078" y="111941"/>
                  <a:pt x="55424" y="121369"/>
                </a:cubicBezTo>
                <a:cubicBezTo>
                  <a:pt x="58653" y="123818"/>
                  <a:pt x="62612" y="125042"/>
                  <a:pt x="66649" y="125042"/>
                </a:cubicBezTo>
                <a:cubicBezTo>
                  <a:pt x="70686" y="125042"/>
                  <a:pt x="74671" y="123844"/>
                  <a:pt x="77874" y="121369"/>
                </a:cubicBezTo>
                <a:cubicBezTo>
                  <a:pt x="90272" y="111915"/>
                  <a:pt x="110014" y="94231"/>
                  <a:pt x="122307" y="75009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0" name="Text 8"/>
          <p:cNvSpPr/>
          <p:nvPr/>
        </p:nvSpPr>
        <p:spPr>
          <a:xfrm>
            <a:off x="783908" y="2217423"/>
            <a:ext cx="1819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 Factors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783908" y="2407923"/>
            <a:ext cx="1819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JTPAIN1, VISION2, HEARNG2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568404" y="271272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66805" y="-8334"/>
                </a:moveTo>
                <a:cubicBezTo>
                  <a:pt x="74855" y="-8334"/>
                  <a:pt x="81390" y="-1799"/>
                  <a:pt x="81390" y="6251"/>
                </a:cubicBezTo>
                <a:cubicBezTo>
                  <a:pt x="81390" y="14301"/>
                  <a:pt x="74855" y="20836"/>
                  <a:pt x="66805" y="20836"/>
                </a:cubicBezTo>
                <a:cubicBezTo>
                  <a:pt x="58755" y="20836"/>
                  <a:pt x="52220" y="14301"/>
                  <a:pt x="52220" y="6251"/>
                </a:cubicBezTo>
                <a:cubicBezTo>
                  <a:pt x="52220" y="-1799"/>
                  <a:pt x="58755" y="-8334"/>
                  <a:pt x="66805" y="-8334"/>
                </a:cubicBezTo>
                <a:close/>
                <a:moveTo>
                  <a:pt x="32192" y="45839"/>
                </a:moveTo>
                <a:cubicBezTo>
                  <a:pt x="31332" y="45839"/>
                  <a:pt x="30577" y="46360"/>
                  <a:pt x="30264" y="47141"/>
                </a:cubicBezTo>
                <a:lnTo>
                  <a:pt x="24534" y="61440"/>
                </a:lnTo>
                <a:cubicBezTo>
                  <a:pt x="22815" y="65711"/>
                  <a:pt x="17971" y="67795"/>
                  <a:pt x="13700" y="66076"/>
                </a:cubicBezTo>
                <a:cubicBezTo>
                  <a:pt x="9428" y="64357"/>
                  <a:pt x="7345" y="59513"/>
                  <a:pt x="9064" y="55241"/>
                </a:cubicBezTo>
                <a:lnTo>
                  <a:pt x="14767" y="40943"/>
                </a:lnTo>
                <a:cubicBezTo>
                  <a:pt x="17632" y="33832"/>
                  <a:pt x="24508" y="29170"/>
                  <a:pt x="32192" y="29170"/>
                </a:cubicBezTo>
                <a:lnTo>
                  <a:pt x="57533" y="29170"/>
                </a:lnTo>
                <a:cubicBezTo>
                  <a:pt x="64956" y="29170"/>
                  <a:pt x="71806" y="33103"/>
                  <a:pt x="75530" y="39510"/>
                </a:cubicBezTo>
                <a:lnTo>
                  <a:pt x="84073" y="54173"/>
                </a:lnTo>
                <a:lnTo>
                  <a:pt x="100117" y="54173"/>
                </a:lnTo>
                <a:cubicBezTo>
                  <a:pt x="104727" y="54173"/>
                  <a:pt x="108451" y="57898"/>
                  <a:pt x="108451" y="62508"/>
                </a:cubicBezTo>
                <a:cubicBezTo>
                  <a:pt x="108451" y="67118"/>
                  <a:pt x="104727" y="70842"/>
                  <a:pt x="100117" y="70842"/>
                </a:cubicBezTo>
                <a:lnTo>
                  <a:pt x="84073" y="70842"/>
                </a:lnTo>
                <a:cubicBezTo>
                  <a:pt x="78135" y="70842"/>
                  <a:pt x="72665" y="67691"/>
                  <a:pt x="69670" y="62560"/>
                </a:cubicBezTo>
                <a:lnTo>
                  <a:pt x="67066" y="58106"/>
                </a:lnTo>
                <a:lnTo>
                  <a:pt x="61674" y="76442"/>
                </a:lnTo>
                <a:lnTo>
                  <a:pt x="81312" y="82328"/>
                </a:lnTo>
                <a:cubicBezTo>
                  <a:pt x="88527" y="84490"/>
                  <a:pt x="92199" y="92486"/>
                  <a:pt x="89152" y="99387"/>
                </a:cubicBezTo>
                <a:lnTo>
                  <a:pt x="74410" y="132569"/>
                </a:lnTo>
                <a:cubicBezTo>
                  <a:pt x="72535" y="136788"/>
                  <a:pt x="67613" y="138663"/>
                  <a:pt x="63419" y="136788"/>
                </a:cubicBezTo>
                <a:cubicBezTo>
                  <a:pt x="59226" y="134913"/>
                  <a:pt x="57325" y="129990"/>
                  <a:pt x="59200" y="125797"/>
                </a:cubicBezTo>
                <a:lnTo>
                  <a:pt x="72014" y="96939"/>
                </a:lnTo>
                <a:lnTo>
                  <a:pt x="47037" y="89438"/>
                </a:lnTo>
                <a:cubicBezTo>
                  <a:pt x="38520" y="86886"/>
                  <a:pt x="33494" y="78057"/>
                  <a:pt x="35655" y="69436"/>
                </a:cubicBezTo>
                <a:lnTo>
                  <a:pt x="41568" y="45839"/>
                </a:lnTo>
                <a:lnTo>
                  <a:pt x="32218" y="45839"/>
                </a:lnTo>
                <a:close/>
                <a:moveTo>
                  <a:pt x="30108" y="92980"/>
                </a:moveTo>
                <a:cubicBezTo>
                  <a:pt x="33572" y="96861"/>
                  <a:pt x="38104" y="99830"/>
                  <a:pt x="43443" y="101419"/>
                </a:cubicBezTo>
                <a:lnTo>
                  <a:pt x="44667" y="101784"/>
                </a:lnTo>
                <a:lnTo>
                  <a:pt x="42870" y="106810"/>
                </a:lnTo>
                <a:cubicBezTo>
                  <a:pt x="41359" y="111056"/>
                  <a:pt x="38703" y="114832"/>
                  <a:pt x="35239" y="117697"/>
                </a:cubicBezTo>
                <a:lnTo>
                  <a:pt x="13778" y="135382"/>
                </a:lnTo>
                <a:cubicBezTo>
                  <a:pt x="10236" y="138299"/>
                  <a:pt x="4975" y="137804"/>
                  <a:pt x="2058" y="134262"/>
                </a:cubicBezTo>
                <a:cubicBezTo>
                  <a:pt x="-859" y="130719"/>
                  <a:pt x="-365" y="125458"/>
                  <a:pt x="3177" y="122541"/>
                </a:cubicBezTo>
                <a:lnTo>
                  <a:pt x="24638" y="104857"/>
                </a:lnTo>
                <a:cubicBezTo>
                  <a:pt x="25811" y="103893"/>
                  <a:pt x="26670" y="102643"/>
                  <a:pt x="27191" y="101237"/>
                </a:cubicBezTo>
                <a:lnTo>
                  <a:pt x="30108" y="9298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3" name="Text 11"/>
          <p:cNvSpPr/>
          <p:nvPr/>
        </p:nvSpPr>
        <p:spPr>
          <a:xfrm>
            <a:off x="783908" y="2674623"/>
            <a:ext cx="2228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Lifestyle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783908" y="2865123"/>
            <a:ext cx="2228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ADSMOK2, PHYACT3, bmi_category</a:t>
            </a:r>
            <a:endParaRPr lang="en-US" sz="1600"/>
          </a:p>
        </p:txBody>
      </p:sp>
      <p:sp>
        <p:nvSpPr>
          <p:cNvPr id="15" name="Shape 13"/>
          <p:cNvSpPr/>
          <p:nvPr/>
        </p:nvSpPr>
        <p:spPr>
          <a:xfrm>
            <a:off x="560070" y="316992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1596" y="7657"/>
                </a:moveTo>
                <a:lnTo>
                  <a:pt x="58341" y="12502"/>
                </a:lnTo>
                <a:cubicBezTo>
                  <a:pt x="53132" y="20315"/>
                  <a:pt x="44381" y="25003"/>
                  <a:pt x="34978" y="25003"/>
                </a:cubicBezTo>
                <a:lnTo>
                  <a:pt x="17711" y="25003"/>
                </a:lnTo>
                <a:cubicBezTo>
                  <a:pt x="7944" y="25003"/>
                  <a:pt x="26" y="32921"/>
                  <a:pt x="26" y="42688"/>
                </a:cubicBezTo>
                <a:cubicBezTo>
                  <a:pt x="26" y="47376"/>
                  <a:pt x="1901" y="51855"/>
                  <a:pt x="5209" y="55163"/>
                </a:cubicBezTo>
                <a:lnTo>
                  <a:pt x="12241" y="62195"/>
                </a:lnTo>
                <a:cubicBezTo>
                  <a:pt x="15106" y="65060"/>
                  <a:pt x="16721" y="68941"/>
                  <a:pt x="16721" y="73004"/>
                </a:cubicBezTo>
                <a:cubicBezTo>
                  <a:pt x="16721" y="77119"/>
                  <a:pt x="15054" y="81052"/>
                  <a:pt x="12111" y="83943"/>
                </a:cubicBezTo>
                <a:lnTo>
                  <a:pt x="8699" y="87277"/>
                </a:lnTo>
                <a:cubicBezTo>
                  <a:pt x="5808" y="90089"/>
                  <a:pt x="4193" y="93970"/>
                  <a:pt x="4193" y="98007"/>
                </a:cubicBezTo>
                <a:cubicBezTo>
                  <a:pt x="4193" y="107592"/>
                  <a:pt x="13075" y="114728"/>
                  <a:pt x="22451" y="112644"/>
                </a:cubicBezTo>
                <a:lnTo>
                  <a:pt x="38677" y="109050"/>
                </a:lnTo>
                <a:cubicBezTo>
                  <a:pt x="40682" y="108607"/>
                  <a:pt x="42766" y="108373"/>
                  <a:pt x="44823" y="108373"/>
                </a:cubicBezTo>
                <a:cubicBezTo>
                  <a:pt x="53366" y="108373"/>
                  <a:pt x="61544" y="112175"/>
                  <a:pt x="67014" y="118739"/>
                </a:cubicBezTo>
                <a:lnTo>
                  <a:pt x="74957" y="128271"/>
                </a:lnTo>
                <a:cubicBezTo>
                  <a:pt x="77666" y="131501"/>
                  <a:pt x="81651" y="133376"/>
                  <a:pt x="85870" y="133376"/>
                </a:cubicBezTo>
                <a:cubicBezTo>
                  <a:pt x="93710" y="133376"/>
                  <a:pt x="100065" y="127021"/>
                  <a:pt x="100065" y="119182"/>
                </a:cubicBezTo>
                <a:lnTo>
                  <a:pt x="100065" y="105847"/>
                </a:lnTo>
                <a:cubicBezTo>
                  <a:pt x="100065" y="95064"/>
                  <a:pt x="106680" y="85401"/>
                  <a:pt x="116733" y="81495"/>
                </a:cubicBezTo>
                <a:lnTo>
                  <a:pt x="122515" y="79255"/>
                </a:lnTo>
                <a:cubicBezTo>
                  <a:pt x="129079" y="76702"/>
                  <a:pt x="133402" y="70373"/>
                  <a:pt x="133402" y="63341"/>
                </a:cubicBezTo>
                <a:cubicBezTo>
                  <a:pt x="133402" y="56465"/>
                  <a:pt x="129261" y="50241"/>
                  <a:pt x="122906" y="47584"/>
                </a:cubicBezTo>
                <a:lnTo>
                  <a:pt x="111733" y="42922"/>
                </a:lnTo>
                <a:cubicBezTo>
                  <a:pt x="103086" y="39302"/>
                  <a:pt x="96731" y="31723"/>
                  <a:pt x="94673" y="22581"/>
                </a:cubicBezTo>
                <a:lnTo>
                  <a:pt x="92616" y="13413"/>
                </a:lnTo>
                <a:cubicBezTo>
                  <a:pt x="90845" y="5574"/>
                  <a:pt x="83891" y="0"/>
                  <a:pt x="75869" y="0"/>
                </a:cubicBezTo>
                <a:cubicBezTo>
                  <a:pt x="70139" y="0"/>
                  <a:pt x="64774" y="2865"/>
                  <a:pt x="61596" y="7657"/>
                </a:cubicBezTo>
                <a:close/>
                <a:moveTo>
                  <a:pt x="41672" y="50006"/>
                </a:moveTo>
                <a:cubicBezTo>
                  <a:pt x="46272" y="50006"/>
                  <a:pt x="50006" y="53741"/>
                  <a:pt x="50006" y="58341"/>
                </a:cubicBezTo>
                <a:cubicBezTo>
                  <a:pt x="50006" y="62940"/>
                  <a:pt x="46272" y="66675"/>
                  <a:pt x="41672" y="66675"/>
                </a:cubicBezTo>
                <a:cubicBezTo>
                  <a:pt x="37072" y="66675"/>
                  <a:pt x="33337" y="62940"/>
                  <a:pt x="33337" y="58341"/>
                </a:cubicBezTo>
                <a:cubicBezTo>
                  <a:pt x="33337" y="53741"/>
                  <a:pt x="37072" y="50006"/>
                  <a:pt x="41672" y="50006"/>
                </a:cubicBezTo>
                <a:close/>
                <a:moveTo>
                  <a:pt x="66675" y="50006"/>
                </a:moveTo>
                <a:cubicBezTo>
                  <a:pt x="66675" y="45406"/>
                  <a:pt x="70410" y="41672"/>
                  <a:pt x="75009" y="41672"/>
                </a:cubicBezTo>
                <a:cubicBezTo>
                  <a:pt x="79609" y="41672"/>
                  <a:pt x="83344" y="45406"/>
                  <a:pt x="83344" y="50006"/>
                </a:cubicBezTo>
                <a:cubicBezTo>
                  <a:pt x="83344" y="54606"/>
                  <a:pt x="79609" y="58341"/>
                  <a:pt x="75009" y="58341"/>
                </a:cubicBezTo>
                <a:cubicBezTo>
                  <a:pt x="70410" y="58341"/>
                  <a:pt x="66675" y="54606"/>
                  <a:pt x="66675" y="50006"/>
                </a:cubicBezTo>
                <a:close/>
                <a:moveTo>
                  <a:pt x="75009" y="75009"/>
                </a:moveTo>
                <a:cubicBezTo>
                  <a:pt x="79609" y="75009"/>
                  <a:pt x="83344" y="78744"/>
                  <a:pt x="83344" y="83344"/>
                </a:cubicBezTo>
                <a:cubicBezTo>
                  <a:pt x="83344" y="87944"/>
                  <a:pt x="79609" y="91678"/>
                  <a:pt x="75009" y="91678"/>
                </a:cubicBezTo>
                <a:cubicBezTo>
                  <a:pt x="70410" y="91678"/>
                  <a:pt x="66675" y="87944"/>
                  <a:pt x="66675" y="83344"/>
                </a:cubicBezTo>
                <a:cubicBezTo>
                  <a:pt x="66675" y="78744"/>
                  <a:pt x="70410" y="75009"/>
                  <a:pt x="75009" y="75009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6" name="Text 14"/>
          <p:cNvSpPr/>
          <p:nvPr/>
        </p:nvSpPr>
        <p:spPr>
          <a:xfrm>
            <a:off x="783908" y="3131823"/>
            <a:ext cx="1514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Chronic Burden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783908" y="3322323"/>
            <a:ext cx="1514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total_chronic_conditions</a:t>
            </a:r>
            <a:endParaRPr lang="en-US" sz="1600"/>
          </a:p>
        </p:txBody>
      </p:sp>
      <p:sp>
        <p:nvSpPr>
          <p:cNvPr id="18" name="Shape 16"/>
          <p:cNvSpPr/>
          <p:nvPr/>
        </p:nvSpPr>
        <p:spPr>
          <a:xfrm>
            <a:off x="384810" y="3790951"/>
            <a:ext cx="4474845" cy="1493520"/>
          </a:xfrm>
          <a:custGeom>
            <a:avLst/>
            <a:gdLst/>
            <a:ahLst/>
            <a:cxnLst/>
            <a:rect l="l" t="t" r="r" b="b"/>
            <a:pathLst>
              <a:path w="4474845" h="1493520">
                <a:moveTo>
                  <a:pt x="114299" y="0"/>
                </a:moveTo>
                <a:lnTo>
                  <a:pt x="4360546" y="0"/>
                </a:lnTo>
                <a:cubicBezTo>
                  <a:pt x="4423672" y="0"/>
                  <a:pt x="4474845" y="51173"/>
                  <a:pt x="4474845" y="114299"/>
                </a:cubicBezTo>
                <a:lnTo>
                  <a:pt x="4474845" y="1379221"/>
                </a:lnTo>
                <a:cubicBezTo>
                  <a:pt x="4474845" y="1442347"/>
                  <a:pt x="4423672" y="1493520"/>
                  <a:pt x="4360546" y="1493520"/>
                </a:cubicBezTo>
                <a:lnTo>
                  <a:pt x="114299" y="1493520"/>
                </a:lnTo>
                <a:cubicBezTo>
                  <a:pt x="51216" y="1493520"/>
                  <a:pt x="0" y="1442304"/>
                  <a:pt x="0" y="137922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 w="10160">
            <a:solidFill>
              <a:srgbClr val="0071E3">
                <a:alpha val="2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1020" y="3947159"/>
            <a:ext cx="4248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Cluster Selection</a:t>
            </a:r>
            <a:endParaRPr lang="en-US" sz="1600"/>
          </a:p>
        </p:txBody>
      </p:sp>
      <p:sp>
        <p:nvSpPr>
          <p:cNvPr id="20" name="Text 18"/>
          <p:cNvSpPr/>
          <p:nvPr/>
        </p:nvSpPr>
        <p:spPr>
          <a:xfrm>
            <a:off x="541020" y="4290059"/>
            <a:ext cx="4229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Silhouette score indicates </a:t>
            </a:r>
            <a:r>
              <a:rPr lang="en-US" sz="105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 = 2</a:t>
            </a:r>
            <a:r>
              <a:rPr lang="en-US" sz="105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provides optimal cluster separation with highest score.</a:t>
            </a:r>
            <a:endParaRPr lang="en-US" sz="1600"/>
          </a:p>
        </p:txBody>
      </p:sp>
      <p:sp>
        <p:nvSpPr>
          <p:cNvPr id="21" name="Text 19"/>
          <p:cNvSpPr/>
          <p:nvPr/>
        </p:nvSpPr>
        <p:spPr>
          <a:xfrm>
            <a:off x="541020" y="4747259"/>
            <a:ext cx="4229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PCA projection shows two clearly distinguishable patient groups based on clinical burden.</a:t>
            </a:r>
            <a:endParaRPr lang="en-US" sz="1600"/>
          </a:p>
        </p:txBody>
      </p:sp>
      <p:sp>
        <p:nvSpPr>
          <p:cNvPr id="22" name="Shape 20"/>
          <p:cNvSpPr/>
          <p:nvPr/>
        </p:nvSpPr>
        <p:spPr>
          <a:xfrm>
            <a:off x="384810" y="5406392"/>
            <a:ext cx="4474845" cy="1074420"/>
          </a:xfrm>
          <a:custGeom>
            <a:avLst/>
            <a:gdLst/>
            <a:ahLst/>
            <a:cxnLst/>
            <a:rect l="l" t="t" r="r" b="b"/>
            <a:pathLst>
              <a:path w="4474845" h="1074420">
                <a:moveTo>
                  <a:pt x="114297" y="0"/>
                </a:moveTo>
                <a:lnTo>
                  <a:pt x="4360548" y="0"/>
                </a:lnTo>
                <a:cubicBezTo>
                  <a:pt x="4423673" y="0"/>
                  <a:pt x="4474845" y="51172"/>
                  <a:pt x="4474845" y="114297"/>
                </a:cubicBezTo>
                <a:lnTo>
                  <a:pt x="4474845" y="960123"/>
                </a:lnTo>
                <a:cubicBezTo>
                  <a:pt x="4474845" y="1023248"/>
                  <a:pt x="4423673" y="1074420"/>
                  <a:pt x="4360548" y="1074420"/>
                </a:cubicBezTo>
                <a:lnTo>
                  <a:pt x="114297" y="1074420"/>
                </a:lnTo>
                <a:cubicBezTo>
                  <a:pt x="51172" y="1074420"/>
                  <a:pt x="0" y="1023248"/>
                  <a:pt x="0" y="96012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1020" y="5562600"/>
            <a:ext cx="4248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Applications</a:t>
            </a:r>
            <a:endParaRPr lang="en-US" sz="1600"/>
          </a:p>
        </p:txBody>
      </p:sp>
      <p:sp>
        <p:nvSpPr>
          <p:cNvPr id="24" name="Text 22"/>
          <p:cNvSpPr/>
          <p:nvPr/>
        </p:nvSpPr>
        <p:spPr>
          <a:xfrm>
            <a:off x="541020" y="5905500"/>
            <a:ext cx="422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Risk-stratified predictive modeling</a:t>
            </a:r>
            <a:endParaRPr lang="en-US" sz="1600"/>
          </a:p>
        </p:txBody>
      </p:sp>
      <p:sp>
        <p:nvSpPr>
          <p:cNvPr id="25" name="Text 23"/>
          <p:cNvSpPr/>
          <p:nvPr/>
        </p:nvSpPr>
        <p:spPr>
          <a:xfrm>
            <a:off x="541020" y="6134100"/>
            <a:ext cx="422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Targeted intervention strategies</a:t>
            </a:r>
            <a:endParaRPr lang="en-US" sz="1600"/>
          </a:p>
        </p:txBody>
      </p:sp>
      <p:sp>
        <p:nvSpPr>
          <p:cNvPr id="26" name="Shape 24"/>
          <p:cNvSpPr/>
          <p:nvPr/>
        </p:nvSpPr>
        <p:spPr>
          <a:xfrm>
            <a:off x="5017770" y="1223010"/>
            <a:ext cx="6789420" cy="4389120"/>
          </a:xfrm>
          <a:custGeom>
            <a:avLst/>
            <a:gdLst/>
            <a:ahLst/>
            <a:cxnLst/>
            <a:rect l="l" t="t" r="r" b="b"/>
            <a:pathLst>
              <a:path w="6789420" h="4389120">
                <a:moveTo>
                  <a:pt x="114293" y="0"/>
                </a:moveTo>
                <a:lnTo>
                  <a:pt x="6675127" y="0"/>
                </a:lnTo>
                <a:cubicBezTo>
                  <a:pt x="6738249" y="0"/>
                  <a:pt x="6789420" y="51171"/>
                  <a:pt x="6789420" y="114293"/>
                </a:cubicBezTo>
                <a:lnTo>
                  <a:pt x="6789420" y="4274827"/>
                </a:lnTo>
                <a:cubicBezTo>
                  <a:pt x="6789420" y="4337949"/>
                  <a:pt x="6738249" y="4389120"/>
                  <a:pt x="6675127" y="4389120"/>
                </a:cubicBezTo>
                <a:lnTo>
                  <a:pt x="114293" y="4389120"/>
                </a:lnTo>
                <a:cubicBezTo>
                  <a:pt x="51171" y="4389120"/>
                  <a:pt x="0" y="4337949"/>
                  <a:pt x="0" y="427482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73980" y="1379223"/>
            <a:ext cx="6562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Cluster Profile Comparison</a:t>
            </a:r>
            <a:endParaRPr lang="en-US" sz="160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73980" y="1760223"/>
          <a:ext cx="6477000" cy="3695700"/>
        </p:xfrm>
        <a:graphic>
          <a:graphicData uri="http://schemas.openxmlformats.org/drawingml/2006/table">
            <a:tbl>
              <a:tblPr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5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5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9570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>
                          <a:solidFill>
                            <a:srgbClr val="8686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Clinical Burden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>
                          <a:solidFill>
                            <a:srgbClr val="0071E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Cluster 0(High Burden)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>
                          <a:solidFill>
                            <a:srgbClr val="8686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Cluster 1(Low Burden)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r>
                        <a:rPr lang="en-US" sz="1000" u="none">
                          <a:solidFill>
                            <a:srgbClr val="8686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Cluster Size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15,905 (34%)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33,915 (66%)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r>
                        <a:rPr lang="en-US" sz="1000" u="none">
                          <a:solidFill>
                            <a:srgbClr val="8686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Age Group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61.0 years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44.0 years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r>
                        <a:rPr lang="en-US" sz="1000" u="none">
                          <a:solidFill>
                            <a:srgbClr val="8686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Total Chronic Conditions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>
                          <a:solidFill>
                            <a:srgbClr val="0071E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3.48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1.57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r>
                        <a:rPr lang="en-US" sz="1000" u="none">
                          <a:solidFill>
                            <a:srgbClr val="8686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Joint Pain (%)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>
                          <a:solidFill>
                            <a:srgbClr val="0071E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44.0%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19.0%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r>
                        <a:rPr lang="en-US" sz="1000" u="none">
                          <a:solidFill>
                            <a:srgbClr val="8686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Vision Impairment (%)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>
                          <a:solidFill>
                            <a:srgbClr val="0071E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19.0%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7.0%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r>
                        <a:rPr lang="en-US" sz="1000" u="none">
                          <a:solidFill>
                            <a:srgbClr val="8686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Hearing Impairment (%)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>
                          <a:solidFill>
                            <a:srgbClr val="0071E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17.0%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2.0%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r>
                        <a:rPr lang="en-US" sz="1000" u="none">
                          <a:solidFill>
                            <a:srgbClr val="8686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Smoking (%)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14.0%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17.0%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r>
                        <a:rPr lang="en-US" sz="1000" u="none">
                          <a:solidFill>
                            <a:srgbClr val="8686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Physical Activity (%)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7.0%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>
                          <a:solidFill>
                            <a:srgbClr val="0071E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62.0%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r>
                        <a:rPr lang="en-US" sz="1000" u="none">
                          <a:solidFill>
                            <a:srgbClr val="8686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BMI Category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3.21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2.83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9" name="Shape 26"/>
          <p:cNvSpPr/>
          <p:nvPr/>
        </p:nvSpPr>
        <p:spPr>
          <a:xfrm>
            <a:off x="5017770" y="5734051"/>
            <a:ext cx="3331845" cy="998220"/>
          </a:xfrm>
          <a:custGeom>
            <a:avLst/>
            <a:gdLst/>
            <a:ahLst/>
            <a:cxnLst/>
            <a:rect l="l" t="t" r="r" b="b"/>
            <a:pathLst>
              <a:path w="3331845" h="998220">
                <a:moveTo>
                  <a:pt x="114296" y="0"/>
                </a:moveTo>
                <a:lnTo>
                  <a:pt x="3217549" y="0"/>
                </a:lnTo>
                <a:cubicBezTo>
                  <a:pt x="3280673" y="0"/>
                  <a:pt x="3331845" y="51172"/>
                  <a:pt x="3331845" y="114296"/>
                </a:cubicBezTo>
                <a:lnTo>
                  <a:pt x="3331845" y="883924"/>
                </a:lnTo>
                <a:cubicBezTo>
                  <a:pt x="3331845" y="947048"/>
                  <a:pt x="3280673" y="998220"/>
                  <a:pt x="3217549" y="998220"/>
                </a:cubicBezTo>
                <a:lnTo>
                  <a:pt x="114296" y="998220"/>
                </a:lnTo>
                <a:cubicBezTo>
                  <a:pt x="51172" y="998220"/>
                  <a:pt x="0" y="947048"/>
                  <a:pt x="0" y="8839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 w="10160">
            <a:solidFill>
              <a:srgbClr val="0071E3">
                <a:alpha val="30196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173980" y="5890259"/>
            <a:ext cx="3095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Cluster 0: High Clinical Burden</a:t>
            </a:r>
            <a:endParaRPr lang="en-US" sz="1600"/>
          </a:p>
        </p:txBody>
      </p:sp>
      <p:sp>
        <p:nvSpPr>
          <p:cNvPr id="31" name="Text 28"/>
          <p:cNvSpPr/>
          <p:nvPr/>
        </p:nvSpPr>
        <p:spPr>
          <a:xfrm>
            <a:off x="5173980" y="6195059"/>
            <a:ext cx="3086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Older age, higher chronic conditions, more health factor issues with less physical activity</a:t>
            </a:r>
            <a:endParaRPr lang="en-US" sz="1600"/>
          </a:p>
        </p:txBody>
      </p:sp>
      <p:sp>
        <p:nvSpPr>
          <p:cNvPr id="32" name="Shape 29"/>
          <p:cNvSpPr/>
          <p:nvPr/>
        </p:nvSpPr>
        <p:spPr>
          <a:xfrm>
            <a:off x="8473440" y="5734051"/>
            <a:ext cx="3331845" cy="998220"/>
          </a:xfrm>
          <a:custGeom>
            <a:avLst/>
            <a:gdLst/>
            <a:ahLst/>
            <a:cxnLst/>
            <a:rect l="l" t="t" r="r" b="b"/>
            <a:pathLst>
              <a:path w="3331845" h="998220">
                <a:moveTo>
                  <a:pt x="114296" y="0"/>
                </a:moveTo>
                <a:lnTo>
                  <a:pt x="3217549" y="0"/>
                </a:lnTo>
                <a:cubicBezTo>
                  <a:pt x="3280673" y="0"/>
                  <a:pt x="3331845" y="51172"/>
                  <a:pt x="3331845" y="114296"/>
                </a:cubicBezTo>
                <a:lnTo>
                  <a:pt x="3331845" y="883924"/>
                </a:lnTo>
                <a:cubicBezTo>
                  <a:pt x="3331845" y="947048"/>
                  <a:pt x="3280673" y="998220"/>
                  <a:pt x="3217549" y="998220"/>
                </a:cubicBezTo>
                <a:lnTo>
                  <a:pt x="114296" y="998220"/>
                </a:lnTo>
                <a:cubicBezTo>
                  <a:pt x="51172" y="998220"/>
                  <a:pt x="0" y="947048"/>
                  <a:pt x="0" y="8839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E1EDF8"/>
          </a:solidFill>
          <a:ln w="10160">
            <a:solidFill>
              <a:srgbClr val="86868B">
                <a:alpha val="30196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629650" y="5890259"/>
            <a:ext cx="3095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0071E3"/>
                </a:solidFill>
                <a:latin typeface="Liter"/>
                <a:ea typeface="Liter" pitchFamily="34" charset="-122"/>
                <a:cs typeface="Liter" pitchFamily="34" charset="-120"/>
              </a:rPr>
              <a:t>Cluster 1: Low Clinical Burden</a:t>
            </a:r>
            <a:endParaRPr lang="en-US" sz="1600">
              <a:solidFill>
                <a:srgbClr val="0071E3"/>
              </a:solidFill>
              <a:latin typeface="Liter"/>
              <a:ea typeface="Calibri"/>
              <a:cs typeface="Calibri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8629650" y="6195059"/>
            <a:ext cx="3086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Younger age, lower chronic conditions, fewer health issues with high physical activity</a:t>
            </a:r>
            <a:endParaRPr lang="en-US" sz="160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Exploratory Data Analysis</a:t>
            </a:r>
            <a:endParaRPr lang="en-US" sz="160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Chronic Conditions &amp; Healthcare Expenditure by Age and Sex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384810" y="1223010"/>
            <a:ext cx="5589270" cy="4617720"/>
          </a:xfrm>
          <a:custGeom>
            <a:avLst/>
            <a:gdLst/>
            <a:ahLst/>
            <a:cxnLst/>
            <a:rect l="l" t="t" r="r" b="b"/>
            <a:pathLst>
              <a:path w="5589270" h="4617720">
                <a:moveTo>
                  <a:pt x="114289" y="0"/>
                </a:moveTo>
                <a:lnTo>
                  <a:pt x="5474981" y="0"/>
                </a:lnTo>
                <a:cubicBezTo>
                  <a:pt x="5538059" y="0"/>
                  <a:pt x="5589270" y="51211"/>
                  <a:pt x="5589270" y="114289"/>
                </a:cubicBezTo>
                <a:lnTo>
                  <a:pt x="5589270" y="4503431"/>
                </a:lnTo>
                <a:cubicBezTo>
                  <a:pt x="5589270" y="4566509"/>
                  <a:pt x="5538059" y="4617720"/>
                  <a:pt x="5474981" y="4617720"/>
                </a:cubicBezTo>
                <a:lnTo>
                  <a:pt x="114289" y="4617720"/>
                </a:lnTo>
                <a:cubicBezTo>
                  <a:pt x="51211" y="4617720"/>
                  <a:pt x="0" y="4566509"/>
                  <a:pt x="0" y="4503431"/>
                </a:cubicBezTo>
                <a:lnTo>
                  <a:pt x="0" y="114289"/>
                </a:lnTo>
                <a:cubicBezTo>
                  <a:pt x="0" y="51211"/>
                  <a:pt x="51211" y="0"/>
                  <a:pt x="114289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9120" y="1417323"/>
            <a:ext cx="5286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Findings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598170" y="1836423"/>
            <a:ext cx="5181600" cy="952500"/>
          </a:xfrm>
          <a:custGeom>
            <a:avLst/>
            <a:gdLst/>
            <a:ahLst/>
            <a:cxnLst/>
            <a:rect l="l" t="t" r="r" b="b"/>
            <a:pathLst>
              <a:path w="5181600" h="952500">
                <a:moveTo>
                  <a:pt x="38100" y="0"/>
                </a:moveTo>
                <a:lnTo>
                  <a:pt x="5105400" y="0"/>
                </a:lnTo>
                <a:cubicBezTo>
                  <a:pt x="5147456" y="0"/>
                  <a:pt x="5181600" y="34144"/>
                  <a:pt x="5181600" y="76200"/>
                </a:cubicBezTo>
                <a:lnTo>
                  <a:pt x="5181600" y="876300"/>
                </a:lnTo>
                <a:cubicBezTo>
                  <a:pt x="5181600" y="918356"/>
                  <a:pt x="5147456" y="952500"/>
                  <a:pt x="5105400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98170" y="1836423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3810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8" name="Shape 6"/>
          <p:cNvSpPr/>
          <p:nvPr/>
        </p:nvSpPr>
        <p:spPr>
          <a:xfrm>
            <a:off x="769620" y="198882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9" name="Shape 7"/>
          <p:cNvSpPr/>
          <p:nvPr/>
        </p:nvSpPr>
        <p:spPr>
          <a:xfrm>
            <a:off x="883920" y="210312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264920" y="1988823"/>
            <a:ext cx="4438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Age-Related Increase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1264920" y="2255523"/>
            <a:ext cx="44291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Both chronic conditions and healthcare expenditure </a:t>
            </a:r>
            <a:r>
              <a:rPr lang="en-US" sz="1050" b="1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rise sharply with age</a:t>
            </a: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especially after 45 years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598170" y="2941323"/>
            <a:ext cx="5181600" cy="952500"/>
          </a:xfrm>
          <a:custGeom>
            <a:avLst/>
            <a:gdLst/>
            <a:ahLst/>
            <a:cxnLst/>
            <a:rect l="l" t="t" r="r" b="b"/>
            <a:pathLst>
              <a:path w="5181600" h="952500">
                <a:moveTo>
                  <a:pt x="38100" y="0"/>
                </a:moveTo>
                <a:lnTo>
                  <a:pt x="5105400" y="0"/>
                </a:lnTo>
                <a:cubicBezTo>
                  <a:pt x="5147456" y="0"/>
                  <a:pt x="5181600" y="34144"/>
                  <a:pt x="5181600" y="76200"/>
                </a:cubicBezTo>
                <a:lnTo>
                  <a:pt x="5181600" y="876300"/>
                </a:lnTo>
                <a:cubicBezTo>
                  <a:pt x="5181600" y="918356"/>
                  <a:pt x="5147456" y="952500"/>
                  <a:pt x="5105400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98170" y="2941323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3810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4" name="Shape 12"/>
          <p:cNvSpPr/>
          <p:nvPr/>
        </p:nvSpPr>
        <p:spPr>
          <a:xfrm>
            <a:off x="769620" y="309372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5" name="Shape 13"/>
          <p:cNvSpPr/>
          <p:nvPr/>
        </p:nvSpPr>
        <p:spPr>
          <a:xfrm>
            <a:off x="864870" y="3208023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42875" y="-19050"/>
                </a:moveTo>
                <a:cubicBezTo>
                  <a:pt x="137606" y="-19050"/>
                  <a:pt x="133350" y="-14794"/>
                  <a:pt x="133350" y="-9525"/>
                </a:cubicBezTo>
                <a:cubicBezTo>
                  <a:pt x="133350" y="-4256"/>
                  <a:pt x="137606" y="0"/>
                  <a:pt x="142875" y="0"/>
                </a:cubicBezTo>
                <a:lnTo>
                  <a:pt x="157966" y="0"/>
                </a:lnTo>
                <a:lnTo>
                  <a:pt x="141089" y="16877"/>
                </a:lnTo>
                <a:cubicBezTo>
                  <a:pt x="133261" y="12204"/>
                  <a:pt x="124093" y="9525"/>
                  <a:pt x="114300" y="9525"/>
                </a:cubicBezTo>
                <a:cubicBezTo>
                  <a:pt x="103763" y="9525"/>
                  <a:pt x="93940" y="12650"/>
                  <a:pt x="85725" y="18008"/>
                </a:cubicBezTo>
                <a:cubicBezTo>
                  <a:pt x="77510" y="12650"/>
                  <a:pt x="67687" y="9525"/>
                  <a:pt x="57150" y="9525"/>
                </a:cubicBezTo>
                <a:cubicBezTo>
                  <a:pt x="28218" y="9525"/>
                  <a:pt x="4763" y="32980"/>
                  <a:pt x="4763" y="61912"/>
                </a:cubicBezTo>
                <a:cubicBezTo>
                  <a:pt x="4763" y="87600"/>
                  <a:pt x="23247" y="108972"/>
                  <a:pt x="47625" y="113437"/>
                </a:cubicBezTo>
                <a:lnTo>
                  <a:pt x="47625" y="123825"/>
                </a:lnTo>
                <a:lnTo>
                  <a:pt x="38100" y="123825"/>
                </a:lnTo>
                <a:cubicBezTo>
                  <a:pt x="32831" y="123825"/>
                  <a:pt x="28575" y="128081"/>
                  <a:pt x="28575" y="133350"/>
                </a:cubicBezTo>
                <a:cubicBezTo>
                  <a:pt x="28575" y="138619"/>
                  <a:pt x="32831" y="142875"/>
                  <a:pt x="38100" y="142875"/>
                </a:cubicBezTo>
                <a:lnTo>
                  <a:pt x="47625" y="142875"/>
                </a:lnTo>
                <a:lnTo>
                  <a:pt x="47625" y="152400"/>
                </a:lnTo>
                <a:cubicBezTo>
                  <a:pt x="47625" y="157669"/>
                  <a:pt x="51881" y="161925"/>
                  <a:pt x="57150" y="161925"/>
                </a:cubicBezTo>
                <a:cubicBezTo>
                  <a:pt x="62419" y="161925"/>
                  <a:pt x="66675" y="157669"/>
                  <a:pt x="66675" y="152400"/>
                </a:cubicBezTo>
                <a:lnTo>
                  <a:pt x="66675" y="142875"/>
                </a:lnTo>
                <a:lnTo>
                  <a:pt x="76200" y="142875"/>
                </a:lnTo>
                <a:cubicBezTo>
                  <a:pt x="81469" y="142875"/>
                  <a:pt x="85725" y="138619"/>
                  <a:pt x="85725" y="133350"/>
                </a:cubicBezTo>
                <a:cubicBezTo>
                  <a:pt x="85725" y="128081"/>
                  <a:pt x="81469" y="123825"/>
                  <a:pt x="76200" y="123825"/>
                </a:cubicBezTo>
                <a:lnTo>
                  <a:pt x="66675" y="123825"/>
                </a:lnTo>
                <a:lnTo>
                  <a:pt x="66675" y="113437"/>
                </a:lnTo>
                <a:cubicBezTo>
                  <a:pt x="73610" y="112157"/>
                  <a:pt x="80040" y="109537"/>
                  <a:pt x="85725" y="105817"/>
                </a:cubicBezTo>
                <a:cubicBezTo>
                  <a:pt x="93940" y="111175"/>
                  <a:pt x="103763" y="114300"/>
                  <a:pt x="114300" y="114300"/>
                </a:cubicBezTo>
                <a:cubicBezTo>
                  <a:pt x="143232" y="114300"/>
                  <a:pt x="166688" y="90845"/>
                  <a:pt x="166688" y="61912"/>
                </a:cubicBezTo>
                <a:cubicBezTo>
                  <a:pt x="166688" y="49679"/>
                  <a:pt x="162491" y="38398"/>
                  <a:pt x="155436" y="29468"/>
                </a:cubicBezTo>
                <a:lnTo>
                  <a:pt x="171450" y="13484"/>
                </a:lnTo>
                <a:lnTo>
                  <a:pt x="171450" y="28575"/>
                </a:lnTo>
                <a:cubicBezTo>
                  <a:pt x="171450" y="33844"/>
                  <a:pt x="175706" y="38100"/>
                  <a:pt x="180975" y="38100"/>
                </a:cubicBezTo>
                <a:cubicBezTo>
                  <a:pt x="186244" y="38100"/>
                  <a:pt x="190500" y="33844"/>
                  <a:pt x="190500" y="28575"/>
                </a:cubicBezTo>
                <a:lnTo>
                  <a:pt x="190500" y="-9525"/>
                </a:lnTo>
                <a:cubicBezTo>
                  <a:pt x="190500" y="-14794"/>
                  <a:pt x="186244" y="-19050"/>
                  <a:pt x="180975" y="-19050"/>
                </a:cubicBezTo>
                <a:lnTo>
                  <a:pt x="142875" y="-19050"/>
                </a:lnTo>
                <a:close/>
                <a:moveTo>
                  <a:pt x="100013" y="92035"/>
                </a:moveTo>
                <a:cubicBezTo>
                  <a:pt x="106025" y="83522"/>
                  <a:pt x="109537" y="73134"/>
                  <a:pt x="109537" y="61912"/>
                </a:cubicBezTo>
                <a:cubicBezTo>
                  <a:pt x="109537" y="50691"/>
                  <a:pt x="106025" y="40303"/>
                  <a:pt x="100013" y="31790"/>
                </a:cubicBezTo>
                <a:cubicBezTo>
                  <a:pt x="104358" y="29736"/>
                  <a:pt x="109180" y="28575"/>
                  <a:pt x="114300" y="28575"/>
                </a:cubicBezTo>
                <a:cubicBezTo>
                  <a:pt x="132725" y="28575"/>
                  <a:pt x="147638" y="43488"/>
                  <a:pt x="147638" y="61912"/>
                </a:cubicBezTo>
                <a:cubicBezTo>
                  <a:pt x="147638" y="80337"/>
                  <a:pt x="132725" y="95250"/>
                  <a:pt x="114300" y="95250"/>
                </a:cubicBezTo>
                <a:cubicBezTo>
                  <a:pt x="109180" y="95250"/>
                  <a:pt x="104329" y="94089"/>
                  <a:pt x="100013" y="92035"/>
                </a:cubicBezTo>
                <a:close/>
                <a:moveTo>
                  <a:pt x="85725" y="44738"/>
                </a:moveTo>
                <a:cubicBezTo>
                  <a:pt x="88761" y="49768"/>
                  <a:pt x="90488" y="55632"/>
                  <a:pt x="90488" y="61912"/>
                </a:cubicBezTo>
                <a:cubicBezTo>
                  <a:pt x="90488" y="68193"/>
                  <a:pt x="88761" y="74087"/>
                  <a:pt x="85725" y="79087"/>
                </a:cubicBezTo>
                <a:cubicBezTo>
                  <a:pt x="82689" y="74057"/>
                  <a:pt x="80962" y="68193"/>
                  <a:pt x="80962" y="61912"/>
                </a:cubicBezTo>
                <a:cubicBezTo>
                  <a:pt x="80962" y="55632"/>
                  <a:pt x="82689" y="49738"/>
                  <a:pt x="85725" y="44738"/>
                </a:cubicBezTo>
                <a:close/>
                <a:moveTo>
                  <a:pt x="71438" y="31790"/>
                </a:moveTo>
                <a:cubicBezTo>
                  <a:pt x="65425" y="40303"/>
                  <a:pt x="61912" y="50691"/>
                  <a:pt x="61912" y="61912"/>
                </a:cubicBezTo>
                <a:cubicBezTo>
                  <a:pt x="61912" y="73134"/>
                  <a:pt x="65425" y="83522"/>
                  <a:pt x="71438" y="92035"/>
                </a:cubicBezTo>
                <a:cubicBezTo>
                  <a:pt x="67121" y="94089"/>
                  <a:pt x="62270" y="95250"/>
                  <a:pt x="57150" y="95250"/>
                </a:cubicBezTo>
                <a:cubicBezTo>
                  <a:pt x="38725" y="95250"/>
                  <a:pt x="23813" y="80337"/>
                  <a:pt x="23813" y="61912"/>
                </a:cubicBezTo>
                <a:cubicBezTo>
                  <a:pt x="23813" y="43488"/>
                  <a:pt x="38725" y="28575"/>
                  <a:pt x="57150" y="28575"/>
                </a:cubicBezTo>
                <a:cubicBezTo>
                  <a:pt x="62270" y="28575"/>
                  <a:pt x="67121" y="29736"/>
                  <a:pt x="71438" y="3179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264920" y="3093723"/>
            <a:ext cx="4438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Gender Patterns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1264920" y="3360423"/>
            <a:ext cx="44291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Females spend slightly more</a:t>
            </a: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than males in younger ages, but the gap closes in older groups (almost equal at 75+)</a:t>
            </a:r>
            <a:endParaRPr lang="en-US" sz="1600"/>
          </a:p>
        </p:txBody>
      </p:sp>
      <p:sp>
        <p:nvSpPr>
          <p:cNvPr id="18" name="Shape 16"/>
          <p:cNvSpPr/>
          <p:nvPr/>
        </p:nvSpPr>
        <p:spPr>
          <a:xfrm>
            <a:off x="598170" y="4046223"/>
            <a:ext cx="5181600" cy="952500"/>
          </a:xfrm>
          <a:custGeom>
            <a:avLst/>
            <a:gdLst/>
            <a:ahLst/>
            <a:cxnLst/>
            <a:rect l="l" t="t" r="r" b="b"/>
            <a:pathLst>
              <a:path w="5181600" h="952500">
                <a:moveTo>
                  <a:pt x="38100" y="0"/>
                </a:moveTo>
                <a:lnTo>
                  <a:pt x="5105400" y="0"/>
                </a:lnTo>
                <a:cubicBezTo>
                  <a:pt x="5147456" y="0"/>
                  <a:pt x="5181600" y="34144"/>
                  <a:pt x="5181600" y="76200"/>
                </a:cubicBezTo>
                <a:lnTo>
                  <a:pt x="5181600" y="876300"/>
                </a:lnTo>
                <a:cubicBezTo>
                  <a:pt x="5181600" y="918356"/>
                  <a:pt x="5147456" y="952500"/>
                  <a:pt x="5105400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98170" y="4046223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3810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0" name="Shape 18"/>
          <p:cNvSpPr/>
          <p:nvPr/>
        </p:nvSpPr>
        <p:spPr>
          <a:xfrm>
            <a:off x="769620" y="419862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1" name="Shape 19"/>
          <p:cNvSpPr/>
          <p:nvPr/>
        </p:nvSpPr>
        <p:spPr>
          <a:xfrm>
            <a:off x="874395" y="4312923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24867" y="28575"/>
                </a:moveTo>
                <a:cubicBezTo>
                  <a:pt x="119926" y="28575"/>
                  <a:pt x="115133" y="29914"/>
                  <a:pt x="110936" y="32355"/>
                </a:cubicBezTo>
                <a:cubicBezTo>
                  <a:pt x="106234" y="27593"/>
                  <a:pt x="100757" y="23604"/>
                  <a:pt x="94714" y="20598"/>
                </a:cubicBezTo>
                <a:cubicBezTo>
                  <a:pt x="103108" y="13454"/>
                  <a:pt x="113794" y="9525"/>
                  <a:pt x="124867" y="9525"/>
                </a:cubicBezTo>
                <a:cubicBezTo>
                  <a:pt x="150584" y="9525"/>
                  <a:pt x="171450" y="30361"/>
                  <a:pt x="171450" y="56108"/>
                </a:cubicBezTo>
                <a:cubicBezTo>
                  <a:pt x="171450" y="68461"/>
                  <a:pt x="166539" y="80308"/>
                  <a:pt x="157817" y="89029"/>
                </a:cubicBezTo>
                <a:lnTo>
                  <a:pt x="136654" y="110192"/>
                </a:lnTo>
                <a:cubicBezTo>
                  <a:pt x="127933" y="118914"/>
                  <a:pt x="116086" y="123825"/>
                  <a:pt x="103733" y="123825"/>
                </a:cubicBezTo>
                <a:cubicBezTo>
                  <a:pt x="78016" y="123825"/>
                  <a:pt x="57150" y="102989"/>
                  <a:pt x="57150" y="77242"/>
                </a:cubicBezTo>
                <a:cubicBezTo>
                  <a:pt x="57150" y="76795"/>
                  <a:pt x="57150" y="76349"/>
                  <a:pt x="57180" y="75902"/>
                </a:cubicBezTo>
                <a:cubicBezTo>
                  <a:pt x="57329" y="70634"/>
                  <a:pt x="61704" y="66496"/>
                  <a:pt x="66973" y="66645"/>
                </a:cubicBezTo>
                <a:cubicBezTo>
                  <a:pt x="72241" y="66794"/>
                  <a:pt x="76379" y="71170"/>
                  <a:pt x="76230" y="76438"/>
                </a:cubicBezTo>
                <a:cubicBezTo>
                  <a:pt x="76230" y="76706"/>
                  <a:pt x="76230" y="76974"/>
                  <a:pt x="76230" y="77212"/>
                </a:cubicBezTo>
                <a:cubicBezTo>
                  <a:pt x="76230" y="92422"/>
                  <a:pt x="88553" y="104745"/>
                  <a:pt x="103763" y="104745"/>
                </a:cubicBezTo>
                <a:cubicBezTo>
                  <a:pt x="111056" y="104745"/>
                  <a:pt x="118050" y="101858"/>
                  <a:pt x="123230" y="96679"/>
                </a:cubicBezTo>
                <a:lnTo>
                  <a:pt x="144393" y="75515"/>
                </a:lnTo>
                <a:cubicBezTo>
                  <a:pt x="149543" y="70366"/>
                  <a:pt x="152460" y="63341"/>
                  <a:pt x="152460" y="56049"/>
                </a:cubicBezTo>
                <a:cubicBezTo>
                  <a:pt x="152460" y="40838"/>
                  <a:pt x="140137" y="28515"/>
                  <a:pt x="124926" y="28515"/>
                </a:cubicBezTo>
                <a:close/>
                <a:moveTo>
                  <a:pt x="81915" y="51584"/>
                </a:moveTo>
                <a:cubicBezTo>
                  <a:pt x="81349" y="51346"/>
                  <a:pt x="80784" y="51018"/>
                  <a:pt x="80278" y="50661"/>
                </a:cubicBezTo>
                <a:cubicBezTo>
                  <a:pt x="76527" y="48726"/>
                  <a:pt x="72241" y="47625"/>
                  <a:pt x="67747" y="47625"/>
                </a:cubicBezTo>
                <a:cubicBezTo>
                  <a:pt x="60454" y="47625"/>
                  <a:pt x="53459" y="50512"/>
                  <a:pt x="48280" y="55691"/>
                </a:cubicBezTo>
                <a:lnTo>
                  <a:pt x="27116" y="76855"/>
                </a:lnTo>
                <a:cubicBezTo>
                  <a:pt x="21967" y="82004"/>
                  <a:pt x="19050" y="89029"/>
                  <a:pt x="19050" y="96322"/>
                </a:cubicBezTo>
                <a:cubicBezTo>
                  <a:pt x="19050" y="111532"/>
                  <a:pt x="31373" y="123855"/>
                  <a:pt x="46583" y="123855"/>
                </a:cubicBezTo>
                <a:cubicBezTo>
                  <a:pt x="51495" y="123855"/>
                  <a:pt x="56287" y="122545"/>
                  <a:pt x="60484" y="120104"/>
                </a:cubicBezTo>
                <a:cubicBezTo>
                  <a:pt x="65187" y="124867"/>
                  <a:pt x="70664" y="128855"/>
                  <a:pt x="76736" y="131862"/>
                </a:cubicBezTo>
                <a:cubicBezTo>
                  <a:pt x="68342" y="138976"/>
                  <a:pt x="57686" y="142935"/>
                  <a:pt x="46583" y="142935"/>
                </a:cubicBezTo>
                <a:cubicBezTo>
                  <a:pt x="20866" y="142935"/>
                  <a:pt x="0" y="122099"/>
                  <a:pt x="0" y="96351"/>
                </a:cubicBezTo>
                <a:cubicBezTo>
                  <a:pt x="0" y="83999"/>
                  <a:pt x="4911" y="72152"/>
                  <a:pt x="13633" y="63431"/>
                </a:cubicBezTo>
                <a:lnTo>
                  <a:pt x="34796" y="42267"/>
                </a:lnTo>
                <a:cubicBezTo>
                  <a:pt x="43517" y="33546"/>
                  <a:pt x="55364" y="28635"/>
                  <a:pt x="67717" y="28635"/>
                </a:cubicBezTo>
                <a:cubicBezTo>
                  <a:pt x="93494" y="28635"/>
                  <a:pt x="114300" y="49649"/>
                  <a:pt x="114300" y="75337"/>
                </a:cubicBezTo>
                <a:cubicBezTo>
                  <a:pt x="114300" y="75724"/>
                  <a:pt x="114300" y="76111"/>
                  <a:pt x="114300" y="76498"/>
                </a:cubicBezTo>
                <a:cubicBezTo>
                  <a:pt x="114181" y="81766"/>
                  <a:pt x="109805" y="85904"/>
                  <a:pt x="104537" y="85785"/>
                </a:cubicBezTo>
                <a:cubicBezTo>
                  <a:pt x="99268" y="85665"/>
                  <a:pt x="95131" y="81290"/>
                  <a:pt x="95250" y="76021"/>
                </a:cubicBezTo>
                <a:cubicBezTo>
                  <a:pt x="95250" y="75783"/>
                  <a:pt x="95250" y="75575"/>
                  <a:pt x="95250" y="75337"/>
                </a:cubicBezTo>
                <a:cubicBezTo>
                  <a:pt x="95250" y="65306"/>
                  <a:pt x="89892" y="56495"/>
                  <a:pt x="81915" y="5164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264920" y="4198623"/>
            <a:ext cx="4438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Strong Positive Relationship</a:t>
            </a:r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1264920" y="4465323"/>
            <a:ext cx="44291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More chronic conditions = </a:t>
            </a:r>
            <a:r>
              <a:rPr lang="en-US" sz="1050" b="1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disproportionately higher cost</a:t>
            </a: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The relationship is multiplicative, not additive</a:t>
            </a:r>
            <a:endParaRPr lang="en-US" sz="1600"/>
          </a:p>
        </p:txBody>
      </p:sp>
      <p:sp>
        <p:nvSpPr>
          <p:cNvPr id="24" name="Shape 22"/>
          <p:cNvSpPr/>
          <p:nvPr/>
        </p:nvSpPr>
        <p:spPr>
          <a:xfrm>
            <a:off x="6214110" y="1223010"/>
            <a:ext cx="5589270" cy="4617720"/>
          </a:xfrm>
          <a:custGeom>
            <a:avLst/>
            <a:gdLst/>
            <a:ahLst/>
            <a:cxnLst/>
            <a:rect l="l" t="t" r="r" b="b"/>
            <a:pathLst>
              <a:path w="5589270" h="4617720">
                <a:moveTo>
                  <a:pt x="114289" y="0"/>
                </a:moveTo>
                <a:lnTo>
                  <a:pt x="5474981" y="0"/>
                </a:lnTo>
                <a:cubicBezTo>
                  <a:pt x="5538059" y="0"/>
                  <a:pt x="5589270" y="51211"/>
                  <a:pt x="5589270" y="114289"/>
                </a:cubicBezTo>
                <a:lnTo>
                  <a:pt x="5589270" y="4503431"/>
                </a:lnTo>
                <a:cubicBezTo>
                  <a:pt x="5589270" y="4566509"/>
                  <a:pt x="5538059" y="4617720"/>
                  <a:pt x="5474981" y="4617720"/>
                </a:cubicBezTo>
                <a:lnTo>
                  <a:pt x="114289" y="4617720"/>
                </a:lnTo>
                <a:cubicBezTo>
                  <a:pt x="51211" y="4617720"/>
                  <a:pt x="0" y="4566509"/>
                  <a:pt x="0" y="4503431"/>
                </a:cubicBezTo>
                <a:lnTo>
                  <a:pt x="0" y="114289"/>
                </a:lnTo>
                <a:cubicBezTo>
                  <a:pt x="0" y="51211"/>
                  <a:pt x="51211" y="0"/>
                  <a:pt x="114289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84810" y="6000751"/>
            <a:ext cx="11418570" cy="769620"/>
          </a:xfrm>
          <a:custGeom>
            <a:avLst/>
            <a:gdLst/>
            <a:ahLst/>
            <a:cxnLst/>
            <a:rect l="l" t="t" r="r" b="b"/>
            <a:pathLst>
              <a:path w="11418570" h="769620">
                <a:moveTo>
                  <a:pt x="114296" y="0"/>
                </a:moveTo>
                <a:lnTo>
                  <a:pt x="11304274" y="0"/>
                </a:lnTo>
                <a:cubicBezTo>
                  <a:pt x="11367398" y="0"/>
                  <a:pt x="11418570" y="51172"/>
                  <a:pt x="11418570" y="114296"/>
                </a:cubicBezTo>
                <a:lnTo>
                  <a:pt x="11418570" y="655324"/>
                </a:lnTo>
                <a:cubicBezTo>
                  <a:pt x="11418570" y="718448"/>
                  <a:pt x="11367398" y="769620"/>
                  <a:pt x="11304274" y="769620"/>
                </a:cubicBezTo>
                <a:lnTo>
                  <a:pt x="114296" y="769620"/>
                </a:lnTo>
                <a:cubicBezTo>
                  <a:pt x="51172" y="769620"/>
                  <a:pt x="0" y="718448"/>
                  <a:pt x="0" y="6553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 w="10160">
            <a:solidFill>
              <a:srgbClr val="0071E3">
                <a:alpha val="2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79120" y="6187441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9" name="Text 26"/>
          <p:cNvSpPr/>
          <p:nvPr/>
        </p:nvSpPr>
        <p:spPr>
          <a:xfrm>
            <a:off x="788670" y="6156959"/>
            <a:ext cx="10934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Clinical Insight:</a:t>
            </a:r>
            <a:r>
              <a:rPr lang="en-US" sz="120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steep increase in both chronic conditions and expenditure after age 45 suggests this as a critical intervention point for preventive care and early disease management strategies.</a:t>
            </a:r>
            <a:endParaRPr lang="en-US" sz="1600"/>
          </a:p>
        </p:txBody>
      </p:sp>
      <p:pic>
        <p:nvPicPr>
          <p:cNvPr id="30" name="Picture 29" descr="A graph with blue bars and red line&#10;&#10;AI-generated content may be incorrect.">
            <a:extLst>
              <a:ext uri="{FF2B5EF4-FFF2-40B4-BE49-F238E27FC236}">
                <a16:creationId xmlns:a16="http://schemas.microsoft.com/office/drawing/2014/main" id="{6F108F4C-6B4C-7A58-976A-8ECDA20D0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373" y="1468120"/>
            <a:ext cx="5205095" cy="415544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2625" y="352625"/>
            <a:ext cx="11548460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b="1" kern="0" spc="49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Exploratory Data Analysis</a:t>
            </a:r>
            <a:endParaRPr lang="en-US" sz="1600"/>
          </a:p>
        </p:txBody>
      </p:sp>
      <p:sp>
        <p:nvSpPr>
          <p:cNvPr id="3" name="Text 1"/>
          <p:cNvSpPr/>
          <p:nvPr/>
        </p:nvSpPr>
        <p:spPr>
          <a:xfrm>
            <a:off x="352625" y="599462"/>
            <a:ext cx="11645432" cy="352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99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Healthcare Utilization Distribution &amp; Cost Structure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286900" y="1128331"/>
            <a:ext cx="5631417" cy="5374133"/>
          </a:xfrm>
          <a:custGeom>
            <a:avLst/>
            <a:gdLst/>
            <a:ahLst/>
            <a:cxnLst/>
            <a:rect l="l" t="t" r="r" b="b"/>
            <a:pathLst>
              <a:path w="5631417" h="5719573">
                <a:moveTo>
                  <a:pt x="105814" y="0"/>
                </a:moveTo>
                <a:lnTo>
                  <a:pt x="5525603" y="0"/>
                </a:lnTo>
                <a:cubicBezTo>
                  <a:pt x="5584042" y="0"/>
                  <a:pt x="5631417" y="47375"/>
                  <a:pt x="5631417" y="105814"/>
                </a:cubicBezTo>
                <a:lnTo>
                  <a:pt x="5631417" y="5613759"/>
                </a:lnTo>
                <a:cubicBezTo>
                  <a:pt x="5631417" y="5672198"/>
                  <a:pt x="5584042" y="5719573"/>
                  <a:pt x="5525603" y="5719573"/>
                </a:cubicBezTo>
                <a:lnTo>
                  <a:pt x="105814" y="5719573"/>
                </a:lnTo>
                <a:cubicBezTo>
                  <a:pt x="47375" y="5719573"/>
                  <a:pt x="0" y="5672198"/>
                  <a:pt x="0" y="5613759"/>
                </a:cubicBezTo>
                <a:lnTo>
                  <a:pt x="0" y="105814"/>
                </a:lnTo>
                <a:cubicBezTo>
                  <a:pt x="0" y="47414"/>
                  <a:pt x="47414" y="0"/>
                  <a:pt x="105814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5990" y="1311762"/>
            <a:ext cx="5351080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Utilization Distribution by Service Type</a:t>
            </a:r>
            <a:endParaRPr lang="en-US" sz="1600"/>
          </a:p>
        </p:txBody>
      </p:sp>
      <p:pic>
        <p:nvPicPr>
          <p:cNvPr id="6" name="Image 0" descr="https://kimi-img.moonshot.cn/pub/slides/26-03-26-18:32:15-d72gmbtnfo2oqp9dgsag.png"/>
          <p:cNvPicPr>
            <a:picLocks noChangeAspect="1"/>
          </p:cNvPicPr>
          <p:nvPr/>
        </p:nvPicPr>
        <p:blipFill>
          <a:blip r:embed="rId3"/>
          <a:srcRect t="37" b="37"/>
          <a:stretch/>
        </p:blipFill>
        <p:spPr>
          <a:xfrm>
            <a:off x="596950" y="1709809"/>
            <a:ext cx="2567968" cy="1815775"/>
          </a:xfrm>
          <a:prstGeom prst="roundRect">
            <a:avLst>
              <a:gd name="adj" fmla="val 0"/>
            </a:avLst>
          </a:prstGeom>
        </p:spPr>
      </p:pic>
      <p:sp>
        <p:nvSpPr>
          <p:cNvPr id="8" name="Text 5"/>
          <p:cNvSpPr/>
          <p:nvPr/>
        </p:nvSpPr>
        <p:spPr>
          <a:xfrm>
            <a:off x="3674835" y="1837239"/>
            <a:ext cx="784590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Prescriptions</a:t>
            </a:r>
            <a:endParaRPr lang="en-US" sz="1600"/>
          </a:p>
        </p:txBody>
      </p:sp>
      <p:sp>
        <p:nvSpPr>
          <p:cNvPr id="9" name="Text 6"/>
          <p:cNvSpPr/>
          <p:nvPr/>
        </p:nvSpPr>
        <p:spPr>
          <a:xfrm>
            <a:off x="4498236" y="1816919"/>
            <a:ext cx="414334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>
                <a:solidFill>
                  <a:srgbClr val="0071E3"/>
                </a:solidFill>
                <a:latin typeface="Liter"/>
                <a:ea typeface="Liter" pitchFamily="34" charset="-122"/>
                <a:cs typeface="Liter" pitchFamily="34" charset="-120"/>
              </a:rPr>
              <a:t>68.4%</a:t>
            </a:r>
            <a:endParaRPr lang="en-US" sz="950">
              <a:latin typeface="Liter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674835" y="2052406"/>
            <a:ext cx="731696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Office Visits</a:t>
            </a:r>
            <a:endParaRPr lang="en-US" sz="1600"/>
          </a:p>
        </p:txBody>
      </p:sp>
      <p:sp>
        <p:nvSpPr>
          <p:cNvPr id="12" name="Text 9"/>
          <p:cNvSpPr/>
          <p:nvPr/>
        </p:nvSpPr>
        <p:spPr>
          <a:xfrm>
            <a:off x="4497530" y="2042246"/>
            <a:ext cx="396703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b="1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27.6%</a:t>
            </a:r>
            <a:endParaRPr lang="en-US" sz="1600"/>
          </a:p>
        </p:txBody>
      </p:sp>
      <p:sp>
        <p:nvSpPr>
          <p:cNvPr id="14" name="Text 11"/>
          <p:cNvSpPr/>
          <p:nvPr/>
        </p:nvSpPr>
        <p:spPr>
          <a:xfrm>
            <a:off x="3695155" y="2440294"/>
            <a:ext cx="537753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 Visits</a:t>
            </a:r>
            <a:endParaRPr lang="en-US" sz="1600"/>
          </a:p>
        </p:txBody>
      </p:sp>
      <p:sp>
        <p:nvSpPr>
          <p:cNvPr id="15" name="Text 12"/>
          <p:cNvSpPr/>
          <p:nvPr/>
        </p:nvSpPr>
        <p:spPr>
          <a:xfrm>
            <a:off x="4534778" y="2434974"/>
            <a:ext cx="334993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>
                <a:solidFill>
                  <a:srgbClr val="86868B"/>
                </a:solidFill>
                <a:latin typeface="Liter"/>
                <a:ea typeface="Liter" pitchFamily="34" charset="-122"/>
                <a:cs typeface="Liter" pitchFamily="34" charset="-120"/>
              </a:rPr>
              <a:t>1.2%</a:t>
            </a:r>
            <a:endParaRPr lang="en-US" sz="1600">
              <a:latin typeface="Liter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695155" y="2624981"/>
            <a:ext cx="828668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>
                <a:solidFill>
                  <a:srgbClr val="86868B"/>
                </a:solidFill>
                <a:latin typeface="Liter"/>
                <a:ea typeface="Liter" pitchFamily="34" charset="-122"/>
                <a:cs typeface="Liter" pitchFamily="34" charset="-120"/>
              </a:rPr>
              <a:t>Inpatient</a:t>
            </a:r>
            <a:endParaRPr lang="en-US" sz="950">
              <a:latin typeface="Liter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544495" y="2624981"/>
            <a:ext cx="308547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>
                <a:solidFill>
                  <a:srgbClr val="86868B"/>
                </a:solidFill>
                <a:latin typeface="Liter"/>
                <a:ea typeface="Liter" pitchFamily="34" charset="-122"/>
                <a:cs typeface="Liter" pitchFamily="34" charset="-120"/>
              </a:rPr>
              <a:t>0.8%</a:t>
            </a:r>
            <a:endParaRPr lang="en-US" sz="950">
              <a:latin typeface="Liter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205754" y="1131925"/>
            <a:ext cx="5631417" cy="3145413"/>
          </a:xfrm>
          <a:custGeom>
            <a:avLst/>
            <a:gdLst/>
            <a:ahLst/>
            <a:cxnLst/>
            <a:rect l="l" t="t" r="r" b="b"/>
            <a:pathLst>
              <a:path w="5631417" h="3145413">
                <a:moveTo>
                  <a:pt x="105780" y="0"/>
                </a:moveTo>
                <a:lnTo>
                  <a:pt x="5525637" y="0"/>
                </a:lnTo>
                <a:cubicBezTo>
                  <a:pt x="5584057" y="0"/>
                  <a:pt x="5631417" y="47359"/>
                  <a:pt x="5631417" y="105780"/>
                </a:cubicBezTo>
                <a:lnTo>
                  <a:pt x="5631417" y="3039632"/>
                </a:lnTo>
                <a:cubicBezTo>
                  <a:pt x="5631417" y="3098053"/>
                  <a:pt x="5584057" y="3145413"/>
                  <a:pt x="5525637" y="3145413"/>
                </a:cubicBezTo>
                <a:lnTo>
                  <a:pt x="105780" y="3145413"/>
                </a:lnTo>
                <a:cubicBezTo>
                  <a:pt x="47359" y="3145413"/>
                  <a:pt x="0" y="3098053"/>
                  <a:pt x="0" y="3039632"/>
                </a:cubicBezTo>
                <a:lnTo>
                  <a:pt x="0" y="105780"/>
                </a:lnTo>
                <a:cubicBezTo>
                  <a:pt x="0" y="47399"/>
                  <a:pt x="47399" y="0"/>
                  <a:pt x="105780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85593" y="1311762"/>
            <a:ext cx="5351080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</a:t>
            </a:r>
            <a:endParaRPr lang="en-US" sz="1600"/>
          </a:p>
        </p:txBody>
      </p:sp>
      <p:sp>
        <p:nvSpPr>
          <p:cNvPr id="21" name="Shape 18"/>
          <p:cNvSpPr/>
          <p:nvPr/>
        </p:nvSpPr>
        <p:spPr>
          <a:xfrm>
            <a:off x="6403225" y="1699649"/>
            <a:ext cx="5254108" cy="705249"/>
          </a:xfrm>
          <a:custGeom>
            <a:avLst/>
            <a:gdLst/>
            <a:ahLst/>
            <a:cxnLst/>
            <a:rect l="l" t="t" r="r" b="b"/>
            <a:pathLst>
              <a:path w="5254108" h="705249">
                <a:moveTo>
                  <a:pt x="35262" y="0"/>
                </a:moveTo>
                <a:lnTo>
                  <a:pt x="5183584" y="0"/>
                </a:lnTo>
                <a:cubicBezTo>
                  <a:pt x="5222533" y="0"/>
                  <a:pt x="5254108" y="31575"/>
                  <a:pt x="5254108" y="70525"/>
                </a:cubicBezTo>
                <a:lnTo>
                  <a:pt x="5254108" y="634725"/>
                </a:lnTo>
                <a:cubicBezTo>
                  <a:pt x="5254108" y="673674"/>
                  <a:pt x="5222533" y="705249"/>
                  <a:pt x="5183584" y="705249"/>
                </a:cubicBezTo>
                <a:lnTo>
                  <a:pt x="35262" y="705249"/>
                </a:lnTo>
                <a:cubicBezTo>
                  <a:pt x="15788" y="705249"/>
                  <a:pt x="0" y="689462"/>
                  <a:pt x="0" y="669987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6403225" y="1699649"/>
            <a:ext cx="35262" cy="705249"/>
          </a:xfrm>
          <a:custGeom>
            <a:avLst/>
            <a:gdLst/>
            <a:ahLst/>
            <a:cxnLst/>
            <a:rect l="l" t="t" r="r" b="b"/>
            <a:pathLst>
              <a:path w="35262" h="705249">
                <a:moveTo>
                  <a:pt x="35262" y="0"/>
                </a:moveTo>
                <a:lnTo>
                  <a:pt x="35262" y="0"/>
                </a:lnTo>
                <a:lnTo>
                  <a:pt x="35262" y="705249"/>
                </a:lnTo>
                <a:lnTo>
                  <a:pt x="35262" y="705249"/>
                </a:lnTo>
                <a:cubicBezTo>
                  <a:pt x="15788" y="705249"/>
                  <a:pt x="0" y="689462"/>
                  <a:pt x="0" y="669987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3" name="Shape 20"/>
          <p:cNvSpPr/>
          <p:nvPr/>
        </p:nvSpPr>
        <p:spPr>
          <a:xfrm>
            <a:off x="6561906" y="1840699"/>
            <a:ext cx="352625" cy="352625"/>
          </a:xfrm>
          <a:custGeom>
            <a:avLst/>
            <a:gdLst/>
            <a:ahLst/>
            <a:cxnLst/>
            <a:rect l="l" t="t" r="r" b="b"/>
            <a:pathLst>
              <a:path w="352625" h="352625">
                <a:moveTo>
                  <a:pt x="70525" y="0"/>
                </a:moveTo>
                <a:lnTo>
                  <a:pt x="282100" y="0"/>
                </a:lnTo>
                <a:cubicBezTo>
                  <a:pt x="321050" y="0"/>
                  <a:pt x="352625" y="31575"/>
                  <a:pt x="352625" y="70525"/>
                </a:cubicBezTo>
                <a:lnTo>
                  <a:pt x="352625" y="282100"/>
                </a:lnTo>
                <a:cubicBezTo>
                  <a:pt x="352625" y="321050"/>
                  <a:pt x="321050" y="352625"/>
                  <a:pt x="282100" y="352625"/>
                </a:cubicBezTo>
                <a:lnTo>
                  <a:pt x="70525" y="352625"/>
                </a:lnTo>
                <a:cubicBezTo>
                  <a:pt x="31575" y="352625"/>
                  <a:pt x="0" y="321050"/>
                  <a:pt x="0" y="282100"/>
                </a:cubicBezTo>
                <a:lnTo>
                  <a:pt x="0" y="70525"/>
                </a:lnTo>
                <a:cubicBezTo>
                  <a:pt x="0" y="31601"/>
                  <a:pt x="31601" y="0"/>
                  <a:pt x="7052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4" name="Shape 21"/>
          <p:cNvSpPr/>
          <p:nvPr/>
        </p:nvSpPr>
        <p:spPr>
          <a:xfrm>
            <a:off x="6667693" y="1946487"/>
            <a:ext cx="141050" cy="141050"/>
          </a:xfrm>
          <a:custGeom>
            <a:avLst/>
            <a:gdLst/>
            <a:ahLst/>
            <a:cxnLst/>
            <a:rect l="l" t="t" r="r" b="b"/>
            <a:pathLst>
              <a:path w="141050" h="141050">
                <a:moveTo>
                  <a:pt x="17631" y="30855"/>
                </a:moveTo>
                <a:cubicBezTo>
                  <a:pt x="17631" y="23554"/>
                  <a:pt x="23554" y="17631"/>
                  <a:pt x="30855" y="17631"/>
                </a:cubicBezTo>
                <a:cubicBezTo>
                  <a:pt x="38155" y="17631"/>
                  <a:pt x="44078" y="23554"/>
                  <a:pt x="44078" y="30855"/>
                </a:cubicBezTo>
                <a:lnTo>
                  <a:pt x="44078" y="61709"/>
                </a:lnTo>
                <a:lnTo>
                  <a:pt x="17631" y="61709"/>
                </a:lnTo>
                <a:lnTo>
                  <a:pt x="17631" y="30855"/>
                </a:lnTo>
                <a:close/>
                <a:moveTo>
                  <a:pt x="48486" y="101380"/>
                </a:moveTo>
                <a:cubicBezTo>
                  <a:pt x="48486" y="87963"/>
                  <a:pt x="53472" y="75704"/>
                  <a:pt x="61709" y="66393"/>
                </a:cubicBezTo>
                <a:lnTo>
                  <a:pt x="61709" y="30855"/>
                </a:lnTo>
                <a:cubicBezTo>
                  <a:pt x="61709" y="13802"/>
                  <a:pt x="47907" y="0"/>
                  <a:pt x="30855" y="0"/>
                </a:cubicBezTo>
                <a:cubicBezTo>
                  <a:pt x="13802" y="0"/>
                  <a:pt x="0" y="13802"/>
                  <a:pt x="0" y="30855"/>
                </a:cubicBezTo>
                <a:lnTo>
                  <a:pt x="0" y="110195"/>
                </a:lnTo>
                <a:cubicBezTo>
                  <a:pt x="0" y="127248"/>
                  <a:pt x="13802" y="141050"/>
                  <a:pt x="30855" y="141050"/>
                </a:cubicBezTo>
                <a:cubicBezTo>
                  <a:pt x="41130" y="141050"/>
                  <a:pt x="50221" y="136036"/>
                  <a:pt x="55841" y="128295"/>
                </a:cubicBezTo>
                <a:cubicBezTo>
                  <a:pt x="51158" y="120416"/>
                  <a:pt x="48486" y="111215"/>
                  <a:pt x="48486" y="101380"/>
                </a:cubicBezTo>
                <a:close/>
                <a:moveTo>
                  <a:pt x="66310" y="119948"/>
                </a:moveTo>
                <a:cubicBezTo>
                  <a:pt x="67577" y="122344"/>
                  <a:pt x="70800" y="122620"/>
                  <a:pt x="72729" y="120691"/>
                </a:cubicBezTo>
                <a:lnTo>
                  <a:pt x="120691" y="72729"/>
                </a:lnTo>
                <a:cubicBezTo>
                  <a:pt x="122620" y="70800"/>
                  <a:pt x="122344" y="67577"/>
                  <a:pt x="119948" y="66310"/>
                </a:cubicBezTo>
                <a:cubicBezTo>
                  <a:pt x="114410" y="63362"/>
                  <a:pt x="108102" y="61709"/>
                  <a:pt x="101380" y="61709"/>
                </a:cubicBezTo>
                <a:cubicBezTo>
                  <a:pt x="79478" y="61709"/>
                  <a:pt x="61709" y="79478"/>
                  <a:pt x="61709" y="101380"/>
                </a:cubicBezTo>
                <a:cubicBezTo>
                  <a:pt x="61709" y="108074"/>
                  <a:pt x="63362" y="114410"/>
                  <a:pt x="66310" y="119948"/>
                </a:cubicBezTo>
                <a:close/>
                <a:moveTo>
                  <a:pt x="82068" y="130030"/>
                </a:moveTo>
                <a:cubicBezTo>
                  <a:pt x="80139" y="131959"/>
                  <a:pt x="80415" y="135182"/>
                  <a:pt x="82812" y="136449"/>
                </a:cubicBezTo>
                <a:cubicBezTo>
                  <a:pt x="88349" y="139397"/>
                  <a:pt x="94658" y="141050"/>
                  <a:pt x="101380" y="141050"/>
                </a:cubicBezTo>
                <a:cubicBezTo>
                  <a:pt x="123281" y="141050"/>
                  <a:pt x="141050" y="123281"/>
                  <a:pt x="141050" y="101380"/>
                </a:cubicBezTo>
                <a:cubicBezTo>
                  <a:pt x="141050" y="94685"/>
                  <a:pt x="139397" y="88349"/>
                  <a:pt x="136449" y="82812"/>
                </a:cubicBezTo>
                <a:cubicBezTo>
                  <a:pt x="135182" y="80415"/>
                  <a:pt x="131959" y="80139"/>
                  <a:pt x="130030" y="82068"/>
                </a:cubicBezTo>
                <a:lnTo>
                  <a:pt x="82068" y="13003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2"/>
          <p:cNvSpPr/>
          <p:nvPr/>
        </p:nvSpPr>
        <p:spPr>
          <a:xfrm>
            <a:off x="7020318" y="1840699"/>
            <a:ext cx="4028738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Prescriptions Dominate Volume</a:t>
            </a:r>
            <a:endParaRPr lang="en-US" sz="1600"/>
          </a:p>
        </p:txBody>
      </p:sp>
      <p:sp>
        <p:nvSpPr>
          <p:cNvPr id="26" name="Text 23"/>
          <p:cNvSpPr/>
          <p:nvPr/>
        </p:nvSpPr>
        <p:spPr>
          <a:xfrm>
            <a:off x="7020318" y="2087537"/>
            <a:ext cx="4019922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b="1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Prescriptions dominate utilization (~68%)</a:t>
            </a:r>
            <a:r>
              <a:rPr lang="en-US" sz="972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but not highest cost per service</a:t>
            </a:r>
            <a:endParaRPr lang="en-US" sz="1600"/>
          </a:p>
        </p:txBody>
      </p:sp>
      <p:sp>
        <p:nvSpPr>
          <p:cNvPr id="27" name="Shape 24"/>
          <p:cNvSpPr/>
          <p:nvPr/>
        </p:nvSpPr>
        <p:spPr>
          <a:xfrm>
            <a:off x="6403225" y="2545949"/>
            <a:ext cx="5254108" cy="705249"/>
          </a:xfrm>
          <a:custGeom>
            <a:avLst/>
            <a:gdLst/>
            <a:ahLst/>
            <a:cxnLst/>
            <a:rect l="l" t="t" r="r" b="b"/>
            <a:pathLst>
              <a:path w="5254108" h="705249">
                <a:moveTo>
                  <a:pt x="35262" y="0"/>
                </a:moveTo>
                <a:lnTo>
                  <a:pt x="5183584" y="0"/>
                </a:lnTo>
                <a:cubicBezTo>
                  <a:pt x="5222533" y="0"/>
                  <a:pt x="5254108" y="31575"/>
                  <a:pt x="5254108" y="70525"/>
                </a:cubicBezTo>
                <a:lnTo>
                  <a:pt x="5254108" y="634725"/>
                </a:lnTo>
                <a:cubicBezTo>
                  <a:pt x="5254108" y="673674"/>
                  <a:pt x="5222533" y="705249"/>
                  <a:pt x="5183584" y="705249"/>
                </a:cubicBezTo>
                <a:lnTo>
                  <a:pt x="35262" y="705249"/>
                </a:lnTo>
                <a:cubicBezTo>
                  <a:pt x="15788" y="705249"/>
                  <a:pt x="0" y="689462"/>
                  <a:pt x="0" y="669987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6403225" y="2545949"/>
            <a:ext cx="35262" cy="705249"/>
          </a:xfrm>
          <a:custGeom>
            <a:avLst/>
            <a:gdLst/>
            <a:ahLst/>
            <a:cxnLst/>
            <a:rect l="l" t="t" r="r" b="b"/>
            <a:pathLst>
              <a:path w="35262" h="705249">
                <a:moveTo>
                  <a:pt x="35262" y="0"/>
                </a:moveTo>
                <a:lnTo>
                  <a:pt x="35262" y="0"/>
                </a:lnTo>
                <a:lnTo>
                  <a:pt x="35262" y="705249"/>
                </a:lnTo>
                <a:lnTo>
                  <a:pt x="35262" y="705249"/>
                </a:lnTo>
                <a:cubicBezTo>
                  <a:pt x="15788" y="705249"/>
                  <a:pt x="0" y="689462"/>
                  <a:pt x="0" y="669987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9" name="Shape 26"/>
          <p:cNvSpPr/>
          <p:nvPr/>
        </p:nvSpPr>
        <p:spPr>
          <a:xfrm>
            <a:off x="6561906" y="2686999"/>
            <a:ext cx="352625" cy="352625"/>
          </a:xfrm>
          <a:custGeom>
            <a:avLst/>
            <a:gdLst/>
            <a:ahLst/>
            <a:cxnLst/>
            <a:rect l="l" t="t" r="r" b="b"/>
            <a:pathLst>
              <a:path w="352625" h="352625">
                <a:moveTo>
                  <a:pt x="70525" y="0"/>
                </a:moveTo>
                <a:lnTo>
                  <a:pt x="282100" y="0"/>
                </a:lnTo>
                <a:cubicBezTo>
                  <a:pt x="321050" y="0"/>
                  <a:pt x="352625" y="31575"/>
                  <a:pt x="352625" y="70525"/>
                </a:cubicBezTo>
                <a:lnTo>
                  <a:pt x="352625" y="282100"/>
                </a:lnTo>
                <a:cubicBezTo>
                  <a:pt x="352625" y="321050"/>
                  <a:pt x="321050" y="352625"/>
                  <a:pt x="282100" y="352625"/>
                </a:cubicBezTo>
                <a:lnTo>
                  <a:pt x="70525" y="352625"/>
                </a:lnTo>
                <a:cubicBezTo>
                  <a:pt x="31575" y="352625"/>
                  <a:pt x="0" y="321050"/>
                  <a:pt x="0" y="282100"/>
                </a:cubicBezTo>
                <a:lnTo>
                  <a:pt x="0" y="70525"/>
                </a:lnTo>
                <a:cubicBezTo>
                  <a:pt x="0" y="31601"/>
                  <a:pt x="31601" y="0"/>
                  <a:pt x="7052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0" name="Shape 27"/>
          <p:cNvSpPr/>
          <p:nvPr/>
        </p:nvSpPr>
        <p:spPr>
          <a:xfrm>
            <a:off x="6650062" y="2792786"/>
            <a:ext cx="176312" cy="141050"/>
          </a:xfrm>
          <a:custGeom>
            <a:avLst/>
            <a:gdLst/>
            <a:ahLst/>
            <a:cxnLst/>
            <a:rect l="l" t="t" r="r" b="b"/>
            <a:pathLst>
              <a:path w="176312" h="141050">
                <a:moveTo>
                  <a:pt x="146339" y="-6171"/>
                </a:moveTo>
                <a:lnTo>
                  <a:pt x="157579" y="8816"/>
                </a:lnTo>
                <a:lnTo>
                  <a:pt x="169701" y="8816"/>
                </a:lnTo>
                <a:cubicBezTo>
                  <a:pt x="173365" y="8816"/>
                  <a:pt x="176312" y="11763"/>
                  <a:pt x="176312" y="15427"/>
                </a:cubicBezTo>
                <a:cubicBezTo>
                  <a:pt x="176312" y="19091"/>
                  <a:pt x="173365" y="22039"/>
                  <a:pt x="169701" y="22039"/>
                </a:cubicBezTo>
                <a:lnTo>
                  <a:pt x="154273" y="22039"/>
                </a:lnTo>
                <a:cubicBezTo>
                  <a:pt x="152180" y="22039"/>
                  <a:pt x="150224" y="21047"/>
                  <a:pt x="148984" y="19394"/>
                </a:cubicBezTo>
                <a:lnTo>
                  <a:pt x="142345" y="10551"/>
                </a:lnTo>
                <a:lnTo>
                  <a:pt x="129397" y="38072"/>
                </a:lnTo>
                <a:cubicBezTo>
                  <a:pt x="128377" y="40221"/>
                  <a:pt x="126284" y="41681"/>
                  <a:pt x="123915" y="41847"/>
                </a:cubicBezTo>
                <a:cubicBezTo>
                  <a:pt x="121545" y="42012"/>
                  <a:pt x="119259" y="40910"/>
                  <a:pt x="117936" y="38926"/>
                </a:cubicBezTo>
                <a:lnTo>
                  <a:pt x="106669" y="22039"/>
                </a:lnTo>
                <a:lnTo>
                  <a:pt x="94768" y="22039"/>
                </a:lnTo>
                <a:cubicBezTo>
                  <a:pt x="91104" y="22039"/>
                  <a:pt x="88156" y="19091"/>
                  <a:pt x="88156" y="15427"/>
                </a:cubicBezTo>
                <a:cubicBezTo>
                  <a:pt x="88156" y="11763"/>
                  <a:pt x="91104" y="8816"/>
                  <a:pt x="94768" y="8816"/>
                </a:cubicBezTo>
                <a:lnTo>
                  <a:pt x="110195" y="8816"/>
                </a:lnTo>
                <a:cubicBezTo>
                  <a:pt x="112399" y="8816"/>
                  <a:pt x="114465" y="9918"/>
                  <a:pt x="115705" y="11763"/>
                </a:cubicBezTo>
                <a:lnTo>
                  <a:pt x="122427" y="21846"/>
                </a:lnTo>
                <a:lnTo>
                  <a:pt x="135072" y="-5014"/>
                </a:lnTo>
                <a:cubicBezTo>
                  <a:pt x="136064" y="-7108"/>
                  <a:pt x="138075" y="-8540"/>
                  <a:pt x="140389" y="-8788"/>
                </a:cubicBezTo>
                <a:cubicBezTo>
                  <a:pt x="142703" y="-9036"/>
                  <a:pt x="144962" y="-8044"/>
                  <a:pt x="146339" y="-6171"/>
                </a:cubicBezTo>
                <a:close/>
                <a:moveTo>
                  <a:pt x="88156" y="44078"/>
                </a:moveTo>
                <a:cubicBezTo>
                  <a:pt x="88156" y="39202"/>
                  <a:pt x="92096" y="35262"/>
                  <a:pt x="96972" y="35262"/>
                </a:cubicBezTo>
                <a:lnTo>
                  <a:pt x="99589" y="35262"/>
                </a:lnTo>
                <a:lnTo>
                  <a:pt x="106917" y="46254"/>
                </a:lnTo>
                <a:cubicBezTo>
                  <a:pt x="110884" y="52205"/>
                  <a:pt x="117744" y="55566"/>
                  <a:pt x="124879" y="55043"/>
                </a:cubicBezTo>
                <a:cubicBezTo>
                  <a:pt x="132014" y="54519"/>
                  <a:pt x="138323" y="50194"/>
                  <a:pt x="141353" y="43720"/>
                </a:cubicBezTo>
                <a:lnTo>
                  <a:pt x="145182" y="35593"/>
                </a:lnTo>
                <a:cubicBezTo>
                  <a:pt x="157827" y="37577"/>
                  <a:pt x="167497" y="48513"/>
                  <a:pt x="167497" y="61709"/>
                </a:cubicBezTo>
                <a:lnTo>
                  <a:pt x="167497" y="123419"/>
                </a:lnTo>
                <a:cubicBezTo>
                  <a:pt x="167497" y="128295"/>
                  <a:pt x="163557" y="132234"/>
                  <a:pt x="158681" y="132234"/>
                </a:cubicBezTo>
                <a:cubicBezTo>
                  <a:pt x="153805" y="132234"/>
                  <a:pt x="149866" y="128295"/>
                  <a:pt x="149866" y="123419"/>
                </a:cubicBezTo>
                <a:lnTo>
                  <a:pt x="149866" y="105787"/>
                </a:lnTo>
                <a:lnTo>
                  <a:pt x="26447" y="105787"/>
                </a:lnTo>
                <a:lnTo>
                  <a:pt x="26447" y="123419"/>
                </a:lnTo>
                <a:cubicBezTo>
                  <a:pt x="26447" y="128295"/>
                  <a:pt x="22507" y="132234"/>
                  <a:pt x="17631" y="132234"/>
                </a:cubicBezTo>
                <a:cubicBezTo>
                  <a:pt x="12755" y="132234"/>
                  <a:pt x="8816" y="128295"/>
                  <a:pt x="8816" y="123419"/>
                </a:cubicBezTo>
                <a:lnTo>
                  <a:pt x="8816" y="17631"/>
                </a:lnTo>
                <a:cubicBezTo>
                  <a:pt x="8816" y="12755"/>
                  <a:pt x="12755" y="8816"/>
                  <a:pt x="17631" y="8816"/>
                </a:cubicBezTo>
                <a:cubicBezTo>
                  <a:pt x="22507" y="8816"/>
                  <a:pt x="26447" y="12755"/>
                  <a:pt x="26447" y="17631"/>
                </a:cubicBezTo>
                <a:lnTo>
                  <a:pt x="26447" y="79341"/>
                </a:lnTo>
                <a:lnTo>
                  <a:pt x="88156" y="79341"/>
                </a:lnTo>
                <a:lnTo>
                  <a:pt x="88156" y="44078"/>
                </a:lnTo>
                <a:close/>
                <a:moveTo>
                  <a:pt x="39670" y="52894"/>
                </a:moveTo>
                <a:cubicBezTo>
                  <a:pt x="39670" y="43163"/>
                  <a:pt x="47571" y="35262"/>
                  <a:pt x="57302" y="35262"/>
                </a:cubicBezTo>
                <a:cubicBezTo>
                  <a:pt x="67032" y="35262"/>
                  <a:pt x="74933" y="43163"/>
                  <a:pt x="74933" y="52894"/>
                </a:cubicBezTo>
                <a:cubicBezTo>
                  <a:pt x="74933" y="62625"/>
                  <a:pt x="67032" y="70525"/>
                  <a:pt x="57302" y="70525"/>
                </a:cubicBezTo>
                <a:cubicBezTo>
                  <a:pt x="47571" y="70525"/>
                  <a:pt x="39670" y="62625"/>
                  <a:pt x="39670" y="5289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8"/>
          <p:cNvSpPr/>
          <p:nvPr/>
        </p:nvSpPr>
        <p:spPr>
          <a:xfrm>
            <a:off x="7020318" y="2686999"/>
            <a:ext cx="3526247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Inpatient: Low Volume, High Cost</a:t>
            </a:r>
            <a:endParaRPr lang="en-US" sz="1600"/>
          </a:p>
        </p:txBody>
      </p:sp>
      <p:sp>
        <p:nvSpPr>
          <p:cNvPr id="32" name="Text 29"/>
          <p:cNvSpPr/>
          <p:nvPr/>
        </p:nvSpPr>
        <p:spPr>
          <a:xfrm>
            <a:off x="7020318" y="2933836"/>
            <a:ext cx="3517432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b="1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Inpatient care is low volume</a:t>
            </a:r>
            <a:r>
              <a:rPr lang="en-US" sz="972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but extremely high cost per episode</a:t>
            </a:r>
            <a:endParaRPr lang="en-US" sz="1600"/>
          </a:p>
        </p:txBody>
      </p:sp>
      <p:sp>
        <p:nvSpPr>
          <p:cNvPr id="33" name="Shape 30"/>
          <p:cNvSpPr/>
          <p:nvPr/>
        </p:nvSpPr>
        <p:spPr>
          <a:xfrm>
            <a:off x="6403225" y="3392248"/>
            <a:ext cx="5254108" cy="705249"/>
          </a:xfrm>
          <a:custGeom>
            <a:avLst/>
            <a:gdLst/>
            <a:ahLst/>
            <a:cxnLst/>
            <a:rect l="l" t="t" r="r" b="b"/>
            <a:pathLst>
              <a:path w="5254108" h="705249">
                <a:moveTo>
                  <a:pt x="35262" y="0"/>
                </a:moveTo>
                <a:lnTo>
                  <a:pt x="5183584" y="0"/>
                </a:lnTo>
                <a:cubicBezTo>
                  <a:pt x="5222533" y="0"/>
                  <a:pt x="5254108" y="31575"/>
                  <a:pt x="5254108" y="70525"/>
                </a:cubicBezTo>
                <a:lnTo>
                  <a:pt x="5254108" y="634725"/>
                </a:lnTo>
                <a:cubicBezTo>
                  <a:pt x="5254108" y="673674"/>
                  <a:pt x="5222533" y="705249"/>
                  <a:pt x="5183584" y="705249"/>
                </a:cubicBezTo>
                <a:lnTo>
                  <a:pt x="35262" y="705249"/>
                </a:lnTo>
                <a:cubicBezTo>
                  <a:pt x="15788" y="705249"/>
                  <a:pt x="0" y="689462"/>
                  <a:pt x="0" y="669987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6403225" y="3392248"/>
            <a:ext cx="35262" cy="705249"/>
          </a:xfrm>
          <a:custGeom>
            <a:avLst/>
            <a:gdLst/>
            <a:ahLst/>
            <a:cxnLst/>
            <a:rect l="l" t="t" r="r" b="b"/>
            <a:pathLst>
              <a:path w="35262" h="705249">
                <a:moveTo>
                  <a:pt x="35262" y="0"/>
                </a:moveTo>
                <a:lnTo>
                  <a:pt x="35262" y="0"/>
                </a:lnTo>
                <a:lnTo>
                  <a:pt x="35262" y="705249"/>
                </a:lnTo>
                <a:lnTo>
                  <a:pt x="35262" y="705249"/>
                </a:lnTo>
                <a:cubicBezTo>
                  <a:pt x="15788" y="705249"/>
                  <a:pt x="0" y="689462"/>
                  <a:pt x="0" y="669987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5" name="Shape 32"/>
          <p:cNvSpPr/>
          <p:nvPr/>
        </p:nvSpPr>
        <p:spPr>
          <a:xfrm>
            <a:off x="6561906" y="3533298"/>
            <a:ext cx="352625" cy="352625"/>
          </a:xfrm>
          <a:custGeom>
            <a:avLst/>
            <a:gdLst/>
            <a:ahLst/>
            <a:cxnLst/>
            <a:rect l="l" t="t" r="r" b="b"/>
            <a:pathLst>
              <a:path w="352625" h="352625">
                <a:moveTo>
                  <a:pt x="70525" y="0"/>
                </a:moveTo>
                <a:lnTo>
                  <a:pt x="282100" y="0"/>
                </a:lnTo>
                <a:cubicBezTo>
                  <a:pt x="321050" y="0"/>
                  <a:pt x="352625" y="31575"/>
                  <a:pt x="352625" y="70525"/>
                </a:cubicBezTo>
                <a:lnTo>
                  <a:pt x="352625" y="282100"/>
                </a:lnTo>
                <a:cubicBezTo>
                  <a:pt x="352625" y="321050"/>
                  <a:pt x="321050" y="352625"/>
                  <a:pt x="282100" y="352625"/>
                </a:cubicBezTo>
                <a:lnTo>
                  <a:pt x="70525" y="352625"/>
                </a:lnTo>
                <a:cubicBezTo>
                  <a:pt x="31575" y="352625"/>
                  <a:pt x="0" y="321050"/>
                  <a:pt x="0" y="282100"/>
                </a:cubicBezTo>
                <a:lnTo>
                  <a:pt x="0" y="70525"/>
                </a:lnTo>
                <a:cubicBezTo>
                  <a:pt x="0" y="31601"/>
                  <a:pt x="31601" y="0"/>
                  <a:pt x="7052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6" name="Shape 33"/>
          <p:cNvSpPr/>
          <p:nvPr/>
        </p:nvSpPr>
        <p:spPr>
          <a:xfrm>
            <a:off x="6658878" y="3639085"/>
            <a:ext cx="158681" cy="141050"/>
          </a:xfrm>
          <a:custGeom>
            <a:avLst/>
            <a:gdLst/>
            <a:ahLst/>
            <a:cxnLst/>
            <a:rect l="l" t="t" r="r" b="b"/>
            <a:pathLst>
              <a:path w="158681" h="141050">
                <a:moveTo>
                  <a:pt x="8816" y="13223"/>
                </a:moveTo>
                <a:cubicBezTo>
                  <a:pt x="8816" y="5923"/>
                  <a:pt x="14739" y="0"/>
                  <a:pt x="22039" y="0"/>
                </a:cubicBezTo>
                <a:lnTo>
                  <a:pt x="35262" y="0"/>
                </a:lnTo>
                <a:cubicBezTo>
                  <a:pt x="40139" y="0"/>
                  <a:pt x="44078" y="3939"/>
                  <a:pt x="44078" y="8816"/>
                </a:cubicBezTo>
                <a:cubicBezTo>
                  <a:pt x="44078" y="13692"/>
                  <a:pt x="40139" y="17631"/>
                  <a:pt x="35262" y="17631"/>
                </a:cubicBezTo>
                <a:lnTo>
                  <a:pt x="26447" y="17631"/>
                </a:lnTo>
                <a:lnTo>
                  <a:pt x="26447" y="52894"/>
                </a:lnTo>
                <a:cubicBezTo>
                  <a:pt x="26447" y="67495"/>
                  <a:pt x="38293" y="79341"/>
                  <a:pt x="52894" y="79341"/>
                </a:cubicBezTo>
                <a:cubicBezTo>
                  <a:pt x="67495" y="79341"/>
                  <a:pt x="79341" y="67495"/>
                  <a:pt x="79341" y="52894"/>
                </a:cubicBezTo>
                <a:lnTo>
                  <a:pt x="79341" y="17631"/>
                </a:lnTo>
                <a:lnTo>
                  <a:pt x="70525" y="17631"/>
                </a:lnTo>
                <a:cubicBezTo>
                  <a:pt x="65649" y="17631"/>
                  <a:pt x="61709" y="13692"/>
                  <a:pt x="61709" y="8816"/>
                </a:cubicBezTo>
                <a:cubicBezTo>
                  <a:pt x="61709" y="3939"/>
                  <a:pt x="65649" y="0"/>
                  <a:pt x="70525" y="0"/>
                </a:cubicBezTo>
                <a:lnTo>
                  <a:pt x="83748" y="0"/>
                </a:lnTo>
                <a:cubicBezTo>
                  <a:pt x="91049" y="0"/>
                  <a:pt x="96972" y="5923"/>
                  <a:pt x="96972" y="13223"/>
                </a:cubicBezTo>
                <a:lnTo>
                  <a:pt x="96972" y="52894"/>
                </a:lnTo>
                <a:cubicBezTo>
                  <a:pt x="96972" y="74216"/>
                  <a:pt x="81820" y="92013"/>
                  <a:pt x="61709" y="96090"/>
                </a:cubicBezTo>
                <a:lnTo>
                  <a:pt x="61709" y="101380"/>
                </a:lnTo>
                <a:cubicBezTo>
                  <a:pt x="61709" y="118432"/>
                  <a:pt x="75511" y="132234"/>
                  <a:pt x="92564" y="132234"/>
                </a:cubicBezTo>
                <a:cubicBezTo>
                  <a:pt x="109617" y="132234"/>
                  <a:pt x="123419" y="118432"/>
                  <a:pt x="123419" y="101380"/>
                </a:cubicBezTo>
                <a:lnTo>
                  <a:pt x="123419" y="77825"/>
                </a:lnTo>
                <a:cubicBezTo>
                  <a:pt x="113143" y="74189"/>
                  <a:pt x="105787" y="64409"/>
                  <a:pt x="105787" y="52894"/>
                </a:cubicBezTo>
                <a:cubicBezTo>
                  <a:pt x="105787" y="38293"/>
                  <a:pt x="117633" y="26447"/>
                  <a:pt x="132234" y="26447"/>
                </a:cubicBezTo>
                <a:cubicBezTo>
                  <a:pt x="146835" y="26447"/>
                  <a:pt x="158681" y="38293"/>
                  <a:pt x="158681" y="52894"/>
                </a:cubicBezTo>
                <a:cubicBezTo>
                  <a:pt x="158681" y="64409"/>
                  <a:pt x="151326" y="74216"/>
                  <a:pt x="141050" y="77825"/>
                </a:cubicBezTo>
                <a:lnTo>
                  <a:pt x="141050" y="101380"/>
                </a:lnTo>
                <a:cubicBezTo>
                  <a:pt x="141050" y="128157"/>
                  <a:pt x="119341" y="149866"/>
                  <a:pt x="92564" y="149866"/>
                </a:cubicBezTo>
                <a:cubicBezTo>
                  <a:pt x="65787" y="149866"/>
                  <a:pt x="44078" y="128157"/>
                  <a:pt x="44078" y="101380"/>
                </a:cubicBezTo>
                <a:lnTo>
                  <a:pt x="44078" y="96090"/>
                </a:lnTo>
                <a:cubicBezTo>
                  <a:pt x="23967" y="92013"/>
                  <a:pt x="8816" y="74216"/>
                  <a:pt x="8816" y="52894"/>
                </a:cubicBezTo>
                <a:lnTo>
                  <a:pt x="8816" y="13223"/>
                </a:lnTo>
                <a:close/>
                <a:moveTo>
                  <a:pt x="132234" y="61709"/>
                </a:moveTo>
                <a:cubicBezTo>
                  <a:pt x="137100" y="61709"/>
                  <a:pt x="141050" y="57759"/>
                  <a:pt x="141050" y="52894"/>
                </a:cubicBezTo>
                <a:cubicBezTo>
                  <a:pt x="141050" y="48028"/>
                  <a:pt x="137100" y="44078"/>
                  <a:pt x="132234" y="44078"/>
                </a:cubicBezTo>
                <a:cubicBezTo>
                  <a:pt x="127369" y="44078"/>
                  <a:pt x="123419" y="48028"/>
                  <a:pt x="123419" y="52894"/>
                </a:cubicBezTo>
                <a:cubicBezTo>
                  <a:pt x="123419" y="57759"/>
                  <a:pt x="127369" y="61709"/>
                  <a:pt x="132234" y="6170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Text 34"/>
          <p:cNvSpPr/>
          <p:nvPr/>
        </p:nvSpPr>
        <p:spPr>
          <a:xfrm>
            <a:off x="7020318" y="3533298"/>
            <a:ext cx="3667297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Office Visits: Steady Contributor</a:t>
            </a:r>
            <a:endParaRPr lang="en-US" sz="1600"/>
          </a:p>
        </p:txBody>
      </p:sp>
      <p:sp>
        <p:nvSpPr>
          <p:cNvPr id="38" name="Text 35"/>
          <p:cNvSpPr/>
          <p:nvPr/>
        </p:nvSpPr>
        <p:spPr>
          <a:xfrm>
            <a:off x="7020318" y="3780135"/>
            <a:ext cx="3658482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b="1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Office visits</a:t>
            </a:r>
            <a:r>
              <a:rPr lang="en-US" sz="972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are second most common (27.6%) with moderate cost</a:t>
            </a:r>
            <a:endParaRPr lang="en-US" sz="1600"/>
          </a:p>
        </p:txBody>
      </p:sp>
      <p:sp>
        <p:nvSpPr>
          <p:cNvPr id="39" name="Shape 36"/>
          <p:cNvSpPr/>
          <p:nvPr/>
        </p:nvSpPr>
        <p:spPr>
          <a:xfrm>
            <a:off x="6205754" y="4425446"/>
            <a:ext cx="5631417" cy="1029664"/>
          </a:xfrm>
          <a:custGeom>
            <a:avLst/>
            <a:gdLst/>
            <a:ahLst/>
            <a:cxnLst/>
            <a:rect l="l" t="t" r="r" b="b"/>
            <a:pathLst>
              <a:path w="5631417" h="1029664">
                <a:moveTo>
                  <a:pt x="105788" y="0"/>
                </a:moveTo>
                <a:lnTo>
                  <a:pt x="5525629" y="0"/>
                </a:lnTo>
                <a:cubicBezTo>
                  <a:pt x="5584054" y="0"/>
                  <a:pt x="5631417" y="47363"/>
                  <a:pt x="5631417" y="105788"/>
                </a:cubicBezTo>
                <a:lnTo>
                  <a:pt x="5631417" y="923877"/>
                </a:lnTo>
                <a:cubicBezTo>
                  <a:pt x="5631417" y="982301"/>
                  <a:pt x="5584054" y="1029664"/>
                  <a:pt x="5525629" y="1029664"/>
                </a:cubicBezTo>
                <a:lnTo>
                  <a:pt x="105788" y="1029664"/>
                </a:lnTo>
                <a:cubicBezTo>
                  <a:pt x="47363" y="1029664"/>
                  <a:pt x="0" y="982301"/>
                  <a:pt x="0" y="923877"/>
                </a:cubicBezTo>
                <a:lnTo>
                  <a:pt x="0" y="105788"/>
                </a:lnTo>
                <a:cubicBezTo>
                  <a:pt x="0" y="47402"/>
                  <a:pt x="47402" y="0"/>
                  <a:pt x="10578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350331" y="4570020"/>
            <a:ext cx="5412790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Spending by Insurance Type</a:t>
            </a:r>
            <a:endParaRPr lang="en-US" sz="1600"/>
          </a:p>
        </p:txBody>
      </p:sp>
      <p:sp>
        <p:nvSpPr>
          <p:cNvPr id="41" name="Shape 38"/>
          <p:cNvSpPr/>
          <p:nvPr/>
        </p:nvSpPr>
        <p:spPr>
          <a:xfrm>
            <a:off x="6350331" y="4922645"/>
            <a:ext cx="105787" cy="105787"/>
          </a:xfrm>
          <a:custGeom>
            <a:avLst/>
            <a:gdLst/>
            <a:ahLst/>
            <a:cxnLst/>
            <a:rect l="l" t="t" r="r" b="b"/>
            <a:pathLst>
              <a:path w="105787" h="105787">
                <a:moveTo>
                  <a:pt x="52894" y="0"/>
                </a:moveTo>
                <a:lnTo>
                  <a:pt x="52894" y="0"/>
                </a:lnTo>
                <a:cubicBezTo>
                  <a:pt x="82087" y="0"/>
                  <a:pt x="105787" y="23701"/>
                  <a:pt x="105787" y="52894"/>
                </a:cubicBezTo>
                <a:lnTo>
                  <a:pt x="105787" y="52894"/>
                </a:lnTo>
                <a:cubicBezTo>
                  <a:pt x="105787" y="82087"/>
                  <a:pt x="82087" y="105787"/>
                  <a:pt x="52894" y="105787"/>
                </a:cubicBezTo>
                <a:lnTo>
                  <a:pt x="52894" y="105787"/>
                </a:lnTo>
                <a:cubicBezTo>
                  <a:pt x="23701" y="105787"/>
                  <a:pt x="0" y="82087"/>
                  <a:pt x="0" y="52894"/>
                </a:cubicBezTo>
                <a:lnTo>
                  <a:pt x="0" y="52894"/>
                </a:lnTo>
                <a:cubicBezTo>
                  <a:pt x="0" y="23701"/>
                  <a:pt x="23701" y="0"/>
                  <a:pt x="52894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2" name="Text 39"/>
          <p:cNvSpPr/>
          <p:nvPr/>
        </p:nvSpPr>
        <p:spPr>
          <a:xfrm>
            <a:off x="6526643" y="4887382"/>
            <a:ext cx="3596772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insurance</a:t>
            </a:r>
            <a:r>
              <a:rPr lang="en-US" sz="972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consistently shows highest spending per service</a:t>
            </a:r>
            <a:endParaRPr lang="en-US" sz="1600"/>
          </a:p>
        </p:txBody>
      </p:sp>
      <p:sp>
        <p:nvSpPr>
          <p:cNvPr id="43" name="Shape 40"/>
          <p:cNvSpPr/>
          <p:nvPr/>
        </p:nvSpPr>
        <p:spPr>
          <a:xfrm>
            <a:off x="6350331" y="5169482"/>
            <a:ext cx="105787" cy="105787"/>
          </a:xfrm>
          <a:custGeom>
            <a:avLst/>
            <a:gdLst/>
            <a:ahLst/>
            <a:cxnLst/>
            <a:rect l="l" t="t" r="r" b="b"/>
            <a:pathLst>
              <a:path w="105787" h="105787">
                <a:moveTo>
                  <a:pt x="52894" y="0"/>
                </a:moveTo>
                <a:lnTo>
                  <a:pt x="52894" y="0"/>
                </a:lnTo>
                <a:cubicBezTo>
                  <a:pt x="82087" y="0"/>
                  <a:pt x="105787" y="23701"/>
                  <a:pt x="105787" y="52894"/>
                </a:cubicBezTo>
                <a:lnTo>
                  <a:pt x="105787" y="52894"/>
                </a:lnTo>
                <a:cubicBezTo>
                  <a:pt x="105787" y="82087"/>
                  <a:pt x="82087" y="105787"/>
                  <a:pt x="52894" y="105787"/>
                </a:cubicBezTo>
                <a:lnTo>
                  <a:pt x="52894" y="105787"/>
                </a:lnTo>
                <a:cubicBezTo>
                  <a:pt x="23701" y="105787"/>
                  <a:pt x="0" y="82087"/>
                  <a:pt x="0" y="52894"/>
                </a:cubicBezTo>
                <a:lnTo>
                  <a:pt x="0" y="52894"/>
                </a:lnTo>
                <a:cubicBezTo>
                  <a:pt x="0" y="23701"/>
                  <a:pt x="23701" y="0"/>
                  <a:pt x="52894" y="0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44" name="Text 41"/>
          <p:cNvSpPr/>
          <p:nvPr/>
        </p:nvSpPr>
        <p:spPr>
          <a:xfrm>
            <a:off x="6526643" y="5134219"/>
            <a:ext cx="2732842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Uninsured</a:t>
            </a:r>
            <a:r>
              <a:rPr lang="en-US" sz="972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shows the lowest spending per service</a:t>
            </a:r>
            <a:endParaRPr lang="en-US" sz="160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9151F3CD-78D1-914A-7380-5B43B7839B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002" y="3252153"/>
            <a:ext cx="5151755" cy="3147695"/>
          </a:xfrm>
          <a:prstGeom prst="rect">
            <a:avLst/>
          </a:prstGeom>
        </p:spPr>
      </p:pic>
      <p:sp>
        <p:nvSpPr>
          <p:cNvPr id="7" name="Text 14">
            <a:extLst>
              <a:ext uri="{FF2B5EF4-FFF2-40B4-BE49-F238E27FC236}">
                <a16:creationId xmlns:a16="http://schemas.microsoft.com/office/drawing/2014/main" id="{A6497AD6-C532-FA25-10CB-3154601D75A4}"/>
              </a:ext>
            </a:extLst>
          </p:cNvPr>
          <p:cNvSpPr/>
          <p:nvPr/>
        </p:nvSpPr>
        <p:spPr>
          <a:xfrm>
            <a:off x="3684995" y="2249060"/>
            <a:ext cx="828668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>
                <a:solidFill>
                  <a:srgbClr val="86868B"/>
                </a:solidFill>
                <a:latin typeface="Liter"/>
              </a:rPr>
              <a:t>Outpatient</a:t>
            </a:r>
            <a:endParaRPr lang="en-US" sz="950">
              <a:latin typeface="Liter"/>
            </a:endParaRPr>
          </a:p>
        </p:txBody>
      </p:sp>
      <p:sp>
        <p:nvSpPr>
          <p:cNvPr id="10" name="Text 15">
            <a:extLst>
              <a:ext uri="{FF2B5EF4-FFF2-40B4-BE49-F238E27FC236}">
                <a16:creationId xmlns:a16="http://schemas.microsoft.com/office/drawing/2014/main" id="{BBB4100A-079C-6559-F9B2-6586E51F8DAC}"/>
              </a:ext>
            </a:extLst>
          </p:cNvPr>
          <p:cNvSpPr/>
          <p:nvPr/>
        </p:nvSpPr>
        <p:spPr>
          <a:xfrm>
            <a:off x="4534334" y="2249060"/>
            <a:ext cx="308547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>
                <a:solidFill>
                  <a:srgbClr val="86868B"/>
                </a:solidFill>
                <a:latin typeface="Liter"/>
              </a:rPr>
              <a:t>2.3%</a:t>
            </a:r>
            <a:endParaRPr lang="en-US" sz="950">
              <a:latin typeface="Liter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Exploratory Data Analysis</a:t>
            </a:r>
            <a:endParaRPr lang="en-US" sz="160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BMI, Physical Activity &amp; Healthcare Spending Patterns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384810" y="1223010"/>
            <a:ext cx="5589270" cy="5246370"/>
          </a:xfrm>
          <a:custGeom>
            <a:avLst/>
            <a:gdLst/>
            <a:ahLst/>
            <a:cxnLst/>
            <a:rect l="l" t="t" r="r" b="b"/>
            <a:pathLst>
              <a:path w="5589270" h="5246370">
                <a:moveTo>
                  <a:pt x="114318" y="0"/>
                </a:moveTo>
                <a:lnTo>
                  <a:pt x="5474952" y="0"/>
                </a:lnTo>
                <a:cubicBezTo>
                  <a:pt x="5538088" y="0"/>
                  <a:pt x="5589270" y="51182"/>
                  <a:pt x="5589270" y="114318"/>
                </a:cubicBezTo>
                <a:lnTo>
                  <a:pt x="5589270" y="5132052"/>
                </a:lnTo>
                <a:cubicBezTo>
                  <a:pt x="5589270" y="5195188"/>
                  <a:pt x="5538088" y="5246370"/>
                  <a:pt x="5474952" y="5246370"/>
                </a:cubicBezTo>
                <a:lnTo>
                  <a:pt x="114318" y="5246370"/>
                </a:lnTo>
                <a:cubicBezTo>
                  <a:pt x="51182" y="5246370"/>
                  <a:pt x="0" y="5195188"/>
                  <a:pt x="0" y="5132052"/>
                </a:cubicBezTo>
                <a:lnTo>
                  <a:pt x="0" y="114318"/>
                </a:lnTo>
                <a:cubicBezTo>
                  <a:pt x="0" y="51224"/>
                  <a:pt x="51224" y="0"/>
                  <a:pt x="11431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214110" y="1223010"/>
            <a:ext cx="5589270" cy="3970020"/>
          </a:xfrm>
          <a:custGeom>
            <a:avLst/>
            <a:gdLst/>
            <a:ahLst/>
            <a:cxnLst/>
            <a:rect l="l" t="t" r="r" b="b"/>
            <a:pathLst>
              <a:path w="5589270" h="3970020">
                <a:moveTo>
                  <a:pt x="114297" y="0"/>
                </a:moveTo>
                <a:lnTo>
                  <a:pt x="5474973" y="0"/>
                </a:lnTo>
                <a:cubicBezTo>
                  <a:pt x="5538098" y="0"/>
                  <a:pt x="5589270" y="51172"/>
                  <a:pt x="5589270" y="114297"/>
                </a:cubicBezTo>
                <a:lnTo>
                  <a:pt x="5589270" y="3855723"/>
                </a:lnTo>
                <a:cubicBezTo>
                  <a:pt x="5589270" y="3918848"/>
                  <a:pt x="5538098" y="3970020"/>
                  <a:pt x="5474973" y="3970020"/>
                </a:cubicBezTo>
                <a:lnTo>
                  <a:pt x="114297" y="3970020"/>
                </a:lnTo>
                <a:cubicBezTo>
                  <a:pt x="51172" y="3970020"/>
                  <a:pt x="0" y="3918848"/>
                  <a:pt x="0" y="385572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8420" y="1417318"/>
            <a:ext cx="5286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Findings</a:t>
            </a:r>
            <a:endParaRPr lang="en-US" sz="1600"/>
          </a:p>
        </p:txBody>
      </p:sp>
      <p:sp>
        <p:nvSpPr>
          <p:cNvPr id="9" name="Shape 6"/>
          <p:cNvSpPr/>
          <p:nvPr/>
        </p:nvSpPr>
        <p:spPr>
          <a:xfrm>
            <a:off x="6427470" y="1836418"/>
            <a:ext cx="5181600" cy="952500"/>
          </a:xfrm>
          <a:custGeom>
            <a:avLst/>
            <a:gdLst/>
            <a:ahLst/>
            <a:cxnLst/>
            <a:rect l="l" t="t" r="r" b="b"/>
            <a:pathLst>
              <a:path w="5181600" h="952500">
                <a:moveTo>
                  <a:pt x="38100" y="0"/>
                </a:moveTo>
                <a:lnTo>
                  <a:pt x="5105400" y="0"/>
                </a:lnTo>
                <a:cubicBezTo>
                  <a:pt x="5147456" y="0"/>
                  <a:pt x="5181600" y="34144"/>
                  <a:pt x="5181600" y="76200"/>
                </a:cubicBezTo>
                <a:lnTo>
                  <a:pt x="5181600" y="876300"/>
                </a:lnTo>
                <a:cubicBezTo>
                  <a:pt x="5181600" y="918356"/>
                  <a:pt x="5147456" y="952500"/>
                  <a:pt x="5105400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427470" y="1836418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3810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1" name="Shape 8"/>
          <p:cNvSpPr/>
          <p:nvPr/>
        </p:nvSpPr>
        <p:spPr>
          <a:xfrm>
            <a:off x="6598920" y="198881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2" name="Shape 9"/>
          <p:cNvSpPr/>
          <p:nvPr/>
        </p:nvSpPr>
        <p:spPr>
          <a:xfrm>
            <a:off x="6722745" y="2103118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4707" y="57150"/>
                </a:moveTo>
                <a:cubicBezTo>
                  <a:pt x="33814" y="54144"/>
                  <a:pt x="33338" y="50929"/>
                  <a:pt x="33338" y="47625"/>
                </a:cubicBezTo>
                <a:cubicBezTo>
                  <a:pt x="33338" y="29200"/>
                  <a:pt x="48250" y="14288"/>
                  <a:pt x="66675" y="14288"/>
                </a:cubicBezTo>
                <a:cubicBezTo>
                  <a:pt x="85100" y="14288"/>
                  <a:pt x="100013" y="29200"/>
                  <a:pt x="100013" y="47625"/>
                </a:cubicBezTo>
                <a:cubicBezTo>
                  <a:pt x="100013" y="50929"/>
                  <a:pt x="99536" y="54144"/>
                  <a:pt x="98643" y="57150"/>
                </a:cubicBezTo>
                <a:lnTo>
                  <a:pt x="77510" y="57150"/>
                </a:lnTo>
                <a:lnTo>
                  <a:pt x="84832" y="43964"/>
                </a:lnTo>
                <a:cubicBezTo>
                  <a:pt x="86737" y="40511"/>
                  <a:pt x="85517" y="36165"/>
                  <a:pt x="82064" y="34260"/>
                </a:cubicBezTo>
                <a:cubicBezTo>
                  <a:pt x="78611" y="32355"/>
                  <a:pt x="74265" y="33576"/>
                  <a:pt x="72360" y="37028"/>
                </a:cubicBezTo>
                <a:lnTo>
                  <a:pt x="61168" y="57180"/>
                </a:lnTo>
                <a:lnTo>
                  <a:pt x="34736" y="57180"/>
                </a:lnTo>
                <a:close/>
                <a:moveTo>
                  <a:pt x="38100" y="9525"/>
                </a:moveTo>
                <a:lnTo>
                  <a:pt x="19050" y="9525"/>
                </a:lnTo>
                <a:cubicBezTo>
                  <a:pt x="8543" y="9525"/>
                  <a:pt x="0" y="18068"/>
                  <a:pt x="0" y="2857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28575"/>
                </a:lnTo>
                <a:cubicBezTo>
                  <a:pt x="133350" y="18068"/>
                  <a:pt x="124807" y="9525"/>
                  <a:pt x="114300" y="9525"/>
                </a:cubicBezTo>
                <a:lnTo>
                  <a:pt x="95250" y="9525"/>
                </a:lnTo>
                <a:cubicBezTo>
                  <a:pt x="87303" y="3542"/>
                  <a:pt x="77391" y="0"/>
                  <a:pt x="66675" y="0"/>
                </a:cubicBezTo>
                <a:cubicBezTo>
                  <a:pt x="55959" y="0"/>
                  <a:pt x="46047" y="3542"/>
                  <a:pt x="38100" y="95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7094220" y="1988818"/>
            <a:ext cx="4438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Obesity Shows Extreme Variability</a:t>
            </a:r>
            <a:endParaRPr lang="en-US" sz="1600"/>
          </a:p>
        </p:txBody>
      </p:sp>
      <p:sp>
        <p:nvSpPr>
          <p:cNvPr id="14" name="Text 11"/>
          <p:cNvSpPr/>
          <p:nvPr/>
        </p:nvSpPr>
        <p:spPr>
          <a:xfrm>
            <a:off x="7094220" y="2255518"/>
            <a:ext cx="44291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Obese category</a:t>
            </a: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shows highest variability and extreme spending outliers, indicating strong link between high BMI and costly health events</a:t>
            </a:r>
            <a:endParaRPr lang="en-US" sz="1600"/>
          </a:p>
        </p:txBody>
      </p:sp>
      <p:sp>
        <p:nvSpPr>
          <p:cNvPr id="15" name="Shape 12"/>
          <p:cNvSpPr/>
          <p:nvPr/>
        </p:nvSpPr>
        <p:spPr>
          <a:xfrm>
            <a:off x="6427470" y="2941318"/>
            <a:ext cx="5181600" cy="952500"/>
          </a:xfrm>
          <a:custGeom>
            <a:avLst/>
            <a:gdLst/>
            <a:ahLst/>
            <a:cxnLst/>
            <a:rect l="l" t="t" r="r" b="b"/>
            <a:pathLst>
              <a:path w="5181600" h="952500">
                <a:moveTo>
                  <a:pt x="38100" y="0"/>
                </a:moveTo>
                <a:lnTo>
                  <a:pt x="5105400" y="0"/>
                </a:lnTo>
                <a:cubicBezTo>
                  <a:pt x="5147456" y="0"/>
                  <a:pt x="5181600" y="34144"/>
                  <a:pt x="5181600" y="76200"/>
                </a:cubicBezTo>
                <a:lnTo>
                  <a:pt x="5181600" y="876300"/>
                </a:lnTo>
                <a:cubicBezTo>
                  <a:pt x="5181600" y="918356"/>
                  <a:pt x="5147456" y="952500"/>
                  <a:pt x="5105400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6427470" y="2941318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3810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7" name="Shape 14"/>
          <p:cNvSpPr/>
          <p:nvPr/>
        </p:nvSpPr>
        <p:spPr>
          <a:xfrm>
            <a:off x="6598920" y="309371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8" name="Shape 15"/>
          <p:cNvSpPr/>
          <p:nvPr/>
        </p:nvSpPr>
        <p:spPr>
          <a:xfrm>
            <a:off x="6722745" y="3208018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6349" y="-9525"/>
                </a:moveTo>
                <a:cubicBezTo>
                  <a:pt x="85549" y="-9525"/>
                  <a:pt x="93018" y="-2056"/>
                  <a:pt x="93018" y="7144"/>
                </a:cubicBezTo>
                <a:cubicBezTo>
                  <a:pt x="93018" y="16343"/>
                  <a:pt x="85549" y="23813"/>
                  <a:pt x="76349" y="23813"/>
                </a:cubicBezTo>
                <a:cubicBezTo>
                  <a:pt x="67149" y="23813"/>
                  <a:pt x="59680" y="16343"/>
                  <a:pt x="59680" y="7144"/>
                </a:cubicBezTo>
                <a:cubicBezTo>
                  <a:pt x="59680" y="-2056"/>
                  <a:pt x="67149" y="-9525"/>
                  <a:pt x="76349" y="-9525"/>
                </a:cubicBezTo>
                <a:close/>
                <a:moveTo>
                  <a:pt x="36790" y="52388"/>
                </a:moveTo>
                <a:cubicBezTo>
                  <a:pt x="35808" y="52388"/>
                  <a:pt x="34945" y="52983"/>
                  <a:pt x="34588" y="53876"/>
                </a:cubicBezTo>
                <a:lnTo>
                  <a:pt x="28039" y="70217"/>
                </a:lnTo>
                <a:cubicBezTo>
                  <a:pt x="26075" y="75099"/>
                  <a:pt x="20538" y="77480"/>
                  <a:pt x="15657" y="75515"/>
                </a:cubicBezTo>
                <a:cubicBezTo>
                  <a:pt x="10775" y="73551"/>
                  <a:pt x="8394" y="68014"/>
                  <a:pt x="10358" y="63133"/>
                </a:cubicBezTo>
                <a:lnTo>
                  <a:pt x="16877" y="46792"/>
                </a:lnTo>
                <a:cubicBezTo>
                  <a:pt x="20151" y="38666"/>
                  <a:pt x="28009" y="33338"/>
                  <a:pt x="36790" y="33338"/>
                </a:cubicBezTo>
                <a:lnTo>
                  <a:pt x="65752" y="33338"/>
                </a:lnTo>
                <a:cubicBezTo>
                  <a:pt x="74235" y="33338"/>
                  <a:pt x="82064" y="37832"/>
                  <a:pt x="86320" y="45154"/>
                </a:cubicBezTo>
                <a:lnTo>
                  <a:pt x="96083" y="61912"/>
                </a:lnTo>
                <a:lnTo>
                  <a:pt x="114419" y="61912"/>
                </a:lnTo>
                <a:cubicBezTo>
                  <a:pt x="119688" y="61912"/>
                  <a:pt x="123944" y="66169"/>
                  <a:pt x="123944" y="71438"/>
                </a:cubicBezTo>
                <a:cubicBezTo>
                  <a:pt x="123944" y="76706"/>
                  <a:pt x="119688" y="80962"/>
                  <a:pt x="114419" y="80962"/>
                </a:cubicBezTo>
                <a:lnTo>
                  <a:pt x="96083" y="80962"/>
                </a:lnTo>
                <a:cubicBezTo>
                  <a:pt x="89297" y="80962"/>
                  <a:pt x="83046" y="77361"/>
                  <a:pt x="79623" y="71497"/>
                </a:cubicBezTo>
                <a:lnTo>
                  <a:pt x="76646" y="66407"/>
                </a:lnTo>
                <a:lnTo>
                  <a:pt x="70485" y="87362"/>
                </a:lnTo>
                <a:lnTo>
                  <a:pt x="92928" y="94089"/>
                </a:lnTo>
                <a:cubicBezTo>
                  <a:pt x="101173" y="96560"/>
                  <a:pt x="105370" y="105698"/>
                  <a:pt x="101888" y="113586"/>
                </a:cubicBezTo>
                <a:lnTo>
                  <a:pt x="85040" y="151507"/>
                </a:lnTo>
                <a:cubicBezTo>
                  <a:pt x="82897" y="156329"/>
                  <a:pt x="77272" y="158472"/>
                  <a:pt x="72479" y="156329"/>
                </a:cubicBezTo>
                <a:cubicBezTo>
                  <a:pt x="67687" y="154186"/>
                  <a:pt x="65514" y="148560"/>
                  <a:pt x="67657" y="143768"/>
                </a:cubicBezTo>
                <a:lnTo>
                  <a:pt x="82302" y="110788"/>
                </a:lnTo>
                <a:lnTo>
                  <a:pt x="53757" y="102215"/>
                </a:lnTo>
                <a:cubicBezTo>
                  <a:pt x="44023" y="99298"/>
                  <a:pt x="38279" y="89208"/>
                  <a:pt x="40749" y="79355"/>
                </a:cubicBezTo>
                <a:lnTo>
                  <a:pt x="47506" y="52388"/>
                </a:lnTo>
                <a:lnTo>
                  <a:pt x="36820" y="52388"/>
                </a:lnTo>
                <a:close/>
                <a:moveTo>
                  <a:pt x="34409" y="106263"/>
                </a:moveTo>
                <a:cubicBezTo>
                  <a:pt x="38368" y="110698"/>
                  <a:pt x="43547" y="114092"/>
                  <a:pt x="49649" y="115907"/>
                </a:cubicBezTo>
                <a:lnTo>
                  <a:pt x="51048" y="116324"/>
                </a:lnTo>
                <a:lnTo>
                  <a:pt x="48994" y="122069"/>
                </a:lnTo>
                <a:cubicBezTo>
                  <a:pt x="47268" y="126921"/>
                  <a:pt x="44232" y="131237"/>
                  <a:pt x="40273" y="134511"/>
                </a:cubicBezTo>
                <a:lnTo>
                  <a:pt x="15746" y="154722"/>
                </a:lnTo>
                <a:cubicBezTo>
                  <a:pt x="11698" y="158055"/>
                  <a:pt x="5685" y="157490"/>
                  <a:pt x="2351" y="153442"/>
                </a:cubicBezTo>
                <a:cubicBezTo>
                  <a:pt x="-982" y="149394"/>
                  <a:pt x="-417" y="143381"/>
                  <a:pt x="3631" y="140047"/>
                </a:cubicBezTo>
                <a:lnTo>
                  <a:pt x="28158" y="119836"/>
                </a:lnTo>
                <a:cubicBezTo>
                  <a:pt x="29498" y="118735"/>
                  <a:pt x="30480" y="117306"/>
                  <a:pt x="31075" y="115699"/>
                </a:cubicBezTo>
                <a:lnTo>
                  <a:pt x="34409" y="10626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7094220" y="3093718"/>
            <a:ext cx="4438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Physical Activity Protective Effect</a:t>
            </a:r>
            <a:endParaRPr lang="en-US" sz="1600"/>
          </a:p>
        </p:txBody>
      </p:sp>
      <p:sp>
        <p:nvSpPr>
          <p:cNvPr id="20" name="Text 17"/>
          <p:cNvSpPr/>
          <p:nvPr/>
        </p:nvSpPr>
        <p:spPr>
          <a:xfrm>
            <a:off x="7094220" y="3360418"/>
            <a:ext cx="44291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Physically active individuals</a:t>
            </a: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generally cluster at lower expenditure levels, especially in normal and overweight groups</a:t>
            </a:r>
            <a:endParaRPr lang="en-US" sz="1600"/>
          </a:p>
        </p:txBody>
      </p:sp>
      <p:sp>
        <p:nvSpPr>
          <p:cNvPr id="21" name="Shape 18"/>
          <p:cNvSpPr/>
          <p:nvPr/>
        </p:nvSpPr>
        <p:spPr>
          <a:xfrm>
            <a:off x="6427470" y="4046218"/>
            <a:ext cx="5181600" cy="952500"/>
          </a:xfrm>
          <a:custGeom>
            <a:avLst/>
            <a:gdLst/>
            <a:ahLst/>
            <a:cxnLst/>
            <a:rect l="l" t="t" r="r" b="b"/>
            <a:pathLst>
              <a:path w="5181600" h="952500">
                <a:moveTo>
                  <a:pt x="38100" y="0"/>
                </a:moveTo>
                <a:lnTo>
                  <a:pt x="5105400" y="0"/>
                </a:lnTo>
                <a:cubicBezTo>
                  <a:pt x="5147456" y="0"/>
                  <a:pt x="5181600" y="34144"/>
                  <a:pt x="5181600" y="76200"/>
                </a:cubicBezTo>
                <a:lnTo>
                  <a:pt x="5181600" y="876300"/>
                </a:lnTo>
                <a:cubicBezTo>
                  <a:pt x="5181600" y="918356"/>
                  <a:pt x="5147456" y="952500"/>
                  <a:pt x="5105400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6427470" y="4046218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3810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3" name="Shape 20"/>
          <p:cNvSpPr/>
          <p:nvPr/>
        </p:nvSpPr>
        <p:spPr>
          <a:xfrm>
            <a:off x="6598920" y="419861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4" name="Shape 21"/>
          <p:cNvSpPr/>
          <p:nvPr/>
        </p:nvSpPr>
        <p:spPr>
          <a:xfrm>
            <a:off x="6713220" y="431291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2"/>
          <p:cNvSpPr/>
          <p:nvPr/>
        </p:nvSpPr>
        <p:spPr>
          <a:xfrm>
            <a:off x="7094220" y="4198618"/>
            <a:ext cx="4438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Nonlinear Escalation</a:t>
            </a:r>
            <a:endParaRPr lang="en-US" sz="1600"/>
          </a:p>
        </p:txBody>
      </p:sp>
      <p:sp>
        <p:nvSpPr>
          <p:cNvPr id="26" name="Text 23"/>
          <p:cNvSpPr/>
          <p:nvPr/>
        </p:nvSpPr>
        <p:spPr>
          <a:xfrm>
            <a:off x="7094220" y="4465318"/>
            <a:ext cx="44291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Spending dispersion increases</a:t>
            </a: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from normal to overweight to obese, suggesting risk and cost escalate non-linearly with BMI</a:t>
            </a:r>
            <a:endParaRPr lang="en-US" sz="1600"/>
          </a:p>
        </p:txBody>
      </p:sp>
      <p:sp>
        <p:nvSpPr>
          <p:cNvPr id="27" name="Shape 24"/>
          <p:cNvSpPr/>
          <p:nvPr/>
        </p:nvSpPr>
        <p:spPr>
          <a:xfrm>
            <a:off x="6214110" y="5353056"/>
            <a:ext cx="5589270" cy="998220"/>
          </a:xfrm>
          <a:custGeom>
            <a:avLst/>
            <a:gdLst/>
            <a:ahLst/>
            <a:cxnLst/>
            <a:rect l="l" t="t" r="r" b="b"/>
            <a:pathLst>
              <a:path w="5589270" h="998220">
                <a:moveTo>
                  <a:pt x="114296" y="0"/>
                </a:moveTo>
                <a:lnTo>
                  <a:pt x="5474974" y="0"/>
                </a:lnTo>
                <a:cubicBezTo>
                  <a:pt x="5538098" y="0"/>
                  <a:pt x="5589270" y="51172"/>
                  <a:pt x="5589270" y="114296"/>
                </a:cubicBezTo>
                <a:lnTo>
                  <a:pt x="5589270" y="883924"/>
                </a:lnTo>
                <a:cubicBezTo>
                  <a:pt x="5589270" y="947048"/>
                  <a:pt x="5538098" y="998220"/>
                  <a:pt x="5474974" y="998220"/>
                </a:cubicBezTo>
                <a:lnTo>
                  <a:pt x="114296" y="998220"/>
                </a:lnTo>
                <a:cubicBezTo>
                  <a:pt x="51172" y="998220"/>
                  <a:pt x="0" y="947048"/>
                  <a:pt x="0" y="8839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 w="10160">
            <a:solidFill>
              <a:srgbClr val="0071E3">
                <a:alpha val="2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408420" y="5539746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9" name="Text 26"/>
          <p:cNvSpPr/>
          <p:nvPr/>
        </p:nvSpPr>
        <p:spPr>
          <a:xfrm>
            <a:off x="6617970" y="5509264"/>
            <a:ext cx="5105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Prevention Opportunity:</a:t>
            </a:r>
            <a:r>
              <a:rPr lang="en-US" sz="120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protective effect of physical activity across all BMI categories suggests lifestyle interventions could yield significant cost savings.</a:t>
            </a:r>
            <a:endParaRPr lang="en-US" sz="160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BBF4DA9-B3C8-29D3-E15E-94DC9E1251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15" y="1415098"/>
            <a:ext cx="5327650" cy="492188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Exploratory Data Analysis</a:t>
            </a:r>
            <a:endParaRPr lang="en-US" sz="160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 Conditions &amp; Behaviors Impact on Expenditure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384810" y="1223010"/>
            <a:ext cx="5589270" cy="5246370"/>
          </a:xfrm>
          <a:custGeom>
            <a:avLst/>
            <a:gdLst/>
            <a:ahLst/>
            <a:cxnLst/>
            <a:rect l="l" t="t" r="r" b="b"/>
            <a:pathLst>
              <a:path w="5589270" h="5246370">
                <a:moveTo>
                  <a:pt x="114318" y="0"/>
                </a:moveTo>
                <a:lnTo>
                  <a:pt x="5474952" y="0"/>
                </a:lnTo>
                <a:cubicBezTo>
                  <a:pt x="5538088" y="0"/>
                  <a:pt x="5589270" y="51182"/>
                  <a:pt x="5589270" y="114318"/>
                </a:cubicBezTo>
                <a:lnTo>
                  <a:pt x="5589270" y="5132052"/>
                </a:lnTo>
                <a:cubicBezTo>
                  <a:pt x="5589270" y="5195188"/>
                  <a:pt x="5538088" y="5246370"/>
                  <a:pt x="5474952" y="5246370"/>
                </a:cubicBezTo>
                <a:lnTo>
                  <a:pt x="114318" y="5246370"/>
                </a:lnTo>
                <a:cubicBezTo>
                  <a:pt x="51182" y="5246370"/>
                  <a:pt x="0" y="5195188"/>
                  <a:pt x="0" y="5132052"/>
                </a:cubicBezTo>
                <a:lnTo>
                  <a:pt x="0" y="114318"/>
                </a:lnTo>
                <a:cubicBezTo>
                  <a:pt x="0" y="51224"/>
                  <a:pt x="51224" y="0"/>
                  <a:pt x="11431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9120" y="1417318"/>
            <a:ext cx="5286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Average Expenditure by Health Conditions &amp; Behaviors</a:t>
            </a:r>
            <a:endParaRPr lang="en-US" sz="1600"/>
          </a:p>
        </p:txBody>
      </p:sp>
      <p:sp>
        <p:nvSpPr>
          <p:cNvPr id="7" name="Shape 4"/>
          <p:cNvSpPr/>
          <p:nvPr/>
        </p:nvSpPr>
        <p:spPr>
          <a:xfrm>
            <a:off x="6214110" y="1223010"/>
            <a:ext cx="5589270" cy="3970020"/>
          </a:xfrm>
          <a:custGeom>
            <a:avLst/>
            <a:gdLst/>
            <a:ahLst/>
            <a:cxnLst/>
            <a:rect l="l" t="t" r="r" b="b"/>
            <a:pathLst>
              <a:path w="5589270" h="3970020">
                <a:moveTo>
                  <a:pt x="114297" y="0"/>
                </a:moveTo>
                <a:lnTo>
                  <a:pt x="5474973" y="0"/>
                </a:lnTo>
                <a:cubicBezTo>
                  <a:pt x="5538098" y="0"/>
                  <a:pt x="5589270" y="51172"/>
                  <a:pt x="5589270" y="114297"/>
                </a:cubicBezTo>
                <a:lnTo>
                  <a:pt x="5589270" y="3855723"/>
                </a:lnTo>
                <a:cubicBezTo>
                  <a:pt x="5589270" y="3918848"/>
                  <a:pt x="5538098" y="3970020"/>
                  <a:pt x="5474973" y="3970020"/>
                </a:cubicBezTo>
                <a:lnTo>
                  <a:pt x="114297" y="3970020"/>
                </a:lnTo>
                <a:cubicBezTo>
                  <a:pt x="51172" y="3970020"/>
                  <a:pt x="0" y="3918848"/>
                  <a:pt x="0" y="385572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8420" y="1417318"/>
            <a:ext cx="5286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Findings</a:t>
            </a:r>
            <a:endParaRPr lang="en-US" sz="1600"/>
          </a:p>
        </p:txBody>
      </p:sp>
      <p:sp>
        <p:nvSpPr>
          <p:cNvPr id="9" name="Shape 6"/>
          <p:cNvSpPr/>
          <p:nvPr/>
        </p:nvSpPr>
        <p:spPr>
          <a:xfrm>
            <a:off x="6427470" y="1836418"/>
            <a:ext cx="5181600" cy="952500"/>
          </a:xfrm>
          <a:custGeom>
            <a:avLst/>
            <a:gdLst/>
            <a:ahLst/>
            <a:cxnLst/>
            <a:rect l="l" t="t" r="r" b="b"/>
            <a:pathLst>
              <a:path w="5181600" h="952500">
                <a:moveTo>
                  <a:pt x="38100" y="0"/>
                </a:moveTo>
                <a:lnTo>
                  <a:pt x="5105400" y="0"/>
                </a:lnTo>
                <a:cubicBezTo>
                  <a:pt x="5147456" y="0"/>
                  <a:pt x="5181600" y="34144"/>
                  <a:pt x="5181600" y="76200"/>
                </a:cubicBezTo>
                <a:lnTo>
                  <a:pt x="5181600" y="876300"/>
                </a:lnTo>
                <a:cubicBezTo>
                  <a:pt x="5181600" y="918356"/>
                  <a:pt x="5147456" y="952500"/>
                  <a:pt x="5105400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427470" y="1836418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3810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1" name="Shape 8"/>
          <p:cNvSpPr/>
          <p:nvPr/>
        </p:nvSpPr>
        <p:spPr>
          <a:xfrm>
            <a:off x="6598920" y="198881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2" name="Shape 9"/>
          <p:cNvSpPr/>
          <p:nvPr/>
        </p:nvSpPr>
        <p:spPr>
          <a:xfrm>
            <a:off x="6713220" y="210311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7094220" y="1988818"/>
            <a:ext cx="4438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Clinical Conditions Drive Costs</a:t>
            </a:r>
            <a:endParaRPr lang="en-US" sz="1600"/>
          </a:p>
        </p:txBody>
      </p:sp>
      <p:sp>
        <p:nvSpPr>
          <p:cNvPr id="14" name="Text 11"/>
          <p:cNvSpPr/>
          <p:nvPr/>
        </p:nvSpPr>
        <p:spPr>
          <a:xfrm>
            <a:off x="7094220" y="2255518"/>
            <a:ext cx="44291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 conditions</a:t>
            </a: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(joint pain, vision, hearing issues) sharply increase spending, far above overall mean</a:t>
            </a:r>
            <a:endParaRPr lang="en-US" sz="1600"/>
          </a:p>
        </p:txBody>
      </p:sp>
      <p:sp>
        <p:nvSpPr>
          <p:cNvPr id="15" name="Shape 12"/>
          <p:cNvSpPr/>
          <p:nvPr/>
        </p:nvSpPr>
        <p:spPr>
          <a:xfrm>
            <a:off x="6427470" y="2941318"/>
            <a:ext cx="5181600" cy="952500"/>
          </a:xfrm>
          <a:custGeom>
            <a:avLst/>
            <a:gdLst/>
            <a:ahLst/>
            <a:cxnLst/>
            <a:rect l="l" t="t" r="r" b="b"/>
            <a:pathLst>
              <a:path w="5181600" h="952500">
                <a:moveTo>
                  <a:pt x="38100" y="0"/>
                </a:moveTo>
                <a:lnTo>
                  <a:pt x="5105400" y="0"/>
                </a:lnTo>
                <a:cubicBezTo>
                  <a:pt x="5147456" y="0"/>
                  <a:pt x="5181600" y="34144"/>
                  <a:pt x="5181600" y="76200"/>
                </a:cubicBezTo>
                <a:lnTo>
                  <a:pt x="5181600" y="876300"/>
                </a:lnTo>
                <a:cubicBezTo>
                  <a:pt x="5181600" y="918356"/>
                  <a:pt x="5147456" y="952500"/>
                  <a:pt x="5105400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6427470" y="2941318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3810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7" name="Shape 14"/>
          <p:cNvSpPr/>
          <p:nvPr/>
        </p:nvSpPr>
        <p:spPr>
          <a:xfrm>
            <a:off x="6598920" y="309371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8" name="Shape 15"/>
          <p:cNvSpPr/>
          <p:nvPr/>
        </p:nvSpPr>
        <p:spPr>
          <a:xfrm>
            <a:off x="6703695" y="3208018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07156" y="0"/>
                </a:moveTo>
                <a:cubicBezTo>
                  <a:pt x="111115" y="0"/>
                  <a:pt x="114300" y="3185"/>
                  <a:pt x="114300" y="7144"/>
                </a:cubicBezTo>
                <a:lnTo>
                  <a:pt x="114300" y="12799"/>
                </a:lnTo>
                <a:cubicBezTo>
                  <a:pt x="114300" y="24795"/>
                  <a:pt x="119062" y="36314"/>
                  <a:pt x="127546" y="44797"/>
                </a:cubicBezTo>
                <a:lnTo>
                  <a:pt x="133796" y="51048"/>
                </a:lnTo>
                <a:cubicBezTo>
                  <a:pt x="139601" y="56852"/>
                  <a:pt x="142875" y="64710"/>
                  <a:pt x="142875" y="72926"/>
                </a:cubicBezTo>
                <a:lnTo>
                  <a:pt x="142875" y="78581"/>
                </a:lnTo>
                <a:cubicBezTo>
                  <a:pt x="142875" y="82540"/>
                  <a:pt x="139690" y="85725"/>
                  <a:pt x="135731" y="85725"/>
                </a:cubicBezTo>
                <a:cubicBezTo>
                  <a:pt x="131772" y="85725"/>
                  <a:pt x="128588" y="82540"/>
                  <a:pt x="128588" y="78581"/>
                </a:cubicBezTo>
                <a:lnTo>
                  <a:pt x="128588" y="72926"/>
                </a:lnTo>
                <a:cubicBezTo>
                  <a:pt x="128588" y="68491"/>
                  <a:pt x="126831" y="64264"/>
                  <a:pt x="123706" y="61139"/>
                </a:cubicBezTo>
                <a:lnTo>
                  <a:pt x="117455" y="54888"/>
                </a:lnTo>
                <a:cubicBezTo>
                  <a:pt x="106293" y="43726"/>
                  <a:pt x="100013" y="28575"/>
                  <a:pt x="100013" y="12799"/>
                </a:cubicBezTo>
                <a:lnTo>
                  <a:pt x="100013" y="7144"/>
                </a:lnTo>
                <a:cubicBezTo>
                  <a:pt x="100013" y="3185"/>
                  <a:pt x="103197" y="0"/>
                  <a:pt x="107156" y="0"/>
                </a:cubicBezTo>
                <a:close/>
                <a:moveTo>
                  <a:pt x="164306" y="85725"/>
                </a:moveTo>
                <a:cubicBezTo>
                  <a:pt x="160347" y="85725"/>
                  <a:pt x="157163" y="82540"/>
                  <a:pt x="157163" y="78581"/>
                </a:cubicBezTo>
                <a:lnTo>
                  <a:pt x="157163" y="72926"/>
                </a:lnTo>
                <a:cubicBezTo>
                  <a:pt x="157163" y="60930"/>
                  <a:pt x="152400" y="49411"/>
                  <a:pt x="143917" y="40928"/>
                </a:cubicBezTo>
                <a:lnTo>
                  <a:pt x="137666" y="34677"/>
                </a:lnTo>
                <a:cubicBezTo>
                  <a:pt x="131862" y="28873"/>
                  <a:pt x="128588" y="21015"/>
                  <a:pt x="128588" y="12799"/>
                </a:cubicBezTo>
                <a:lnTo>
                  <a:pt x="128588" y="7144"/>
                </a:lnTo>
                <a:cubicBezTo>
                  <a:pt x="128588" y="3185"/>
                  <a:pt x="131772" y="0"/>
                  <a:pt x="135731" y="0"/>
                </a:cubicBezTo>
                <a:cubicBezTo>
                  <a:pt x="139690" y="0"/>
                  <a:pt x="142875" y="3185"/>
                  <a:pt x="142875" y="7144"/>
                </a:cubicBezTo>
                <a:lnTo>
                  <a:pt x="142875" y="12799"/>
                </a:lnTo>
                <a:cubicBezTo>
                  <a:pt x="142875" y="17234"/>
                  <a:pt x="144631" y="21461"/>
                  <a:pt x="147757" y="24586"/>
                </a:cubicBezTo>
                <a:lnTo>
                  <a:pt x="154007" y="30837"/>
                </a:lnTo>
                <a:cubicBezTo>
                  <a:pt x="165169" y="41999"/>
                  <a:pt x="171450" y="57150"/>
                  <a:pt x="171450" y="72926"/>
                </a:cubicBezTo>
                <a:lnTo>
                  <a:pt x="171450" y="78581"/>
                </a:lnTo>
                <a:cubicBezTo>
                  <a:pt x="171450" y="82540"/>
                  <a:pt x="168265" y="85725"/>
                  <a:pt x="164306" y="85725"/>
                </a:cubicBezTo>
                <a:close/>
                <a:moveTo>
                  <a:pt x="95250" y="133350"/>
                </a:moveTo>
                <a:lnTo>
                  <a:pt x="123825" y="133350"/>
                </a:lnTo>
                <a:lnTo>
                  <a:pt x="123825" y="123825"/>
                </a:lnTo>
                <a:lnTo>
                  <a:pt x="95250" y="123825"/>
                </a:lnTo>
                <a:lnTo>
                  <a:pt x="95250" y="133350"/>
                </a:lnTo>
                <a:close/>
                <a:moveTo>
                  <a:pt x="0" y="123825"/>
                </a:moveTo>
                <a:cubicBezTo>
                  <a:pt x="0" y="113318"/>
                  <a:pt x="8543" y="104775"/>
                  <a:pt x="19050" y="104775"/>
                </a:cubicBezTo>
                <a:lnTo>
                  <a:pt x="133350" y="104775"/>
                </a:lnTo>
                <a:cubicBezTo>
                  <a:pt x="138619" y="104775"/>
                  <a:pt x="142875" y="109031"/>
                  <a:pt x="142875" y="114300"/>
                </a:cubicBezTo>
                <a:lnTo>
                  <a:pt x="142875" y="142875"/>
                </a:lnTo>
                <a:cubicBezTo>
                  <a:pt x="142875" y="148144"/>
                  <a:pt x="138619" y="152400"/>
                  <a:pt x="1333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23825"/>
                </a:lnTo>
                <a:close/>
                <a:moveTo>
                  <a:pt x="171450" y="111919"/>
                </a:moveTo>
                <a:lnTo>
                  <a:pt x="171450" y="145256"/>
                </a:lnTo>
                <a:cubicBezTo>
                  <a:pt x="171450" y="149215"/>
                  <a:pt x="168265" y="152400"/>
                  <a:pt x="164306" y="152400"/>
                </a:cubicBezTo>
                <a:cubicBezTo>
                  <a:pt x="160347" y="152400"/>
                  <a:pt x="157163" y="149215"/>
                  <a:pt x="157163" y="145256"/>
                </a:cubicBezTo>
                <a:lnTo>
                  <a:pt x="157163" y="111919"/>
                </a:lnTo>
                <a:cubicBezTo>
                  <a:pt x="157163" y="107960"/>
                  <a:pt x="160347" y="104775"/>
                  <a:pt x="164306" y="104775"/>
                </a:cubicBezTo>
                <a:cubicBezTo>
                  <a:pt x="168265" y="104775"/>
                  <a:pt x="171450" y="107960"/>
                  <a:pt x="171450" y="11191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7094220" y="3093718"/>
            <a:ext cx="4438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Behaviors Show Mixed Patterns</a:t>
            </a:r>
            <a:endParaRPr lang="en-US" sz="1600"/>
          </a:p>
        </p:txBody>
      </p:sp>
      <p:sp>
        <p:nvSpPr>
          <p:cNvPr id="20" name="Text 17"/>
          <p:cNvSpPr/>
          <p:nvPr/>
        </p:nvSpPr>
        <p:spPr>
          <a:xfrm>
            <a:off x="7094220" y="3360418"/>
            <a:ext cx="44291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Smoking and physical activity</a:t>
            </a: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show mixed patterns, but not as impactful as health conditions</a:t>
            </a:r>
            <a:endParaRPr lang="en-US" sz="1600"/>
          </a:p>
        </p:txBody>
      </p:sp>
      <p:sp>
        <p:nvSpPr>
          <p:cNvPr id="21" name="Shape 18"/>
          <p:cNvSpPr/>
          <p:nvPr/>
        </p:nvSpPr>
        <p:spPr>
          <a:xfrm>
            <a:off x="6427470" y="4046218"/>
            <a:ext cx="5181600" cy="952500"/>
          </a:xfrm>
          <a:custGeom>
            <a:avLst/>
            <a:gdLst/>
            <a:ahLst/>
            <a:cxnLst/>
            <a:rect l="l" t="t" r="r" b="b"/>
            <a:pathLst>
              <a:path w="5181600" h="952500">
                <a:moveTo>
                  <a:pt x="38100" y="0"/>
                </a:moveTo>
                <a:lnTo>
                  <a:pt x="5105400" y="0"/>
                </a:lnTo>
                <a:cubicBezTo>
                  <a:pt x="5147456" y="0"/>
                  <a:pt x="5181600" y="34144"/>
                  <a:pt x="5181600" y="76200"/>
                </a:cubicBezTo>
                <a:lnTo>
                  <a:pt x="5181600" y="876300"/>
                </a:lnTo>
                <a:cubicBezTo>
                  <a:pt x="5181600" y="918356"/>
                  <a:pt x="5147456" y="952500"/>
                  <a:pt x="5105400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6427470" y="4046218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3810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3" name="Shape 20"/>
          <p:cNvSpPr/>
          <p:nvPr/>
        </p:nvSpPr>
        <p:spPr>
          <a:xfrm>
            <a:off x="6598920" y="419861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4" name="Shape 21"/>
          <p:cNvSpPr/>
          <p:nvPr/>
        </p:nvSpPr>
        <p:spPr>
          <a:xfrm>
            <a:off x="6703695" y="4312918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525" y="14288"/>
                </a:moveTo>
                <a:cubicBezTo>
                  <a:pt x="9525" y="6400"/>
                  <a:pt x="15925" y="0"/>
                  <a:pt x="23813" y="0"/>
                </a:cubicBezTo>
                <a:lnTo>
                  <a:pt x="38100" y="0"/>
                </a:lnTo>
                <a:cubicBezTo>
                  <a:pt x="43369" y="0"/>
                  <a:pt x="47625" y="4256"/>
                  <a:pt x="47625" y="9525"/>
                </a:cubicBezTo>
                <a:cubicBezTo>
                  <a:pt x="47625" y="14794"/>
                  <a:pt x="43369" y="19050"/>
                  <a:pt x="38100" y="19050"/>
                </a:cubicBezTo>
                <a:lnTo>
                  <a:pt x="28575" y="19050"/>
                </a:lnTo>
                <a:lnTo>
                  <a:pt x="28575" y="57150"/>
                </a:lnTo>
                <a:cubicBezTo>
                  <a:pt x="28575" y="72926"/>
                  <a:pt x="41374" y="85725"/>
                  <a:pt x="57150" y="85725"/>
                </a:cubicBezTo>
                <a:cubicBezTo>
                  <a:pt x="72926" y="85725"/>
                  <a:pt x="85725" y="72926"/>
                  <a:pt x="85725" y="57150"/>
                </a:cubicBezTo>
                <a:lnTo>
                  <a:pt x="85725" y="19050"/>
                </a:lnTo>
                <a:lnTo>
                  <a:pt x="76200" y="19050"/>
                </a:lnTo>
                <a:cubicBezTo>
                  <a:pt x="70931" y="19050"/>
                  <a:pt x="66675" y="14794"/>
                  <a:pt x="66675" y="9525"/>
                </a:cubicBezTo>
                <a:cubicBezTo>
                  <a:pt x="66675" y="4256"/>
                  <a:pt x="70931" y="0"/>
                  <a:pt x="76200" y="0"/>
                </a:cubicBezTo>
                <a:lnTo>
                  <a:pt x="90488" y="0"/>
                </a:lnTo>
                <a:cubicBezTo>
                  <a:pt x="98375" y="0"/>
                  <a:pt x="104775" y="6400"/>
                  <a:pt x="104775" y="14288"/>
                </a:cubicBezTo>
                <a:lnTo>
                  <a:pt x="104775" y="57150"/>
                </a:lnTo>
                <a:cubicBezTo>
                  <a:pt x="104775" y="80189"/>
                  <a:pt x="88404" y="99417"/>
                  <a:pt x="66675" y="103823"/>
                </a:cubicBezTo>
                <a:lnTo>
                  <a:pt x="66675" y="109537"/>
                </a:lnTo>
                <a:cubicBezTo>
                  <a:pt x="66675" y="127962"/>
                  <a:pt x="81588" y="142875"/>
                  <a:pt x="100013" y="142875"/>
                </a:cubicBezTo>
                <a:cubicBezTo>
                  <a:pt x="118437" y="142875"/>
                  <a:pt x="133350" y="127962"/>
                  <a:pt x="133350" y="109537"/>
                </a:cubicBezTo>
                <a:lnTo>
                  <a:pt x="133350" y="84088"/>
                </a:lnTo>
                <a:cubicBezTo>
                  <a:pt x="122247" y="80159"/>
                  <a:pt x="114300" y="69592"/>
                  <a:pt x="114300" y="57150"/>
                </a:cubicBezTo>
                <a:cubicBezTo>
                  <a:pt x="114300" y="41374"/>
                  <a:pt x="127099" y="28575"/>
                  <a:pt x="142875" y="28575"/>
                </a:cubicBezTo>
                <a:cubicBezTo>
                  <a:pt x="158651" y="28575"/>
                  <a:pt x="171450" y="41374"/>
                  <a:pt x="171450" y="57150"/>
                </a:cubicBezTo>
                <a:cubicBezTo>
                  <a:pt x="171450" y="69592"/>
                  <a:pt x="163503" y="80189"/>
                  <a:pt x="152400" y="84088"/>
                </a:cubicBezTo>
                <a:lnTo>
                  <a:pt x="152400" y="109537"/>
                </a:lnTo>
                <a:cubicBezTo>
                  <a:pt x="152400" y="138470"/>
                  <a:pt x="128945" y="161925"/>
                  <a:pt x="100013" y="161925"/>
                </a:cubicBezTo>
                <a:cubicBezTo>
                  <a:pt x="71080" y="161925"/>
                  <a:pt x="47625" y="138470"/>
                  <a:pt x="47625" y="109537"/>
                </a:cubicBezTo>
                <a:lnTo>
                  <a:pt x="47625" y="103823"/>
                </a:lnTo>
                <a:cubicBezTo>
                  <a:pt x="25896" y="99417"/>
                  <a:pt x="9525" y="80189"/>
                  <a:pt x="9525" y="57150"/>
                </a:cubicBezTo>
                <a:lnTo>
                  <a:pt x="9525" y="14288"/>
                </a:lnTo>
                <a:close/>
                <a:moveTo>
                  <a:pt x="142875" y="66675"/>
                </a:moveTo>
                <a:cubicBezTo>
                  <a:pt x="148132" y="66675"/>
                  <a:pt x="152400" y="62407"/>
                  <a:pt x="152400" y="57150"/>
                </a:cubicBezTo>
                <a:cubicBezTo>
                  <a:pt x="152400" y="51893"/>
                  <a:pt x="148132" y="47625"/>
                  <a:pt x="142875" y="47625"/>
                </a:cubicBezTo>
                <a:cubicBezTo>
                  <a:pt x="137618" y="47625"/>
                  <a:pt x="133350" y="51893"/>
                  <a:pt x="133350" y="57150"/>
                </a:cubicBezTo>
                <a:cubicBezTo>
                  <a:pt x="133350" y="62407"/>
                  <a:pt x="137618" y="66675"/>
                  <a:pt x="142875" y="666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2"/>
          <p:cNvSpPr/>
          <p:nvPr/>
        </p:nvSpPr>
        <p:spPr>
          <a:xfrm>
            <a:off x="7094220" y="4198618"/>
            <a:ext cx="4438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Diagnosed Conditions Matter Most</a:t>
            </a:r>
            <a:endParaRPr lang="en-US" sz="1600"/>
          </a:p>
        </p:txBody>
      </p:sp>
      <p:sp>
        <p:nvSpPr>
          <p:cNvPr id="26" name="Text 23"/>
          <p:cNvSpPr/>
          <p:nvPr/>
        </p:nvSpPr>
        <p:spPr>
          <a:xfrm>
            <a:off x="7094220" y="4465318"/>
            <a:ext cx="44291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Behavioral factors alone</a:t>
            </a: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don't spike costs as much as diagnosed conditions, highlighting clinical burden drives major expenses</a:t>
            </a:r>
            <a:endParaRPr lang="en-US" sz="1600"/>
          </a:p>
        </p:txBody>
      </p:sp>
      <p:sp>
        <p:nvSpPr>
          <p:cNvPr id="27" name="Shape 24"/>
          <p:cNvSpPr/>
          <p:nvPr/>
        </p:nvSpPr>
        <p:spPr>
          <a:xfrm>
            <a:off x="6183630" y="5383536"/>
            <a:ext cx="5670550" cy="1099820"/>
          </a:xfrm>
          <a:custGeom>
            <a:avLst/>
            <a:gdLst/>
            <a:ahLst/>
            <a:cxnLst/>
            <a:rect l="l" t="t" r="r" b="b"/>
            <a:pathLst>
              <a:path w="5589270" h="998220">
                <a:moveTo>
                  <a:pt x="114296" y="0"/>
                </a:moveTo>
                <a:lnTo>
                  <a:pt x="5474974" y="0"/>
                </a:lnTo>
                <a:cubicBezTo>
                  <a:pt x="5538098" y="0"/>
                  <a:pt x="5589270" y="51172"/>
                  <a:pt x="5589270" y="114296"/>
                </a:cubicBezTo>
                <a:lnTo>
                  <a:pt x="5589270" y="883924"/>
                </a:lnTo>
                <a:cubicBezTo>
                  <a:pt x="5589270" y="947048"/>
                  <a:pt x="5538098" y="998220"/>
                  <a:pt x="5474974" y="998220"/>
                </a:cubicBezTo>
                <a:lnTo>
                  <a:pt x="114296" y="998220"/>
                </a:lnTo>
                <a:cubicBezTo>
                  <a:pt x="51172" y="998220"/>
                  <a:pt x="0" y="947048"/>
                  <a:pt x="0" y="8839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 w="10160">
            <a:solidFill>
              <a:srgbClr val="0071E3">
                <a:alpha val="2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408420" y="5539746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9" name="Text 26"/>
          <p:cNvSpPr/>
          <p:nvPr/>
        </p:nvSpPr>
        <p:spPr>
          <a:xfrm>
            <a:off x="6617970" y="5509264"/>
            <a:ext cx="5105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Clinical Priority:</a:t>
            </a:r>
            <a:r>
              <a:rPr lang="en-US" sz="120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While lifestyle interventions are important, managing diagnosed conditions (joint pain, vision/hearing impairment) should be the primary focus for cost containment.</a:t>
            </a:r>
            <a:endParaRPr lang="en-US" sz="1600"/>
          </a:p>
        </p:txBody>
      </p:sp>
      <p:pic>
        <p:nvPicPr>
          <p:cNvPr id="31" name="Picture 30" descr="A graph of health conditions&#10;&#10;AI-generated content may be incorrect.">
            <a:extLst>
              <a:ext uri="{FF2B5EF4-FFF2-40B4-BE49-F238E27FC236}">
                <a16:creationId xmlns:a16="http://schemas.microsoft.com/office/drawing/2014/main" id="{71D46E34-C8A9-F1D4-3251-CE8E53C4D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1751013"/>
            <a:ext cx="5416550" cy="2675255"/>
          </a:xfrm>
          <a:prstGeom prst="rect">
            <a:avLst/>
          </a:prstGeom>
        </p:spPr>
      </p:pic>
      <p:pic>
        <p:nvPicPr>
          <p:cNvPr id="32" name="Picture 31" descr="A blue pie chart with numbers and a white circle&#10;&#10;AI-generated content may be incorrect.">
            <a:extLst>
              <a:ext uri="{FF2B5EF4-FFF2-40B4-BE49-F238E27FC236}">
                <a16:creationId xmlns:a16="http://schemas.microsoft.com/office/drawing/2014/main" id="{A7952CB0-C50C-6411-7311-79D749293C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43" y="4576672"/>
            <a:ext cx="5403035" cy="177809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Exploratory Data Analysis</a:t>
            </a:r>
            <a:endParaRPr lang="en-US" sz="160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Healthcare Payer Mix Evolution Across Age Groups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384810" y="1223010"/>
            <a:ext cx="5589270" cy="5246370"/>
          </a:xfrm>
          <a:custGeom>
            <a:avLst/>
            <a:gdLst/>
            <a:ahLst/>
            <a:cxnLst/>
            <a:rect l="l" t="t" r="r" b="b"/>
            <a:pathLst>
              <a:path w="5589270" h="5246370">
                <a:moveTo>
                  <a:pt x="114318" y="0"/>
                </a:moveTo>
                <a:lnTo>
                  <a:pt x="5474952" y="0"/>
                </a:lnTo>
                <a:cubicBezTo>
                  <a:pt x="5538088" y="0"/>
                  <a:pt x="5589270" y="51182"/>
                  <a:pt x="5589270" y="114318"/>
                </a:cubicBezTo>
                <a:lnTo>
                  <a:pt x="5589270" y="5132052"/>
                </a:lnTo>
                <a:cubicBezTo>
                  <a:pt x="5589270" y="5195188"/>
                  <a:pt x="5538088" y="5246370"/>
                  <a:pt x="5474952" y="5246370"/>
                </a:cubicBezTo>
                <a:lnTo>
                  <a:pt x="114318" y="5246370"/>
                </a:lnTo>
                <a:cubicBezTo>
                  <a:pt x="51182" y="5246370"/>
                  <a:pt x="0" y="5195188"/>
                  <a:pt x="0" y="5132052"/>
                </a:cubicBezTo>
                <a:lnTo>
                  <a:pt x="0" y="114318"/>
                </a:lnTo>
                <a:cubicBezTo>
                  <a:pt x="0" y="51224"/>
                  <a:pt x="51224" y="0"/>
                  <a:pt x="11431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9120" y="1417323"/>
            <a:ext cx="5286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Insurance Coverage by Age</a:t>
            </a:r>
            <a:endParaRPr lang="en-US" sz="1600"/>
          </a:p>
        </p:txBody>
      </p:sp>
      <p:pic>
        <p:nvPicPr>
          <p:cNvPr id="6" name="Image 0" descr="https://kimi-img.moonshot.cn/pub/slides/26-03-26-18:32:15-d72gmbvf2en90lgblnm0.png"/>
          <p:cNvPicPr>
            <a:picLocks noChangeAspect="1"/>
          </p:cNvPicPr>
          <p:nvPr/>
        </p:nvPicPr>
        <p:blipFill>
          <a:blip r:embed="rId3"/>
          <a:srcRect t="37" b="37"/>
          <a:stretch/>
        </p:blipFill>
        <p:spPr>
          <a:xfrm>
            <a:off x="579120" y="1988823"/>
            <a:ext cx="5200650" cy="4000500"/>
          </a:xfrm>
          <a:prstGeom prst="roundRect">
            <a:avLst>
              <a:gd name="adj" fmla="val 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6214110" y="1223010"/>
            <a:ext cx="5589270" cy="3970020"/>
          </a:xfrm>
          <a:custGeom>
            <a:avLst/>
            <a:gdLst/>
            <a:ahLst/>
            <a:cxnLst/>
            <a:rect l="l" t="t" r="r" b="b"/>
            <a:pathLst>
              <a:path w="5589270" h="3970020">
                <a:moveTo>
                  <a:pt x="114297" y="0"/>
                </a:moveTo>
                <a:lnTo>
                  <a:pt x="5474973" y="0"/>
                </a:lnTo>
                <a:cubicBezTo>
                  <a:pt x="5538098" y="0"/>
                  <a:pt x="5589270" y="51172"/>
                  <a:pt x="5589270" y="114297"/>
                </a:cubicBezTo>
                <a:lnTo>
                  <a:pt x="5589270" y="3855723"/>
                </a:lnTo>
                <a:cubicBezTo>
                  <a:pt x="5589270" y="3918848"/>
                  <a:pt x="5538098" y="3970020"/>
                  <a:pt x="5474973" y="3970020"/>
                </a:cubicBezTo>
                <a:lnTo>
                  <a:pt x="114297" y="3970020"/>
                </a:lnTo>
                <a:cubicBezTo>
                  <a:pt x="51172" y="3970020"/>
                  <a:pt x="0" y="3918848"/>
                  <a:pt x="0" y="385572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8420" y="1417323"/>
            <a:ext cx="5286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</a:t>
            </a:r>
            <a:endParaRPr lang="en-US" sz="1600"/>
          </a:p>
        </p:txBody>
      </p:sp>
      <p:sp>
        <p:nvSpPr>
          <p:cNvPr id="9" name="Shape 6"/>
          <p:cNvSpPr/>
          <p:nvPr/>
        </p:nvSpPr>
        <p:spPr>
          <a:xfrm>
            <a:off x="6427470" y="1836423"/>
            <a:ext cx="5181600" cy="952500"/>
          </a:xfrm>
          <a:custGeom>
            <a:avLst/>
            <a:gdLst/>
            <a:ahLst/>
            <a:cxnLst/>
            <a:rect l="l" t="t" r="r" b="b"/>
            <a:pathLst>
              <a:path w="5181600" h="952500">
                <a:moveTo>
                  <a:pt x="38100" y="0"/>
                </a:moveTo>
                <a:lnTo>
                  <a:pt x="5105400" y="0"/>
                </a:lnTo>
                <a:cubicBezTo>
                  <a:pt x="5147456" y="0"/>
                  <a:pt x="5181600" y="34144"/>
                  <a:pt x="5181600" y="76200"/>
                </a:cubicBezTo>
                <a:lnTo>
                  <a:pt x="5181600" y="876300"/>
                </a:lnTo>
                <a:cubicBezTo>
                  <a:pt x="5181600" y="918356"/>
                  <a:pt x="5147456" y="952500"/>
                  <a:pt x="5105400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427470" y="1836423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3810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1" name="Shape 8"/>
          <p:cNvSpPr/>
          <p:nvPr/>
        </p:nvSpPr>
        <p:spPr>
          <a:xfrm>
            <a:off x="6598920" y="198882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2" name="Shape 9"/>
          <p:cNvSpPr/>
          <p:nvPr/>
        </p:nvSpPr>
        <p:spPr>
          <a:xfrm>
            <a:off x="6703695" y="2103123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71438" y="7144"/>
                </a:moveTo>
                <a:cubicBezTo>
                  <a:pt x="71438" y="3185"/>
                  <a:pt x="74622" y="0"/>
                  <a:pt x="78581" y="0"/>
                </a:cubicBezTo>
                <a:lnTo>
                  <a:pt x="92869" y="0"/>
                </a:lnTo>
                <a:cubicBezTo>
                  <a:pt x="96828" y="0"/>
                  <a:pt x="100013" y="3185"/>
                  <a:pt x="100013" y="7144"/>
                </a:cubicBezTo>
                <a:lnTo>
                  <a:pt x="100013" y="23813"/>
                </a:lnTo>
                <a:lnTo>
                  <a:pt x="116681" y="23813"/>
                </a:lnTo>
                <a:cubicBezTo>
                  <a:pt x="120640" y="23813"/>
                  <a:pt x="123825" y="26997"/>
                  <a:pt x="123825" y="30956"/>
                </a:cubicBezTo>
                <a:lnTo>
                  <a:pt x="123825" y="45244"/>
                </a:lnTo>
                <a:cubicBezTo>
                  <a:pt x="123825" y="49203"/>
                  <a:pt x="120640" y="52388"/>
                  <a:pt x="116681" y="52388"/>
                </a:cubicBezTo>
                <a:lnTo>
                  <a:pt x="100013" y="52388"/>
                </a:lnTo>
                <a:lnTo>
                  <a:pt x="100013" y="69056"/>
                </a:lnTo>
                <a:cubicBezTo>
                  <a:pt x="100013" y="73015"/>
                  <a:pt x="96828" y="76200"/>
                  <a:pt x="92869" y="76200"/>
                </a:cubicBezTo>
                <a:lnTo>
                  <a:pt x="78581" y="76200"/>
                </a:lnTo>
                <a:cubicBezTo>
                  <a:pt x="74622" y="76200"/>
                  <a:pt x="71438" y="73015"/>
                  <a:pt x="71438" y="69056"/>
                </a:cubicBezTo>
                <a:lnTo>
                  <a:pt x="71438" y="52388"/>
                </a:lnTo>
                <a:lnTo>
                  <a:pt x="54769" y="52388"/>
                </a:lnTo>
                <a:cubicBezTo>
                  <a:pt x="50810" y="52388"/>
                  <a:pt x="47625" y="49203"/>
                  <a:pt x="47625" y="45244"/>
                </a:cubicBezTo>
                <a:lnTo>
                  <a:pt x="47625" y="30956"/>
                </a:lnTo>
                <a:cubicBezTo>
                  <a:pt x="47625" y="26997"/>
                  <a:pt x="50810" y="23813"/>
                  <a:pt x="54769" y="23813"/>
                </a:cubicBezTo>
                <a:lnTo>
                  <a:pt x="71438" y="23813"/>
                </a:lnTo>
                <a:lnTo>
                  <a:pt x="71438" y="7144"/>
                </a:lnTo>
                <a:close/>
                <a:moveTo>
                  <a:pt x="19854" y="114300"/>
                </a:moveTo>
                <a:lnTo>
                  <a:pt x="32504" y="101650"/>
                </a:lnTo>
                <a:cubicBezTo>
                  <a:pt x="39648" y="94506"/>
                  <a:pt x="49351" y="90488"/>
                  <a:pt x="59442" y="90488"/>
                </a:cubicBezTo>
                <a:lnTo>
                  <a:pt x="104775" y="90488"/>
                </a:lnTo>
                <a:cubicBezTo>
                  <a:pt x="110044" y="90488"/>
                  <a:pt x="114300" y="94744"/>
                  <a:pt x="114300" y="100013"/>
                </a:cubicBezTo>
                <a:cubicBezTo>
                  <a:pt x="114300" y="105281"/>
                  <a:pt x="110044" y="109537"/>
                  <a:pt x="104775" y="109537"/>
                </a:cubicBezTo>
                <a:lnTo>
                  <a:pt x="83344" y="109537"/>
                </a:lnTo>
                <a:cubicBezTo>
                  <a:pt x="79385" y="109537"/>
                  <a:pt x="76200" y="112722"/>
                  <a:pt x="76200" y="116681"/>
                </a:cubicBezTo>
                <a:cubicBezTo>
                  <a:pt x="76200" y="120640"/>
                  <a:pt x="79385" y="123825"/>
                  <a:pt x="83344" y="123825"/>
                </a:cubicBezTo>
                <a:lnTo>
                  <a:pt x="116860" y="123825"/>
                </a:lnTo>
                <a:lnTo>
                  <a:pt x="152489" y="97572"/>
                </a:lnTo>
                <a:cubicBezTo>
                  <a:pt x="157788" y="93672"/>
                  <a:pt x="165229" y="94804"/>
                  <a:pt x="169128" y="100102"/>
                </a:cubicBezTo>
                <a:cubicBezTo>
                  <a:pt x="173028" y="105400"/>
                  <a:pt x="171896" y="112841"/>
                  <a:pt x="166598" y="116741"/>
                </a:cubicBezTo>
                <a:lnTo>
                  <a:pt x="128915" y="144512"/>
                </a:lnTo>
                <a:cubicBezTo>
                  <a:pt x="121950" y="149632"/>
                  <a:pt x="113556" y="152400"/>
                  <a:pt x="104894" y="152400"/>
                </a:cubicBezTo>
                <a:lnTo>
                  <a:pt x="9525" y="152400"/>
                </a:lnTo>
                <a:cubicBezTo>
                  <a:pt x="4256" y="152400"/>
                  <a:pt x="0" y="148144"/>
                  <a:pt x="0" y="142875"/>
                </a:cubicBezTo>
                <a:lnTo>
                  <a:pt x="0" y="123825"/>
                </a:lnTo>
                <a:cubicBezTo>
                  <a:pt x="0" y="118556"/>
                  <a:pt x="4256" y="114300"/>
                  <a:pt x="9525" y="114300"/>
                </a:cubicBezTo>
                <a:lnTo>
                  <a:pt x="19854" y="1143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7094220" y="1988823"/>
            <a:ext cx="4438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Medicare Dominance</a:t>
            </a:r>
            <a:endParaRPr lang="en-US" sz="1600"/>
          </a:p>
        </p:txBody>
      </p:sp>
      <p:sp>
        <p:nvSpPr>
          <p:cNvPr id="14" name="Text 11"/>
          <p:cNvSpPr/>
          <p:nvPr/>
        </p:nvSpPr>
        <p:spPr>
          <a:xfrm>
            <a:off x="7094220" y="2255523"/>
            <a:ext cx="44291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Medicare dominates spending</a:t>
            </a: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older age groups (60+), becoming the primary payer (~69% at 75+)</a:t>
            </a:r>
            <a:endParaRPr lang="en-US" sz="1600"/>
          </a:p>
        </p:txBody>
      </p:sp>
      <p:sp>
        <p:nvSpPr>
          <p:cNvPr id="15" name="Shape 12"/>
          <p:cNvSpPr/>
          <p:nvPr/>
        </p:nvSpPr>
        <p:spPr>
          <a:xfrm>
            <a:off x="6427470" y="2941323"/>
            <a:ext cx="5181600" cy="952500"/>
          </a:xfrm>
          <a:custGeom>
            <a:avLst/>
            <a:gdLst/>
            <a:ahLst/>
            <a:cxnLst/>
            <a:rect l="l" t="t" r="r" b="b"/>
            <a:pathLst>
              <a:path w="5181600" h="952500">
                <a:moveTo>
                  <a:pt x="38100" y="0"/>
                </a:moveTo>
                <a:lnTo>
                  <a:pt x="5105400" y="0"/>
                </a:lnTo>
                <a:cubicBezTo>
                  <a:pt x="5147456" y="0"/>
                  <a:pt x="5181600" y="34144"/>
                  <a:pt x="5181600" y="76200"/>
                </a:cubicBezTo>
                <a:lnTo>
                  <a:pt x="5181600" y="876300"/>
                </a:lnTo>
                <a:cubicBezTo>
                  <a:pt x="5181600" y="918356"/>
                  <a:pt x="5147456" y="952500"/>
                  <a:pt x="5105400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6427470" y="2941323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3810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7" name="Shape 14"/>
          <p:cNvSpPr/>
          <p:nvPr/>
        </p:nvSpPr>
        <p:spPr>
          <a:xfrm>
            <a:off x="6598920" y="309372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8" name="Shape 15"/>
          <p:cNvSpPr/>
          <p:nvPr/>
        </p:nvSpPr>
        <p:spPr>
          <a:xfrm>
            <a:off x="6732270" y="3208023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9050" y="0"/>
                </a:moveTo>
                <a:cubicBezTo>
                  <a:pt x="8543" y="0"/>
                  <a:pt x="0" y="8543"/>
                  <a:pt x="0" y="19050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95250" y="152400"/>
                </a:lnTo>
                <a:cubicBezTo>
                  <a:pt x="105757" y="152400"/>
                  <a:pt x="114300" y="143857"/>
                  <a:pt x="114300" y="133350"/>
                </a:cubicBezTo>
                <a:lnTo>
                  <a:pt x="114300" y="19050"/>
                </a:lnTo>
                <a:cubicBezTo>
                  <a:pt x="114300" y="8543"/>
                  <a:pt x="105757" y="0"/>
                  <a:pt x="95250" y="0"/>
                </a:cubicBezTo>
                <a:lnTo>
                  <a:pt x="19050" y="0"/>
                </a:lnTo>
                <a:close/>
                <a:moveTo>
                  <a:pt x="52388" y="104775"/>
                </a:moveTo>
                <a:lnTo>
                  <a:pt x="61912" y="104775"/>
                </a:lnTo>
                <a:cubicBezTo>
                  <a:pt x="67181" y="104775"/>
                  <a:pt x="71438" y="109031"/>
                  <a:pt x="71438" y="114300"/>
                </a:cubicBezTo>
                <a:lnTo>
                  <a:pt x="71438" y="138113"/>
                </a:lnTo>
                <a:lnTo>
                  <a:pt x="42863" y="138113"/>
                </a:lnTo>
                <a:lnTo>
                  <a:pt x="42863" y="114300"/>
                </a:lnTo>
                <a:cubicBezTo>
                  <a:pt x="42863" y="109031"/>
                  <a:pt x="47119" y="104775"/>
                  <a:pt x="52388" y="104775"/>
                </a:cubicBezTo>
                <a:close/>
                <a:moveTo>
                  <a:pt x="28575" y="33338"/>
                </a:moveTo>
                <a:cubicBezTo>
                  <a:pt x="28575" y="30718"/>
                  <a:pt x="30718" y="28575"/>
                  <a:pt x="33338" y="28575"/>
                </a:cubicBezTo>
                <a:lnTo>
                  <a:pt x="42863" y="28575"/>
                </a:lnTo>
                <a:cubicBezTo>
                  <a:pt x="45482" y="28575"/>
                  <a:pt x="47625" y="30718"/>
                  <a:pt x="47625" y="33338"/>
                </a:cubicBezTo>
                <a:lnTo>
                  <a:pt x="47625" y="42863"/>
                </a:lnTo>
                <a:cubicBezTo>
                  <a:pt x="47625" y="45482"/>
                  <a:pt x="45482" y="47625"/>
                  <a:pt x="42863" y="47625"/>
                </a:cubicBezTo>
                <a:lnTo>
                  <a:pt x="33338" y="47625"/>
                </a:lnTo>
                <a:cubicBezTo>
                  <a:pt x="30718" y="47625"/>
                  <a:pt x="28575" y="45482"/>
                  <a:pt x="28575" y="42863"/>
                </a:cubicBezTo>
                <a:lnTo>
                  <a:pt x="28575" y="33338"/>
                </a:lnTo>
                <a:close/>
                <a:moveTo>
                  <a:pt x="71438" y="28575"/>
                </a:moveTo>
                <a:lnTo>
                  <a:pt x="80962" y="28575"/>
                </a:lnTo>
                <a:cubicBezTo>
                  <a:pt x="83582" y="28575"/>
                  <a:pt x="85725" y="30718"/>
                  <a:pt x="85725" y="33338"/>
                </a:cubicBezTo>
                <a:lnTo>
                  <a:pt x="85725" y="42863"/>
                </a:lnTo>
                <a:cubicBezTo>
                  <a:pt x="85725" y="45482"/>
                  <a:pt x="83582" y="47625"/>
                  <a:pt x="80962" y="47625"/>
                </a:cubicBezTo>
                <a:lnTo>
                  <a:pt x="71438" y="47625"/>
                </a:lnTo>
                <a:cubicBezTo>
                  <a:pt x="68818" y="47625"/>
                  <a:pt x="66675" y="45482"/>
                  <a:pt x="66675" y="42863"/>
                </a:cubicBezTo>
                <a:lnTo>
                  <a:pt x="66675" y="33338"/>
                </a:lnTo>
                <a:cubicBezTo>
                  <a:pt x="66675" y="30718"/>
                  <a:pt x="68818" y="28575"/>
                  <a:pt x="71438" y="28575"/>
                </a:cubicBezTo>
                <a:close/>
                <a:moveTo>
                  <a:pt x="28575" y="71438"/>
                </a:moveTo>
                <a:cubicBezTo>
                  <a:pt x="28575" y="68818"/>
                  <a:pt x="30718" y="66675"/>
                  <a:pt x="33338" y="66675"/>
                </a:cubicBezTo>
                <a:lnTo>
                  <a:pt x="42863" y="66675"/>
                </a:lnTo>
                <a:cubicBezTo>
                  <a:pt x="45482" y="66675"/>
                  <a:pt x="47625" y="68818"/>
                  <a:pt x="47625" y="71438"/>
                </a:cubicBezTo>
                <a:lnTo>
                  <a:pt x="47625" y="80962"/>
                </a:lnTo>
                <a:cubicBezTo>
                  <a:pt x="47625" y="83582"/>
                  <a:pt x="45482" y="85725"/>
                  <a:pt x="42863" y="85725"/>
                </a:cubicBezTo>
                <a:lnTo>
                  <a:pt x="33338" y="85725"/>
                </a:lnTo>
                <a:cubicBezTo>
                  <a:pt x="30718" y="85725"/>
                  <a:pt x="28575" y="83582"/>
                  <a:pt x="28575" y="80962"/>
                </a:cubicBezTo>
                <a:lnTo>
                  <a:pt x="28575" y="71438"/>
                </a:lnTo>
                <a:close/>
                <a:moveTo>
                  <a:pt x="71438" y="66675"/>
                </a:moveTo>
                <a:lnTo>
                  <a:pt x="80962" y="66675"/>
                </a:lnTo>
                <a:cubicBezTo>
                  <a:pt x="83582" y="66675"/>
                  <a:pt x="85725" y="68818"/>
                  <a:pt x="85725" y="71438"/>
                </a:cubicBezTo>
                <a:lnTo>
                  <a:pt x="85725" y="80962"/>
                </a:lnTo>
                <a:cubicBezTo>
                  <a:pt x="85725" y="83582"/>
                  <a:pt x="83582" y="85725"/>
                  <a:pt x="80962" y="85725"/>
                </a:cubicBezTo>
                <a:lnTo>
                  <a:pt x="71438" y="85725"/>
                </a:lnTo>
                <a:cubicBezTo>
                  <a:pt x="68818" y="85725"/>
                  <a:pt x="66675" y="83582"/>
                  <a:pt x="66675" y="80962"/>
                </a:cubicBezTo>
                <a:lnTo>
                  <a:pt x="66675" y="71438"/>
                </a:lnTo>
                <a:cubicBezTo>
                  <a:pt x="66675" y="68818"/>
                  <a:pt x="68818" y="66675"/>
                  <a:pt x="71438" y="666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7094220" y="3093723"/>
            <a:ext cx="4438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Insurance Peak</a:t>
            </a:r>
            <a:endParaRPr lang="en-US" sz="1600"/>
          </a:p>
        </p:txBody>
      </p:sp>
      <p:sp>
        <p:nvSpPr>
          <p:cNvPr id="20" name="Text 17"/>
          <p:cNvSpPr/>
          <p:nvPr/>
        </p:nvSpPr>
        <p:spPr>
          <a:xfrm>
            <a:off x="7094220" y="3360423"/>
            <a:ext cx="44291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insurance</a:t>
            </a: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the main payer for younger and middle-aged groups, peaking around 30–59</a:t>
            </a:r>
            <a:endParaRPr lang="en-US" sz="1600"/>
          </a:p>
        </p:txBody>
      </p:sp>
      <p:sp>
        <p:nvSpPr>
          <p:cNvPr id="21" name="Shape 18"/>
          <p:cNvSpPr/>
          <p:nvPr/>
        </p:nvSpPr>
        <p:spPr>
          <a:xfrm>
            <a:off x="6427470" y="4046223"/>
            <a:ext cx="5181600" cy="952500"/>
          </a:xfrm>
          <a:custGeom>
            <a:avLst/>
            <a:gdLst/>
            <a:ahLst/>
            <a:cxnLst/>
            <a:rect l="l" t="t" r="r" b="b"/>
            <a:pathLst>
              <a:path w="5181600" h="952500">
                <a:moveTo>
                  <a:pt x="38100" y="0"/>
                </a:moveTo>
                <a:lnTo>
                  <a:pt x="5105400" y="0"/>
                </a:lnTo>
                <a:cubicBezTo>
                  <a:pt x="5147456" y="0"/>
                  <a:pt x="5181600" y="34144"/>
                  <a:pt x="5181600" y="76200"/>
                </a:cubicBezTo>
                <a:lnTo>
                  <a:pt x="5181600" y="876300"/>
                </a:lnTo>
                <a:cubicBezTo>
                  <a:pt x="5181600" y="918356"/>
                  <a:pt x="5147456" y="952500"/>
                  <a:pt x="5105400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6427470" y="4046223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3810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3" name="Shape 20"/>
          <p:cNvSpPr/>
          <p:nvPr/>
        </p:nvSpPr>
        <p:spPr>
          <a:xfrm>
            <a:off x="6598920" y="419862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4" name="Shape 21"/>
          <p:cNvSpPr/>
          <p:nvPr/>
        </p:nvSpPr>
        <p:spPr>
          <a:xfrm>
            <a:off x="6713220" y="431292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44827"/>
                </a:moveTo>
                <a:lnTo>
                  <a:pt x="121027" y="73402"/>
                </a:lnTo>
                <a:cubicBezTo>
                  <a:pt x="118289" y="76140"/>
                  <a:pt x="114211" y="76944"/>
                  <a:pt x="110639" y="75456"/>
                </a:cubicBezTo>
                <a:cubicBezTo>
                  <a:pt x="107067" y="73968"/>
                  <a:pt x="104775" y="70515"/>
                  <a:pt x="104775" y="66675"/>
                </a:cubicBezTo>
                <a:lnTo>
                  <a:pt x="104775" y="47625"/>
                </a:lnTo>
                <a:lnTo>
                  <a:pt x="9525" y="47625"/>
                </a:lnTo>
                <a:cubicBezTo>
                  <a:pt x="4256" y="47625"/>
                  <a:pt x="0" y="43369"/>
                  <a:pt x="0" y="38100"/>
                </a:cubicBezTo>
                <a:cubicBezTo>
                  <a:pt x="0" y="32831"/>
                  <a:pt x="4256" y="28575"/>
                  <a:pt x="9525" y="28575"/>
                </a:cubicBezTo>
                <a:lnTo>
                  <a:pt x="104775" y="28575"/>
                </a:lnTo>
                <a:lnTo>
                  <a:pt x="104775" y="9525"/>
                </a:lnTo>
                <a:cubicBezTo>
                  <a:pt x="104775" y="5685"/>
                  <a:pt x="107097" y="2203"/>
                  <a:pt x="110669" y="714"/>
                </a:cubicBezTo>
                <a:cubicBezTo>
                  <a:pt x="114240" y="-774"/>
                  <a:pt x="118318" y="60"/>
                  <a:pt x="121057" y="2768"/>
                </a:cubicBezTo>
                <a:lnTo>
                  <a:pt x="149632" y="31343"/>
                </a:lnTo>
                <a:cubicBezTo>
                  <a:pt x="153353" y="35064"/>
                  <a:pt x="153353" y="41106"/>
                  <a:pt x="149632" y="44827"/>
                </a:cubicBezTo>
                <a:close/>
                <a:moveTo>
                  <a:pt x="31343" y="149602"/>
                </a:moveTo>
                <a:lnTo>
                  <a:pt x="2768" y="121027"/>
                </a:lnTo>
                <a:cubicBezTo>
                  <a:pt x="-952" y="117306"/>
                  <a:pt x="-952" y="111264"/>
                  <a:pt x="2768" y="107543"/>
                </a:cubicBezTo>
                <a:lnTo>
                  <a:pt x="31343" y="78968"/>
                </a:lnTo>
                <a:cubicBezTo>
                  <a:pt x="34082" y="76230"/>
                  <a:pt x="38160" y="75426"/>
                  <a:pt x="41731" y="76914"/>
                </a:cubicBezTo>
                <a:cubicBezTo>
                  <a:pt x="45303" y="78403"/>
                  <a:pt x="47625" y="81885"/>
                  <a:pt x="47625" y="85725"/>
                </a:cubicBezTo>
                <a:lnTo>
                  <a:pt x="47625" y="104775"/>
                </a:lnTo>
                <a:lnTo>
                  <a:pt x="142875" y="104775"/>
                </a:lnTo>
                <a:cubicBezTo>
                  <a:pt x="148144" y="104775"/>
                  <a:pt x="152400" y="109031"/>
                  <a:pt x="152400" y="114300"/>
                </a:cubicBezTo>
                <a:cubicBezTo>
                  <a:pt x="152400" y="119569"/>
                  <a:pt x="148144" y="123825"/>
                  <a:pt x="142875" y="123825"/>
                </a:cubicBezTo>
                <a:lnTo>
                  <a:pt x="47625" y="123825"/>
                </a:lnTo>
                <a:lnTo>
                  <a:pt x="47625" y="142875"/>
                </a:lnTo>
                <a:cubicBezTo>
                  <a:pt x="47625" y="146715"/>
                  <a:pt x="45303" y="150197"/>
                  <a:pt x="41731" y="151686"/>
                </a:cubicBezTo>
                <a:cubicBezTo>
                  <a:pt x="38160" y="153174"/>
                  <a:pt x="34082" y="152340"/>
                  <a:pt x="31343" y="14963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2"/>
          <p:cNvSpPr/>
          <p:nvPr/>
        </p:nvSpPr>
        <p:spPr>
          <a:xfrm>
            <a:off x="7094220" y="4198623"/>
            <a:ext cx="4438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Clear Transition Pattern</a:t>
            </a:r>
            <a:endParaRPr lang="en-US" sz="1600"/>
          </a:p>
        </p:txBody>
      </p:sp>
      <p:sp>
        <p:nvSpPr>
          <p:cNvPr id="26" name="Text 23"/>
          <p:cNvSpPr/>
          <p:nvPr/>
        </p:nvSpPr>
        <p:spPr>
          <a:xfrm>
            <a:off x="7094220" y="4465323"/>
            <a:ext cx="44291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Medicaid and self-pay</a:t>
            </a: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proportions decline with age, showing a shift from mixed payers to Medicare-heavy coverage</a:t>
            </a:r>
            <a:endParaRPr lang="en-US" sz="1600"/>
          </a:p>
        </p:txBody>
      </p:sp>
      <p:sp>
        <p:nvSpPr>
          <p:cNvPr id="27" name="Shape 24"/>
          <p:cNvSpPr/>
          <p:nvPr/>
        </p:nvSpPr>
        <p:spPr>
          <a:xfrm>
            <a:off x="6214110" y="5353051"/>
            <a:ext cx="5589270" cy="998220"/>
          </a:xfrm>
          <a:custGeom>
            <a:avLst/>
            <a:gdLst/>
            <a:ahLst/>
            <a:cxnLst/>
            <a:rect l="l" t="t" r="r" b="b"/>
            <a:pathLst>
              <a:path w="5589270" h="998220">
                <a:moveTo>
                  <a:pt x="114296" y="0"/>
                </a:moveTo>
                <a:lnTo>
                  <a:pt x="5474974" y="0"/>
                </a:lnTo>
                <a:cubicBezTo>
                  <a:pt x="5538098" y="0"/>
                  <a:pt x="5589270" y="51172"/>
                  <a:pt x="5589270" y="114296"/>
                </a:cubicBezTo>
                <a:lnTo>
                  <a:pt x="5589270" y="883924"/>
                </a:lnTo>
                <a:cubicBezTo>
                  <a:pt x="5589270" y="947048"/>
                  <a:pt x="5538098" y="998220"/>
                  <a:pt x="5474974" y="998220"/>
                </a:cubicBezTo>
                <a:lnTo>
                  <a:pt x="114296" y="998220"/>
                </a:lnTo>
                <a:cubicBezTo>
                  <a:pt x="51172" y="998220"/>
                  <a:pt x="0" y="947048"/>
                  <a:pt x="0" y="8839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 w="10160">
            <a:solidFill>
              <a:srgbClr val="0071E3">
                <a:alpha val="2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408420" y="5539741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9" name="Text 26"/>
          <p:cNvSpPr/>
          <p:nvPr/>
        </p:nvSpPr>
        <p:spPr>
          <a:xfrm>
            <a:off x="6617970" y="5509259"/>
            <a:ext cx="5105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Policy Implication:</a:t>
            </a:r>
            <a:r>
              <a:rPr lang="en-US" sz="120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dramatic shift to Medicare at age 65+ highlights the importance of pre-Medicare health management and the potential cost savings from preventive care in the 45-64 age group.</a:t>
            </a:r>
            <a:endParaRPr lang="en-US" sz="160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5ED9AB-7E06-F878-7AFB-C6FC0F1F0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64BAE12-ED5C-7BBA-0AFB-E4A3B67F23BB}"/>
              </a:ext>
            </a:extLst>
          </p:cNvPr>
          <p:cNvSpPr/>
          <p:nvPr/>
        </p:nvSpPr>
        <p:spPr>
          <a:xfrm>
            <a:off x="352625" y="352625"/>
            <a:ext cx="11548460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b="1" kern="0" spc="49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Exploratory Data Analysis</a:t>
            </a:r>
            <a:endParaRPr lang="en-US" sz="16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386EEFB-22A9-3CDA-6B08-EC718626292E}"/>
              </a:ext>
            </a:extLst>
          </p:cNvPr>
          <p:cNvSpPr/>
          <p:nvPr/>
        </p:nvSpPr>
        <p:spPr>
          <a:xfrm>
            <a:off x="352625" y="599462"/>
            <a:ext cx="11645432" cy="352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50" b="1" dirty="0">
                <a:solidFill>
                  <a:srgbClr val="1D1D1D"/>
                </a:solidFill>
                <a:latin typeface="Liter"/>
              </a:rPr>
              <a:t>Final </a:t>
            </a:r>
            <a:r>
              <a:rPr lang="en-US" sz="2450" b="1">
                <a:solidFill>
                  <a:srgbClr val="1D1D1D"/>
                </a:solidFill>
                <a:latin typeface="Liter"/>
              </a:rPr>
              <a:t>Power BI</a:t>
            </a:r>
            <a:r>
              <a:rPr lang="en-US" sz="2450" b="1" dirty="0">
                <a:solidFill>
                  <a:srgbClr val="1D1D1D"/>
                </a:solidFill>
                <a:latin typeface="Liter"/>
              </a:rPr>
              <a:t> Dashboard</a:t>
            </a:r>
            <a:endParaRPr lang="en-US" dirty="0"/>
          </a:p>
        </p:txBody>
      </p:sp>
      <p:pic>
        <p:nvPicPr>
          <p:cNvPr id="13" name="Picture 12" descr="A screenshot of a medical dashboard&#10;&#10;AI-generated content may be incorrect.">
            <a:extLst>
              <a:ext uri="{FF2B5EF4-FFF2-40B4-BE49-F238E27FC236}">
                <a16:creationId xmlns:a16="http://schemas.microsoft.com/office/drawing/2014/main" id="{365EA58C-2E60-FF2E-0E8C-434FCBC1DD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025" y="1058333"/>
            <a:ext cx="11544749" cy="5469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288389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797" y="340797"/>
            <a:ext cx="11570046" cy="170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9" b="1" kern="0" spc="47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Predictive Modeling</a:t>
            </a:r>
            <a:endParaRPr lang="en-US" sz="1600"/>
          </a:p>
        </p:txBody>
      </p:sp>
      <p:sp>
        <p:nvSpPr>
          <p:cNvPr id="3" name="Text 1"/>
          <p:cNvSpPr/>
          <p:nvPr/>
        </p:nvSpPr>
        <p:spPr>
          <a:xfrm>
            <a:off x="340797" y="579354"/>
            <a:ext cx="11663765" cy="340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15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Predictive Modeling Framework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344205" y="1093957"/>
            <a:ext cx="5647000" cy="2511671"/>
          </a:xfrm>
          <a:custGeom>
            <a:avLst/>
            <a:gdLst/>
            <a:ahLst/>
            <a:cxnLst/>
            <a:rect l="l" t="t" r="r" b="b"/>
            <a:pathLst>
              <a:path w="5647000" h="2511671">
                <a:moveTo>
                  <a:pt x="102250" y="0"/>
                </a:moveTo>
                <a:lnTo>
                  <a:pt x="5544750" y="0"/>
                </a:lnTo>
                <a:cubicBezTo>
                  <a:pt x="5601221" y="0"/>
                  <a:pt x="5647000" y="45779"/>
                  <a:pt x="5647000" y="102250"/>
                </a:cubicBezTo>
                <a:lnTo>
                  <a:pt x="5647000" y="2409421"/>
                </a:lnTo>
                <a:cubicBezTo>
                  <a:pt x="5647000" y="2465892"/>
                  <a:pt x="5601221" y="2511671"/>
                  <a:pt x="5544750" y="2511671"/>
                </a:cubicBezTo>
                <a:lnTo>
                  <a:pt x="102250" y="2511671"/>
                </a:lnTo>
                <a:cubicBezTo>
                  <a:pt x="45779" y="2511671"/>
                  <a:pt x="0" y="2465892"/>
                  <a:pt x="0" y="2409421"/>
                </a:cubicBezTo>
                <a:lnTo>
                  <a:pt x="0" y="102250"/>
                </a:lnTo>
                <a:cubicBezTo>
                  <a:pt x="0" y="45779"/>
                  <a:pt x="45779" y="0"/>
                  <a:pt x="102250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8011" y="1267762"/>
            <a:ext cx="5376067" cy="238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8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Modeling Objective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535051" y="1642638"/>
            <a:ext cx="5282348" cy="715673"/>
          </a:xfrm>
          <a:custGeom>
            <a:avLst/>
            <a:gdLst/>
            <a:ahLst/>
            <a:cxnLst/>
            <a:rect l="l" t="t" r="r" b="b"/>
            <a:pathLst>
              <a:path w="5282348" h="715673">
                <a:moveTo>
                  <a:pt x="34080" y="0"/>
                </a:moveTo>
                <a:lnTo>
                  <a:pt x="5214187" y="0"/>
                </a:lnTo>
                <a:cubicBezTo>
                  <a:pt x="5251831" y="0"/>
                  <a:pt x="5282348" y="30517"/>
                  <a:pt x="5282348" y="68161"/>
                </a:cubicBezTo>
                <a:lnTo>
                  <a:pt x="5282348" y="647512"/>
                </a:lnTo>
                <a:cubicBezTo>
                  <a:pt x="5282348" y="685156"/>
                  <a:pt x="5251831" y="715673"/>
                  <a:pt x="5214187" y="715673"/>
                </a:cubicBezTo>
                <a:lnTo>
                  <a:pt x="34080" y="715673"/>
                </a:lnTo>
                <a:cubicBezTo>
                  <a:pt x="15258" y="715673"/>
                  <a:pt x="0" y="700415"/>
                  <a:pt x="0" y="681593"/>
                </a:cubicBezTo>
                <a:lnTo>
                  <a:pt x="0" y="34080"/>
                </a:lnTo>
                <a:cubicBezTo>
                  <a:pt x="0" y="15271"/>
                  <a:pt x="15271" y="0"/>
                  <a:pt x="34080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35051" y="1642638"/>
            <a:ext cx="34080" cy="715673"/>
          </a:xfrm>
          <a:custGeom>
            <a:avLst/>
            <a:gdLst/>
            <a:ahLst/>
            <a:cxnLst/>
            <a:rect l="l" t="t" r="r" b="b"/>
            <a:pathLst>
              <a:path w="34080" h="715673">
                <a:moveTo>
                  <a:pt x="34080" y="0"/>
                </a:moveTo>
                <a:lnTo>
                  <a:pt x="34080" y="0"/>
                </a:lnTo>
                <a:lnTo>
                  <a:pt x="34080" y="715673"/>
                </a:lnTo>
                <a:lnTo>
                  <a:pt x="34080" y="715673"/>
                </a:lnTo>
                <a:cubicBezTo>
                  <a:pt x="15258" y="715673"/>
                  <a:pt x="0" y="700415"/>
                  <a:pt x="0" y="681593"/>
                </a:cubicBezTo>
                <a:lnTo>
                  <a:pt x="0" y="34080"/>
                </a:lnTo>
                <a:cubicBezTo>
                  <a:pt x="0" y="15271"/>
                  <a:pt x="15271" y="0"/>
                  <a:pt x="3408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8" name="Text 6"/>
          <p:cNvSpPr/>
          <p:nvPr/>
        </p:nvSpPr>
        <p:spPr>
          <a:xfrm>
            <a:off x="688409" y="1778957"/>
            <a:ext cx="5060830" cy="443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3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Classify individuals into </a:t>
            </a:r>
            <a:r>
              <a:rPr lang="en-US" sz="1073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healthcare expenditure categories</a:t>
            </a:r>
            <a:r>
              <a:rPr lang="en-US" sz="1073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Year-2 based on Year-1 characteristics: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521419" y="2498038"/>
            <a:ext cx="1693759" cy="926967"/>
          </a:xfrm>
          <a:custGeom>
            <a:avLst/>
            <a:gdLst/>
            <a:ahLst/>
            <a:cxnLst/>
            <a:rect l="l" t="t" r="r" b="b"/>
            <a:pathLst>
              <a:path w="1693759" h="926967">
                <a:moveTo>
                  <a:pt x="68160" y="0"/>
                </a:moveTo>
                <a:lnTo>
                  <a:pt x="1625599" y="0"/>
                </a:lnTo>
                <a:cubicBezTo>
                  <a:pt x="1663243" y="0"/>
                  <a:pt x="1693759" y="30516"/>
                  <a:pt x="1693759" y="68160"/>
                </a:cubicBezTo>
                <a:lnTo>
                  <a:pt x="1693759" y="858807"/>
                </a:lnTo>
                <a:cubicBezTo>
                  <a:pt x="1693759" y="896451"/>
                  <a:pt x="1663243" y="926967"/>
                  <a:pt x="1625599" y="926967"/>
                </a:cubicBezTo>
                <a:lnTo>
                  <a:pt x="68160" y="926967"/>
                </a:lnTo>
                <a:cubicBezTo>
                  <a:pt x="30516" y="926967"/>
                  <a:pt x="0" y="896451"/>
                  <a:pt x="0" y="858807"/>
                </a:cubicBezTo>
                <a:lnTo>
                  <a:pt x="0" y="68160"/>
                </a:lnTo>
                <a:cubicBezTo>
                  <a:pt x="0" y="30541"/>
                  <a:pt x="30541" y="0"/>
                  <a:pt x="68160" y="0"/>
                </a:cubicBezTo>
                <a:close/>
              </a:path>
            </a:pathLst>
          </a:custGeom>
          <a:solidFill>
            <a:srgbClr val="FAFAFA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6622" y="2603691"/>
            <a:ext cx="340797" cy="340797"/>
          </a:xfrm>
          <a:custGeom>
            <a:avLst/>
            <a:gdLst/>
            <a:ahLst/>
            <a:cxnLst/>
            <a:rect l="l" t="t" r="r" b="b"/>
            <a:pathLst>
              <a:path w="340797" h="340797">
                <a:moveTo>
                  <a:pt x="170398" y="0"/>
                </a:moveTo>
                <a:lnTo>
                  <a:pt x="170398" y="0"/>
                </a:lnTo>
                <a:cubicBezTo>
                  <a:pt x="264507" y="0"/>
                  <a:pt x="340797" y="76290"/>
                  <a:pt x="340797" y="170398"/>
                </a:cubicBezTo>
                <a:lnTo>
                  <a:pt x="340797" y="170398"/>
                </a:lnTo>
                <a:cubicBezTo>
                  <a:pt x="340797" y="264507"/>
                  <a:pt x="264507" y="340797"/>
                  <a:pt x="170398" y="340797"/>
                </a:cubicBezTo>
                <a:lnTo>
                  <a:pt x="170398" y="340797"/>
                </a:lnTo>
                <a:cubicBezTo>
                  <a:pt x="76290" y="340797"/>
                  <a:pt x="0" y="264507"/>
                  <a:pt x="0" y="170398"/>
                </a:cubicBezTo>
                <a:lnTo>
                  <a:pt x="0" y="170398"/>
                </a:lnTo>
                <a:cubicBezTo>
                  <a:pt x="0" y="76290"/>
                  <a:pt x="76290" y="0"/>
                  <a:pt x="170398" y="0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11" name="Text 9"/>
          <p:cNvSpPr/>
          <p:nvPr/>
        </p:nvSpPr>
        <p:spPr>
          <a:xfrm>
            <a:off x="1289383" y="2671851"/>
            <a:ext cx="153358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3" b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597246" y="3012647"/>
            <a:ext cx="1542105" cy="170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9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601506" y="3183046"/>
            <a:ext cx="1533585" cy="136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05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50%</a:t>
            </a:r>
            <a:endParaRPr lang="en-US" sz="1600"/>
          </a:p>
        </p:txBody>
      </p:sp>
      <p:sp>
        <p:nvSpPr>
          <p:cNvPr id="14" name="Shape 12"/>
          <p:cNvSpPr/>
          <p:nvPr/>
        </p:nvSpPr>
        <p:spPr>
          <a:xfrm>
            <a:off x="2321784" y="2498038"/>
            <a:ext cx="1693759" cy="926967"/>
          </a:xfrm>
          <a:custGeom>
            <a:avLst/>
            <a:gdLst/>
            <a:ahLst/>
            <a:cxnLst/>
            <a:rect l="l" t="t" r="r" b="b"/>
            <a:pathLst>
              <a:path w="1693759" h="926967">
                <a:moveTo>
                  <a:pt x="68160" y="0"/>
                </a:moveTo>
                <a:lnTo>
                  <a:pt x="1625599" y="0"/>
                </a:lnTo>
                <a:cubicBezTo>
                  <a:pt x="1663243" y="0"/>
                  <a:pt x="1693759" y="30516"/>
                  <a:pt x="1693759" y="68160"/>
                </a:cubicBezTo>
                <a:lnTo>
                  <a:pt x="1693759" y="858807"/>
                </a:lnTo>
                <a:cubicBezTo>
                  <a:pt x="1693759" y="896451"/>
                  <a:pt x="1663243" y="926967"/>
                  <a:pt x="1625599" y="926967"/>
                </a:cubicBezTo>
                <a:lnTo>
                  <a:pt x="68160" y="926967"/>
                </a:lnTo>
                <a:cubicBezTo>
                  <a:pt x="30516" y="926967"/>
                  <a:pt x="0" y="896451"/>
                  <a:pt x="0" y="858807"/>
                </a:cubicBezTo>
                <a:lnTo>
                  <a:pt x="0" y="68160"/>
                </a:lnTo>
                <a:cubicBezTo>
                  <a:pt x="0" y="30541"/>
                  <a:pt x="30541" y="0"/>
                  <a:pt x="68160" y="0"/>
                </a:cubicBezTo>
                <a:close/>
              </a:path>
            </a:pathLst>
          </a:custGeom>
          <a:solidFill>
            <a:srgbClr val="FAFAFA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96987" y="2603691"/>
            <a:ext cx="340797" cy="340797"/>
          </a:xfrm>
          <a:custGeom>
            <a:avLst/>
            <a:gdLst/>
            <a:ahLst/>
            <a:cxnLst/>
            <a:rect l="l" t="t" r="r" b="b"/>
            <a:pathLst>
              <a:path w="340797" h="340797">
                <a:moveTo>
                  <a:pt x="170398" y="0"/>
                </a:moveTo>
                <a:lnTo>
                  <a:pt x="170398" y="0"/>
                </a:lnTo>
                <a:cubicBezTo>
                  <a:pt x="264507" y="0"/>
                  <a:pt x="340797" y="76290"/>
                  <a:pt x="340797" y="170398"/>
                </a:cubicBezTo>
                <a:lnTo>
                  <a:pt x="340797" y="170398"/>
                </a:lnTo>
                <a:cubicBezTo>
                  <a:pt x="340797" y="264507"/>
                  <a:pt x="264507" y="340797"/>
                  <a:pt x="170398" y="340797"/>
                </a:cubicBezTo>
                <a:lnTo>
                  <a:pt x="170398" y="340797"/>
                </a:lnTo>
                <a:cubicBezTo>
                  <a:pt x="76290" y="340797"/>
                  <a:pt x="0" y="264507"/>
                  <a:pt x="0" y="170398"/>
                </a:cubicBezTo>
                <a:lnTo>
                  <a:pt x="0" y="170398"/>
                </a:lnTo>
                <a:cubicBezTo>
                  <a:pt x="0" y="76290"/>
                  <a:pt x="76290" y="0"/>
                  <a:pt x="170398" y="0"/>
                </a:cubicBezTo>
                <a:close/>
              </a:path>
            </a:pathLst>
          </a:custGeom>
          <a:solidFill>
            <a:srgbClr val="0071E3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106042" y="2671851"/>
            <a:ext cx="119279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3" b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2397611" y="3012647"/>
            <a:ext cx="1542105" cy="170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9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Medium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2401871" y="3183046"/>
            <a:ext cx="1533585" cy="136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05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40%</a:t>
            </a:r>
            <a:endParaRPr lang="en-US" sz="1600"/>
          </a:p>
        </p:txBody>
      </p:sp>
      <p:sp>
        <p:nvSpPr>
          <p:cNvPr id="19" name="Shape 17"/>
          <p:cNvSpPr/>
          <p:nvPr/>
        </p:nvSpPr>
        <p:spPr>
          <a:xfrm>
            <a:off x="4122149" y="2498038"/>
            <a:ext cx="1693759" cy="926967"/>
          </a:xfrm>
          <a:custGeom>
            <a:avLst/>
            <a:gdLst/>
            <a:ahLst/>
            <a:cxnLst/>
            <a:rect l="l" t="t" r="r" b="b"/>
            <a:pathLst>
              <a:path w="1693759" h="926967">
                <a:moveTo>
                  <a:pt x="68160" y="0"/>
                </a:moveTo>
                <a:lnTo>
                  <a:pt x="1625599" y="0"/>
                </a:lnTo>
                <a:cubicBezTo>
                  <a:pt x="1663243" y="0"/>
                  <a:pt x="1693759" y="30516"/>
                  <a:pt x="1693759" y="68160"/>
                </a:cubicBezTo>
                <a:lnTo>
                  <a:pt x="1693759" y="858807"/>
                </a:lnTo>
                <a:cubicBezTo>
                  <a:pt x="1693759" y="896451"/>
                  <a:pt x="1663243" y="926967"/>
                  <a:pt x="1625599" y="926967"/>
                </a:cubicBezTo>
                <a:lnTo>
                  <a:pt x="68160" y="926967"/>
                </a:lnTo>
                <a:cubicBezTo>
                  <a:pt x="30516" y="926967"/>
                  <a:pt x="0" y="896451"/>
                  <a:pt x="0" y="858807"/>
                </a:cubicBezTo>
                <a:lnTo>
                  <a:pt x="0" y="68160"/>
                </a:lnTo>
                <a:cubicBezTo>
                  <a:pt x="0" y="30541"/>
                  <a:pt x="30541" y="0"/>
                  <a:pt x="68160" y="0"/>
                </a:cubicBezTo>
                <a:close/>
              </a:path>
            </a:pathLst>
          </a:custGeom>
          <a:solidFill>
            <a:srgbClr val="FAFAFA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97352" y="2603691"/>
            <a:ext cx="340797" cy="340797"/>
          </a:xfrm>
          <a:custGeom>
            <a:avLst/>
            <a:gdLst/>
            <a:ahLst/>
            <a:cxnLst/>
            <a:rect l="l" t="t" r="r" b="b"/>
            <a:pathLst>
              <a:path w="340797" h="340797">
                <a:moveTo>
                  <a:pt x="170398" y="0"/>
                </a:moveTo>
                <a:lnTo>
                  <a:pt x="170398" y="0"/>
                </a:lnTo>
                <a:cubicBezTo>
                  <a:pt x="264507" y="0"/>
                  <a:pt x="340797" y="76290"/>
                  <a:pt x="340797" y="170398"/>
                </a:cubicBezTo>
                <a:lnTo>
                  <a:pt x="340797" y="170398"/>
                </a:lnTo>
                <a:cubicBezTo>
                  <a:pt x="340797" y="264507"/>
                  <a:pt x="264507" y="340797"/>
                  <a:pt x="170398" y="340797"/>
                </a:cubicBezTo>
                <a:lnTo>
                  <a:pt x="170398" y="340797"/>
                </a:lnTo>
                <a:cubicBezTo>
                  <a:pt x="76290" y="340797"/>
                  <a:pt x="0" y="264507"/>
                  <a:pt x="0" y="170398"/>
                </a:cubicBezTo>
                <a:lnTo>
                  <a:pt x="0" y="170398"/>
                </a:lnTo>
                <a:cubicBezTo>
                  <a:pt x="0" y="76290"/>
                  <a:pt x="76290" y="0"/>
                  <a:pt x="170398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1" name="Text 19"/>
          <p:cNvSpPr/>
          <p:nvPr/>
        </p:nvSpPr>
        <p:spPr>
          <a:xfrm>
            <a:off x="4894053" y="2671851"/>
            <a:ext cx="144839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3" b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4197976" y="3012647"/>
            <a:ext cx="1542105" cy="170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9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</a:t>
            </a:r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4202236" y="3183046"/>
            <a:ext cx="1533585" cy="136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05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10%</a:t>
            </a:r>
            <a:endParaRPr lang="en-US" sz="1600"/>
          </a:p>
        </p:txBody>
      </p:sp>
      <p:sp>
        <p:nvSpPr>
          <p:cNvPr id="24" name="Shape 22"/>
          <p:cNvSpPr/>
          <p:nvPr/>
        </p:nvSpPr>
        <p:spPr>
          <a:xfrm>
            <a:off x="344205" y="3745249"/>
            <a:ext cx="5647000" cy="1710799"/>
          </a:xfrm>
          <a:custGeom>
            <a:avLst/>
            <a:gdLst/>
            <a:ahLst/>
            <a:cxnLst/>
            <a:rect l="l" t="t" r="r" b="b"/>
            <a:pathLst>
              <a:path w="5647000" h="1710799">
                <a:moveTo>
                  <a:pt x="102237" y="0"/>
                </a:moveTo>
                <a:lnTo>
                  <a:pt x="5544763" y="0"/>
                </a:lnTo>
                <a:cubicBezTo>
                  <a:pt x="5601227" y="0"/>
                  <a:pt x="5647000" y="45773"/>
                  <a:pt x="5647000" y="102237"/>
                </a:cubicBezTo>
                <a:lnTo>
                  <a:pt x="5647000" y="1608562"/>
                </a:lnTo>
                <a:cubicBezTo>
                  <a:pt x="5647000" y="1665026"/>
                  <a:pt x="5601227" y="1710799"/>
                  <a:pt x="5544763" y="1710799"/>
                </a:cubicBezTo>
                <a:lnTo>
                  <a:pt x="102237" y="1710799"/>
                </a:lnTo>
                <a:cubicBezTo>
                  <a:pt x="45773" y="1710799"/>
                  <a:pt x="0" y="1665026"/>
                  <a:pt x="0" y="1608562"/>
                </a:cubicBezTo>
                <a:lnTo>
                  <a:pt x="0" y="102237"/>
                </a:lnTo>
                <a:cubicBezTo>
                  <a:pt x="0" y="45811"/>
                  <a:pt x="45811" y="0"/>
                  <a:pt x="10223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8011" y="3919053"/>
            <a:ext cx="5376067" cy="238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8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Train-Test Split</a:t>
            </a:r>
            <a:endParaRPr lang="en-US" sz="1600"/>
          </a:p>
        </p:txBody>
      </p:sp>
      <p:sp>
        <p:nvSpPr>
          <p:cNvPr id="26" name="Shape 24"/>
          <p:cNvSpPr/>
          <p:nvPr/>
        </p:nvSpPr>
        <p:spPr>
          <a:xfrm>
            <a:off x="518011" y="4259850"/>
            <a:ext cx="2487816" cy="749753"/>
          </a:xfrm>
          <a:custGeom>
            <a:avLst/>
            <a:gdLst/>
            <a:ahLst/>
            <a:cxnLst/>
            <a:rect l="l" t="t" r="r" b="b"/>
            <a:pathLst>
              <a:path w="2487816" h="749753">
                <a:moveTo>
                  <a:pt x="68160" y="0"/>
                </a:moveTo>
                <a:lnTo>
                  <a:pt x="2419656" y="0"/>
                </a:lnTo>
                <a:cubicBezTo>
                  <a:pt x="2457299" y="0"/>
                  <a:pt x="2487816" y="30516"/>
                  <a:pt x="2487816" y="68160"/>
                </a:cubicBezTo>
                <a:lnTo>
                  <a:pt x="2487816" y="681593"/>
                </a:lnTo>
                <a:cubicBezTo>
                  <a:pt x="2487816" y="719236"/>
                  <a:pt x="2457299" y="749753"/>
                  <a:pt x="2419656" y="749753"/>
                </a:cubicBezTo>
                <a:lnTo>
                  <a:pt x="68160" y="749753"/>
                </a:lnTo>
                <a:cubicBezTo>
                  <a:pt x="30541" y="749753"/>
                  <a:pt x="0" y="719211"/>
                  <a:pt x="0" y="681593"/>
                </a:cubicBezTo>
                <a:lnTo>
                  <a:pt x="0" y="68160"/>
                </a:lnTo>
                <a:cubicBezTo>
                  <a:pt x="0" y="30541"/>
                  <a:pt x="30541" y="0"/>
                  <a:pt x="6816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90430" y="4396169"/>
            <a:ext cx="2342977" cy="306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13" b="1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70%</a:t>
            </a:r>
            <a:endParaRPr lang="en-US" sz="1600"/>
          </a:p>
        </p:txBody>
      </p:sp>
      <p:sp>
        <p:nvSpPr>
          <p:cNvPr id="28" name="Text 26"/>
          <p:cNvSpPr/>
          <p:nvPr/>
        </p:nvSpPr>
        <p:spPr>
          <a:xfrm>
            <a:off x="624510" y="4702886"/>
            <a:ext cx="2274818" cy="170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9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Training Set</a:t>
            </a:r>
            <a:endParaRPr lang="en-US" sz="1600"/>
          </a:p>
        </p:txBody>
      </p:sp>
      <p:sp>
        <p:nvSpPr>
          <p:cNvPr id="29" name="Text 27"/>
          <p:cNvSpPr/>
          <p:nvPr/>
        </p:nvSpPr>
        <p:spPr>
          <a:xfrm>
            <a:off x="3143956" y="4498408"/>
            <a:ext cx="153358" cy="27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/>
          </a:p>
        </p:txBody>
      </p:sp>
      <p:sp>
        <p:nvSpPr>
          <p:cNvPr id="30" name="Shape 28"/>
          <p:cNvSpPr/>
          <p:nvPr/>
        </p:nvSpPr>
        <p:spPr>
          <a:xfrm>
            <a:off x="3327347" y="4259850"/>
            <a:ext cx="2487816" cy="749753"/>
          </a:xfrm>
          <a:custGeom>
            <a:avLst/>
            <a:gdLst/>
            <a:ahLst/>
            <a:cxnLst/>
            <a:rect l="l" t="t" r="r" b="b"/>
            <a:pathLst>
              <a:path w="2487816" h="749753">
                <a:moveTo>
                  <a:pt x="68160" y="0"/>
                </a:moveTo>
                <a:lnTo>
                  <a:pt x="2419656" y="0"/>
                </a:lnTo>
                <a:cubicBezTo>
                  <a:pt x="2457299" y="0"/>
                  <a:pt x="2487816" y="30516"/>
                  <a:pt x="2487816" y="68160"/>
                </a:cubicBezTo>
                <a:lnTo>
                  <a:pt x="2487816" y="681593"/>
                </a:lnTo>
                <a:cubicBezTo>
                  <a:pt x="2487816" y="719236"/>
                  <a:pt x="2457299" y="749753"/>
                  <a:pt x="2419656" y="749753"/>
                </a:cubicBezTo>
                <a:lnTo>
                  <a:pt x="68160" y="749753"/>
                </a:lnTo>
                <a:cubicBezTo>
                  <a:pt x="30541" y="749753"/>
                  <a:pt x="0" y="719211"/>
                  <a:pt x="0" y="681593"/>
                </a:cubicBezTo>
                <a:lnTo>
                  <a:pt x="0" y="68160"/>
                </a:lnTo>
                <a:cubicBezTo>
                  <a:pt x="0" y="30541"/>
                  <a:pt x="30541" y="0"/>
                  <a:pt x="68160" y="0"/>
                </a:cubicBezTo>
                <a:close/>
              </a:path>
            </a:pathLst>
          </a:custGeom>
          <a:solidFill>
            <a:srgbClr val="86868B">
              <a:alpha val="1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399766" y="4396169"/>
            <a:ext cx="2342977" cy="306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13" b="1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30%</a:t>
            </a:r>
            <a:endParaRPr lang="en-US" sz="1600"/>
          </a:p>
        </p:txBody>
      </p:sp>
      <p:sp>
        <p:nvSpPr>
          <p:cNvPr id="32" name="Text 30"/>
          <p:cNvSpPr/>
          <p:nvPr/>
        </p:nvSpPr>
        <p:spPr>
          <a:xfrm>
            <a:off x="3433846" y="4702886"/>
            <a:ext cx="2274818" cy="170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9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 Set</a:t>
            </a:r>
            <a:endParaRPr lang="en-US" sz="1600"/>
          </a:p>
        </p:txBody>
      </p:sp>
      <p:sp>
        <p:nvSpPr>
          <p:cNvPr id="33" name="Shape 31"/>
          <p:cNvSpPr/>
          <p:nvPr/>
        </p:nvSpPr>
        <p:spPr>
          <a:xfrm>
            <a:off x="1725389" y="5139107"/>
            <a:ext cx="119279" cy="119279"/>
          </a:xfrm>
          <a:custGeom>
            <a:avLst/>
            <a:gdLst/>
            <a:ahLst/>
            <a:cxnLst/>
            <a:rect l="l" t="t" r="r" b="b"/>
            <a:pathLst>
              <a:path w="119279" h="119279">
                <a:moveTo>
                  <a:pt x="59639" y="119279"/>
                </a:moveTo>
                <a:cubicBezTo>
                  <a:pt x="92555" y="119279"/>
                  <a:pt x="119279" y="92555"/>
                  <a:pt x="119279" y="59639"/>
                </a:cubicBezTo>
                <a:cubicBezTo>
                  <a:pt x="119279" y="26724"/>
                  <a:pt x="92555" y="0"/>
                  <a:pt x="59639" y="0"/>
                </a:cubicBezTo>
                <a:cubicBezTo>
                  <a:pt x="26724" y="0"/>
                  <a:pt x="0" y="26724"/>
                  <a:pt x="0" y="59639"/>
                </a:cubicBezTo>
                <a:cubicBezTo>
                  <a:pt x="0" y="92555"/>
                  <a:pt x="26724" y="119279"/>
                  <a:pt x="59639" y="119279"/>
                </a:cubicBezTo>
                <a:close/>
                <a:moveTo>
                  <a:pt x="52184" y="37275"/>
                </a:moveTo>
                <a:cubicBezTo>
                  <a:pt x="52184" y="33160"/>
                  <a:pt x="55525" y="29820"/>
                  <a:pt x="59639" y="29820"/>
                </a:cubicBezTo>
                <a:cubicBezTo>
                  <a:pt x="63754" y="29820"/>
                  <a:pt x="67094" y="33160"/>
                  <a:pt x="67094" y="37275"/>
                </a:cubicBezTo>
                <a:cubicBezTo>
                  <a:pt x="67094" y="41389"/>
                  <a:pt x="63754" y="44730"/>
                  <a:pt x="59639" y="44730"/>
                </a:cubicBezTo>
                <a:cubicBezTo>
                  <a:pt x="55525" y="44730"/>
                  <a:pt x="52184" y="41389"/>
                  <a:pt x="52184" y="37275"/>
                </a:cubicBezTo>
                <a:close/>
                <a:moveTo>
                  <a:pt x="50321" y="52184"/>
                </a:moveTo>
                <a:lnTo>
                  <a:pt x="61503" y="52184"/>
                </a:lnTo>
                <a:cubicBezTo>
                  <a:pt x="64602" y="52184"/>
                  <a:pt x="67094" y="54677"/>
                  <a:pt x="67094" y="57776"/>
                </a:cubicBezTo>
                <a:lnTo>
                  <a:pt x="67094" y="78277"/>
                </a:lnTo>
                <a:lnTo>
                  <a:pt x="68958" y="78277"/>
                </a:lnTo>
                <a:cubicBezTo>
                  <a:pt x="72057" y="78277"/>
                  <a:pt x="74549" y="80769"/>
                  <a:pt x="74549" y="83868"/>
                </a:cubicBezTo>
                <a:cubicBezTo>
                  <a:pt x="74549" y="86966"/>
                  <a:pt x="72057" y="89459"/>
                  <a:pt x="68958" y="89459"/>
                </a:cubicBezTo>
                <a:lnTo>
                  <a:pt x="50321" y="89459"/>
                </a:lnTo>
                <a:cubicBezTo>
                  <a:pt x="47222" y="89459"/>
                  <a:pt x="44730" y="86966"/>
                  <a:pt x="44730" y="83868"/>
                </a:cubicBezTo>
                <a:cubicBezTo>
                  <a:pt x="44730" y="80769"/>
                  <a:pt x="47222" y="78277"/>
                  <a:pt x="50321" y="78277"/>
                </a:cubicBezTo>
                <a:lnTo>
                  <a:pt x="55912" y="78277"/>
                </a:lnTo>
                <a:lnTo>
                  <a:pt x="55912" y="63367"/>
                </a:lnTo>
                <a:lnTo>
                  <a:pt x="50321" y="63367"/>
                </a:lnTo>
                <a:cubicBezTo>
                  <a:pt x="47222" y="63367"/>
                  <a:pt x="44730" y="60874"/>
                  <a:pt x="44730" y="57776"/>
                </a:cubicBezTo>
                <a:cubicBezTo>
                  <a:pt x="44730" y="54677"/>
                  <a:pt x="47222" y="52184"/>
                  <a:pt x="50321" y="52184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34" name="Text 32"/>
          <p:cNvSpPr/>
          <p:nvPr/>
        </p:nvSpPr>
        <p:spPr>
          <a:xfrm>
            <a:off x="664412" y="5111842"/>
            <a:ext cx="5182806" cy="170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9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Stratified sampling to preserve balanced distribution</a:t>
            </a:r>
            <a:endParaRPr lang="en-US" sz="1600"/>
          </a:p>
        </p:txBody>
      </p:sp>
      <p:sp>
        <p:nvSpPr>
          <p:cNvPr id="35" name="Shape 33"/>
          <p:cNvSpPr/>
          <p:nvPr/>
        </p:nvSpPr>
        <p:spPr>
          <a:xfrm>
            <a:off x="6202073" y="1093957"/>
            <a:ext cx="5647000" cy="5757759"/>
          </a:xfrm>
          <a:custGeom>
            <a:avLst/>
            <a:gdLst/>
            <a:ahLst/>
            <a:cxnLst/>
            <a:rect l="l" t="t" r="r" b="b"/>
            <a:pathLst>
              <a:path w="5647000" h="5757759">
                <a:moveTo>
                  <a:pt x="102267" y="0"/>
                </a:moveTo>
                <a:lnTo>
                  <a:pt x="5544733" y="0"/>
                </a:lnTo>
                <a:cubicBezTo>
                  <a:pt x="5601214" y="0"/>
                  <a:pt x="5647000" y="45787"/>
                  <a:pt x="5647000" y="102267"/>
                </a:cubicBezTo>
                <a:lnTo>
                  <a:pt x="5647000" y="5655492"/>
                </a:lnTo>
                <a:cubicBezTo>
                  <a:pt x="5647000" y="5711973"/>
                  <a:pt x="5601214" y="5757759"/>
                  <a:pt x="5544733" y="5757759"/>
                </a:cubicBezTo>
                <a:lnTo>
                  <a:pt x="102267" y="5757759"/>
                </a:lnTo>
                <a:cubicBezTo>
                  <a:pt x="45787" y="5757759"/>
                  <a:pt x="0" y="5711973"/>
                  <a:pt x="0" y="5655492"/>
                </a:cubicBezTo>
                <a:lnTo>
                  <a:pt x="0" y="102267"/>
                </a:lnTo>
                <a:cubicBezTo>
                  <a:pt x="0" y="45824"/>
                  <a:pt x="45824" y="0"/>
                  <a:pt x="10226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75880" y="1267762"/>
            <a:ext cx="5376067" cy="238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8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Predictor Variables</a:t>
            </a:r>
            <a:endParaRPr lang="en-US" sz="1600"/>
          </a:p>
        </p:txBody>
      </p:sp>
      <p:sp>
        <p:nvSpPr>
          <p:cNvPr id="37" name="Shape 35"/>
          <p:cNvSpPr/>
          <p:nvPr/>
        </p:nvSpPr>
        <p:spPr>
          <a:xfrm>
            <a:off x="6379288" y="1646046"/>
            <a:ext cx="5289164" cy="586170"/>
          </a:xfrm>
          <a:custGeom>
            <a:avLst/>
            <a:gdLst/>
            <a:ahLst/>
            <a:cxnLst/>
            <a:rect l="l" t="t" r="r" b="b"/>
            <a:pathLst>
              <a:path w="5289164" h="586170">
                <a:moveTo>
                  <a:pt x="68160" y="0"/>
                </a:moveTo>
                <a:lnTo>
                  <a:pt x="5221004" y="0"/>
                </a:lnTo>
                <a:cubicBezTo>
                  <a:pt x="5258648" y="0"/>
                  <a:pt x="5289164" y="30516"/>
                  <a:pt x="5289164" y="68160"/>
                </a:cubicBezTo>
                <a:lnTo>
                  <a:pt x="5289164" y="518010"/>
                </a:lnTo>
                <a:cubicBezTo>
                  <a:pt x="5289164" y="555654"/>
                  <a:pt x="5258648" y="586170"/>
                  <a:pt x="5221004" y="586170"/>
                </a:cubicBezTo>
                <a:lnTo>
                  <a:pt x="68160" y="586170"/>
                </a:lnTo>
                <a:cubicBezTo>
                  <a:pt x="30516" y="586170"/>
                  <a:pt x="0" y="555654"/>
                  <a:pt x="0" y="518010"/>
                </a:cubicBezTo>
                <a:lnTo>
                  <a:pt x="0" y="68160"/>
                </a:lnTo>
                <a:cubicBezTo>
                  <a:pt x="0" y="30516"/>
                  <a:pt x="30516" y="0"/>
                  <a:pt x="68160" y="0"/>
                </a:cubicBezTo>
                <a:close/>
              </a:path>
            </a:pathLst>
          </a:custGeom>
          <a:solidFill>
            <a:srgbClr val="FAFAFA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10494" y="1768740"/>
            <a:ext cx="119279" cy="136319"/>
          </a:xfrm>
          <a:custGeom>
            <a:avLst/>
            <a:gdLst/>
            <a:ahLst/>
            <a:cxnLst/>
            <a:rect l="l" t="t" r="r" b="b"/>
            <a:pathLst>
              <a:path w="119279" h="136319">
                <a:moveTo>
                  <a:pt x="59639" y="66029"/>
                </a:moveTo>
                <a:cubicBezTo>
                  <a:pt x="77273" y="66029"/>
                  <a:pt x="91589" y="51713"/>
                  <a:pt x="91589" y="34080"/>
                </a:cubicBezTo>
                <a:cubicBezTo>
                  <a:pt x="91589" y="16446"/>
                  <a:pt x="77273" y="2130"/>
                  <a:pt x="59639" y="2130"/>
                </a:cubicBezTo>
                <a:cubicBezTo>
                  <a:pt x="42006" y="2130"/>
                  <a:pt x="27690" y="16446"/>
                  <a:pt x="27690" y="34080"/>
                </a:cubicBezTo>
                <a:cubicBezTo>
                  <a:pt x="27690" y="51713"/>
                  <a:pt x="42006" y="66029"/>
                  <a:pt x="59639" y="66029"/>
                </a:cubicBezTo>
                <a:close/>
                <a:moveTo>
                  <a:pt x="51732" y="80939"/>
                </a:moveTo>
                <a:cubicBezTo>
                  <a:pt x="25506" y="80939"/>
                  <a:pt x="4260" y="102186"/>
                  <a:pt x="4260" y="128411"/>
                </a:cubicBezTo>
                <a:cubicBezTo>
                  <a:pt x="4260" y="132778"/>
                  <a:pt x="7801" y="136319"/>
                  <a:pt x="12168" y="136319"/>
                </a:cubicBezTo>
                <a:lnTo>
                  <a:pt x="107111" y="136319"/>
                </a:lnTo>
                <a:cubicBezTo>
                  <a:pt x="111478" y="136319"/>
                  <a:pt x="115019" y="132778"/>
                  <a:pt x="115019" y="128411"/>
                </a:cubicBezTo>
                <a:cubicBezTo>
                  <a:pt x="115019" y="102186"/>
                  <a:pt x="93772" y="80939"/>
                  <a:pt x="67547" y="80939"/>
                </a:cubicBezTo>
                <a:lnTo>
                  <a:pt x="51732" y="80939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9" name="Text 37"/>
          <p:cNvSpPr/>
          <p:nvPr/>
        </p:nvSpPr>
        <p:spPr>
          <a:xfrm>
            <a:off x="6723492" y="1751700"/>
            <a:ext cx="766792" cy="170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9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Demographic</a:t>
            </a:r>
            <a:endParaRPr lang="en-US" sz="1600"/>
          </a:p>
        </p:txBody>
      </p:sp>
      <p:sp>
        <p:nvSpPr>
          <p:cNvPr id="40" name="Text 38"/>
          <p:cNvSpPr/>
          <p:nvPr/>
        </p:nvSpPr>
        <p:spPr>
          <a:xfrm>
            <a:off x="6484934" y="1990257"/>
            <a:ext cx="5128990" cy="136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5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REGIONY1, AGEY1X, SEX, RACETHNX, MARRYY1X</a:t>
            </a:r>
            <a:endParaRPr lang="en-US" sz="1600"/>
          </a:p>
        </p:txBody>
      </p:sp>
      <p:sp>
        <p:nvSpPr>
          <p:cNvPr id="41" name="Shape 39"/>
          <p:cNvSpPr/>
          <p:nvPr/>
        </p:nvSpPr>
        <p:spPr>
          <a:xfrm>
            <a:off x="6379288" y="2341168"/>
            <a:ext cx="5289164" cy="586170"/>
          </a:xfrm>
          <a:custGeom>
            <a:avLst/>
            <a:gdLst/>
            <a:ahLst/>
            <a:cxnLst/>
            <a:rect l="l" t="t" r="r" b="b"/>
            <a:pathLst>
              <a:path w="5289164" h="586170">
                <a:moveTo>
                  <a:pt x="68160" y="0"/>
                </a:moveTo>
                <a:lnTo>
                  <a:pt x="5221004" y="0"/>
                </a:lnTo>
                <a:cubicBezTo>
                  <a:pt x="5258648" y="0"/>
                  <a:pt x="5289164" y="30516"/>
                  <a:pt x="5289164" y="68160"/>
                </a:cubicBezTo>
                <a:lnTo>
                  <a:pt x="5289164" y="518010"/>
                </a:lnTo>
                <a:cubicBezTo>
                  <a:pt x="5289164" y="555654"/>
                  <a:pt x="5258648" y="586170"/>
                  <a:pt x="5221004" y="586170"/>
                </a:cubicBezTo>
                <a:lnTo>
                  <a:pt x="68160" y="586170"/>
                </a:lnTo>
                <a:cubicBezTo>
                  <a:pt x="30516" y="586170"/>
                  <a:pt x="0" y="555654"/>
                  <a:pt x="0" y="518010"/>
                </a:cubicBezTo>
                <a:lnTo>
                  <a:pt x="0" y="68160"/>
                </a:lnTo>
                <a:cubicBezTo>
                  <a:pt x="0" y="30516"/>
                  <a:pt x="30516" y="0"/>
                  <a:pt x="68160" y="0"/>
                </a:cubicBezTo>
                <a:close/>
              </a:path>
            </a:pathLst>
          </a:custGeom>
          <a:solidFill>
            <a:srgbClr val="FAFAFA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27534" y="2463853"/>
            <a:ext cx="85199" cy="136319"/>
          </a:xfrm>
          <a:custGeom>
            <a:avLst/>
            <a:gdLst/>
            <a:ahLst/>
            <a:cxnLst/>
            <a:rect l="l" t="t" r="r" b="b"/>
            <a:pathLst>
              <a:path w="85199" h="136319">
                <a:moveTo>
                  <a:pt x="36210" y="6390"/>
                </a:moveTo>
                <a:cubicBezTo>
                  <a:pt x="36210" y="2849"/>
                  <a:pt x="39058" y="0"/>
                  <a:pt x="42600" y="0"/>
                </a:cubicBezTo>
                <a:cubicBezTo>
                  <a:pt x="46141" y="0"/>
                  <a:pt x="48990" y="2849"/>
                  <a:pt x="48990" y="6390"/>
                </a:cubicBezTo>
                <a:lnTo>
                  <a:pt x="48990" y="17040"/>
                </a:lnTo>
                <a:lnTo>
                  <a:pt x="63899" y="17040"/>
                </a:lnTo>
                <a:cubicBezTo>
                  <a:pt x="68612" y="17040"/>
                  <a:pt x="72419" y="20847"/>
                  <a:pt x="72419" y="25560"/>
                </a:cubicBezTo>
                <a:cubicBezTo>
                  <a:pt x="72419" y="30272"/>
                  <a:pt x="68612" y="34080"/>
                  <a:pt x="63899" y="34080"/>
                </a:cubicBezTo>
                <a:lnTo>
                  <a:pt x="33308" y="34080"/>
                </a:lnTo>
                <a:cubicBezTo>
                  <a:pt x="26678" y="34080"/>
                  <a:pt x="21300" y="39458"/>
                  <a:pt x="21300" y="46087"/>
                </a:cubicBezTo>
                <a:cubicBezTo>
                  <a:pt x="21300" y="52078"/>
                  <a:pt x="25693" y="57137"/>
                  <a:pt x="31604" y="57989"/>
                </a:cubicBezTo>
                <a:lnTo>
                  <a:pt x="55992" y="61477"/>
                </a:lnTo>
                <a:cubicBezTo>
                  <a:pt x="70316" y="63527"/>
                  <a:pt x="80939" y="75774"/>
                  <a:pt x="80939" y="90231"/>
                </a:cubicBezTo>
                <a:cubicBezTo>
                  <a:pt x="80939" y="106286"/>
                  <a:pt x="67920" y="119279"/>
                  <a:pt x="51892" y="119279"/>
                </a:cubicBezTo>
                <a:lnTo>
                  <a:pt x="48990" y="119279"/>
                </a:lnTo>
                <a:lnTo>
                  <a:pt x="48990" y="129929"/>
                </a:lnTo>
                <a:cubicBezTo>
                  <a:pt x="48990" y="133470"/>
                  <a:pt x="46141" y="136319"/>
                  <a:pt x="42600" y="136319"/>
                </a:cubicBezTo>
                <a:cubicBezTo>
                  <a:pt x="39058" y="136319"/>
                  <a:pt x="36210" y="133470"/>
                  <a:pt x="36210" y="129929"/>
                </a:cubicBezTo>
                <a:lnTo>
                  <a:pt x="36210" y="119279"/>
                </a:lnTo>
                <a:lnTo>
                  <a:pt x="17040" y="119279"/>
                </a:lnTo>
                <a:cubicBezTo>
                  <a:pt x="12327" y="119279"/>
                  <a:pt x="8520" y="115471"/>
                  <a:pt x="8520" y="110759"/>
                </a:cubicBezTo>
                <a:cubicBezTo>
                  <a:pt x="8520" y="106046"/>
                  <a:pt x="12327" y="102239"/>
                  <a:pt x="17040" y="102239"/>
                </a:cubicBezTo>
                <a:lnTo>
                  <a:pt x="51892" y="102239"/>
                </a:lnTo>
                <a:cubicBezTo>
                  <a:pt x="58521" y="102239"/>
                  <a:pt x="63899" y="96861"/>
                  <a:pt x="63899" y="90231"/>
                </a:cubicBezTo>
                <a:cubicBezTo>
                  <a:pt x="63899" y="84241"/>
                  <a:pt x="59506" y="79182"/>
                  <a:pt x="53596" y="78330"/>
                </a:cubicBezTo>
                <a:lnTo>
                  <a:pt x="29207" y="74842"/>
                </a:lnTo>
                <a:cubicBezTo>
                  <a:pt x="14883" y="72819"/>
                  <a:pt x="4260" y="60545"/>
                  <a:pt x="4260" y="46087"/>
                </a:cubicBezTo>
                <a:cubicBezTo>
                  <a:pt x="4260" y="30059"/>
                  <a:pt x="17279" y="17040"/>
                  <a:pt x="33308" y="17040"/>
                </a:cubicBezTo>
                <a:lnTo>
                  <a:pt x="36210" y="17040"/>
                </a:lnTo>
                <a:lnTo>
                  <a:pt x="36210" y="639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3" name="Text 41"/>
          <p:cNvSpPr/>
          <p:nvPr/>
        </p:nvSpPr>
        <p:spPr>
          <a:xfrm>
            <a:off x="6723492" y="2446813"/>
            <a:ext cx="877551" cy="170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9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Socioeconomic</a:t>
            </a:r>
            <a:endParaRPr lang="en-US" sz="1600"/>
          </a:p>
        </p:txBody>
      </p:sp>
      <p:sp>
        <p:nvSpPr>
          <p:cNvPr id="44" name="Text 42"/>
          <p:cNvSpPr/>
          <p:nvPr/>
        </p:nvSpPr>
        <p:spPr>
          <a:xfrm>
            <a:off x="6484934" y="2685371"/>
            <a:ext cx="5128990" cy="136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5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POVCATY1, employed_flag</a:t>
            </a:r>
            <a:endParaRPr lang="en-US" sz="1600"/>
          </a:p>
        </p:txBody>
      </p:sp>
      <p:sp>
        <p:nvSpPr>
          <p:cNvPr id="45" name="Shape 43"/>
          <p:cNvSpPr/>
          <p:nvPr/>
        </p:nvSpPr>
        <p:spPr>
          <a:xfrm>
            <a:off x="6379288" y="3036290"/>
            <a:ext cx="5289164" cy="722489"/>
          </a:xfrm>
          <a:custGeom>
            <a:avLst/>
            <a:gdLst/>
            <a:ahLst/>
            <a:cxnLst/>
            <a:rect l="l" t="t" r="r" b="b"/>
            <a:pathLst>
              <a:path w="5289164" h="722489">
                <a:moveTo>
                  <a:pt x="68160" y="0"/>
                </a:moveTo>
                <a:lnTo>
                  <a:pt x="5221004" y="0"/>
                </a:lnTo>
                <a:cubicBezTo>
                  <a:pt x="5258648" y="0"/>
                  <a:pt x="5289164" y="30516"/>
                  <a:pt x="5289164" y="68160"/>
                </a:cubicBezTo>
                <a:lnTo>
                  <a:pt x="5289164" y="654329"/>
                </a:lnTo>
                <a:cubicBezTo>
                  <a:pt x="5289164" y="691973"/>
                  <a:pt x="5258648" y="722489"/>
                  <a:pt x="5221004" y="722489"/>
                </a:cubicBezTo>
                <a:lnTo>
                  <a:pt x="68160" y="722489"/>
                </a:lnTo>
                <a:cubicBezTo>
                  <a:pt x="30516" y="722489"/>
                  <a:pt x="0" y="691973"/>
                  <a:pt x="0" y="654329"/>
                </a:cubicBezTo>
                <a:lnTo>
                  <a:pt x="0" y="68160"/>
                </a:lnTo>
                <a:cubicBezTo>
                  <a:pt x="0" y="30541"/>
                  <a:pt x="30541" y="0"/>
                  <a:pt x="68160" y="0"/>
                </a:cubicBezTo>
                <a:close/>
              </a:path>
            </a:pathLst>
          </a:custGeom>
          <a:solidFill>
            <a:srgbClr val="FAFAFA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01974" y="3158975"/>
            <a:ext cx="136319" cy="136319"/>
          </a:xfrm>
          <a:custGeom>
            <a:avLst/>
            <a:gdLst/>
            <a:ahLst/>
            <a:cxnLst/>
            <a:rect l="l" t="t" r="r" b="b"/>
            <a:pathLst>
              <a:path w="136319" h="136319">
                <a:moveTo>
                  <a:pt x="68159" y="28728"/>
                </a:moveTo>
                <a:lnTo>
                  <a:pt x="64166" y="23190"/>
                </a:lnTo>
                <a:cubicBezTo>
                  <a:pt x="57509" y="13978"/>
                  <a:pt x="46833" y="8520"/>
                  <a:pt x="35438" y="8520"/>
                </a:cubicBezTo>
                <a:cubicBezTo>
                  <a:pt x="15868" y="8520"/>
                  <a:pt x="0" y="24388"/>
                  <a:pt x="0" y="43957"/>
                </a:cubicBezTo>
                <a:lnTo>
                  <a:pt x="0" y="44650"/>
                </a:lnTo>
                <a:cubicBezTo>
                  <a:pt x="0" y="50933"/>
                  <a:pt x="1651" y="57430"/>
                  <a:pt x="4420" y="63899"/>
                </a:cubicBezTo>
                <a:lnTo>
                  <a:pt x="32642" y="63899"/>
                </a:lnTo>
                <a:cubicBezTo>
                  <a:pt x="33494" y="63899"/>
                  <a:pt x="34266" y="63394"/>
                  <a:pt x="34612" y="62595"/>
                </a:cubicBezTo>
                <a:lnTo>
                  <a:pt x="43079" y="42280"/>
                </a:lnTo>
                <a:cubicBezTo>
                  <a:pt x="44064" y="39937"/>
                  <a:pt x="46354" y="38393"/>
                  <a:pt x="48883" y="38340"/>
                </a:cubicBezTo>
                <a:cubicBezTo>
                  <a:pt x="51412" y="38286"/>
                  <a:pt x="53755" y="39777"/>
                  <a:pt x="54794" y="42094"/>
                </a:cubicBezTo>
                <a:lnTo>
                  <a:pt x="68452" y="72419"/>
                </a:lnTo>
                <a:lnTo>
                  <a:pt x="79475" y="50374"/>
                </a:lnTo>
                <a:cubicBezTo>
                  <a:pt x="80566" y="48217"/>
                  <a:pt x="82776" y="46833"/>
                  <a:pt x="85199" y="46833"/>
                </a:cubicBezTo>
                <a:cubicBezTo>
                  <a:pt x="87622" y="46833"/>
                  <a:pt x="89832" y="48191"/>
                  <a:pt x="90923" y="50374"/>
                </a:cubicBezTo>
                <a:lnTo>
                  <a:pt x="97100" y="62701"/>
                </a:lnTo>
                <a:cubicBezTo>
                  <a:pt x="97473" y="63420"/>
                  <a:pt x="98192" y="63873"/>
                  <a:pt x="99017" y="63873"/>
                </a:cubicBezTo>
                <a:lnTo>
                  <a:pt x="131926" y="63873"/>
                </a:lnTo>
                <a:cubicBezTo>
                  <a:pt x="134721" y="57403"/>
                  <a:pt x="136345" y="50906"/>
                  <a:pt x="136345" y="44623"/>
                </a:cubicBezTo>
                <a:lnTo>
                  <a:pt x="136345" y="43931"/>
                </a:lnTo>
                <a:cubicBezTo>
                  <a:pt x="136319" y="24388"/>
                  <a:pt x="120450" y="8520"/>
                  <a:pt x="100881" y="8520"/>
                </a:cubicBezTo>
                <a:cubicBezTo>
                  <a:pt x="89512" y="8520"/>
                  <a:pt x="78809" y="13978"/>
                  <a:pt x="72153" y="23190"/>
                </a:cubicBezTo>
                <a:lnTo>
                  <a:pt x="68159" y="28701"/>
                </a:lnTo>
                <a:close/>
                <a:moveTo>
                  <a:pt x="125030" y="76679"/>
                </a:moveTo>
                <a:lnTo>
                  <a:pt x="98991" y="76679"/>
                </a:lnTo>
                <a:cubicBezTo>
                  <a:pt x="93346" y="76679"/>
                  <a:pt x="88181" y="73484"/>
                  <a:pt x="85652" y="68426"/>
                </a:cubicBezTo>
                <a:lnTo>
                  <a:pt x="85199" y="67520"/>
                </a:lnTo>
                <a:lnTo>
                  <a:pt x="73884" y="90178"/>
                </a:lnTo>
                <a:cubicBezTo>
                  <a:pt x="72792" y="92388"/>
                  <a:pt x="70502" y="93772"/>
                  <a:pt x="68026" y="93719"/>
                </a:cubicBezTo>
                <a:cubicBezTo>
                  <a:pt x="65550" y="93666"/>
                  <a:pt x="63340" y="92201"/>
                  <a:pt x="62329" y="89965"/>
                </a:cubicBezTo>
                <a:lnTo>
                  <a:pt x="49203" y="60811"/>
                </a:lnTo>
                <a:lnTo>
                  <a:pt x="46407" y="67520"/>
                </a:lnTo>
                <a:cubicBezTo>
                  <a:pt x="44091" y="73085"/>
                  <a:pt x="38659" y="76706"/>
                  <a:pt x="32642" y="76706"/>
                </a:cubicBezTo>
                <a:lnTo>
                  <a:pt x="11289" y="76706"/>
                </a:lnTo>
                <a:cubicBezTo>
                  <a:pt x="23856" y="96355"/>
                  <a:pt x="44037" y="114433"/>
                  <a:pt x="56657" y="124071"/>
                </a:cubicBezTo>
                <a:cubicBezTo>
                  <a:pt x="59959" y="126574"/>
                  <a:pt x="64006" y="127825"/>
                  <a:pt x="68133" y="127825"/>
                </a:cubicBezTo>
                <a:cubicBezTo>
                  <a:pt x="72260" y="127825"/>
                  <a:pt x="76333" y="126601"/>
                  <a:pt x="79608" y="124071"/>
                </a:cubicBezTo>
                <a:cubicBezTo>
                  <a:pt x="92281" y="114406"/>
                  <a:pt x="112463" y="96328"/>
                  <a:pt x="125030" y="76679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7" name="Text 45"/>
          <p:cNvSpPr/>
          <p:nvPr/>
        </p:nvSpPr>
        <p:spPr>
          <a:xfrm>
            <a:off x="6723492" y="3141935"/>
            <a:ext cx="826432" cy="170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9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 Factors</a:t>
            </a:r>
            <a:endParaRPr lang="en-US" sz="1600"/>
          </a:p>
        </p:txBody>
      </p:sp>
      <p:sp>
        <p:nvSpPr>
          <p:cNvPr id="48" name="Text 46"/>
          <p:cNvSpPr/>
          <p:nvPr/>
        </p:nvSpPr>
        <p:spPr>
          <a:xfrm>
            <a:off x="6484934" y="3380493"/>
            <a:ext cx="5128990" cy="27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5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RTHLTH1, MNHLTH1, total_chronic_conditions, clinical_burden_cluster, bmi_category, HEARNG2, VISION2, JTPAIN1</a:t>
            </a:r>
            <a:endParaRPr lang="en-US" sz="1600"/>
          </a:p>
        </p:txBody>
      </p:sp>
      <p:sp>
        <p:nvSpPr>
          <p:cNvPr id="49" name="Shape 47"/>
          <p:cNvSpPr/>
          <p:nvPr/>
        </p:nvSpPr>
        <p:spPr>
          <a:xfrm>
            <a:off x="6379288" y="3867614"/>
            <a:ext cx="5289164" cy="586170"/>
          </a:xfrm>
          <a:custGeom>
            <a:avLst/>
            <a:gdLst/>
            <a:ahLst/>
            <a:cxnLst/>
            <a:rect l="l" t="t" r="r" b="b"/>
            <a:pathLst>
              <a:path w="5289164" h="586170">
                <a:moveTo>
                  <a:pt x="68160" y="0"/>
                </a:moveTo>
                <a:lnTo>
                  <a:pt x="5221004" y="0"/>
                </a:lnTo>
                <a:cubicBezTo>
                  <a:pt x="5258648" y="0"/>
                  <a:pt x="5289164" y="30516"/>
                  <a:pt x="5289164" y="68160"/>
                </a:cubicBezTo>
                <a:lnTo>
                  <a:pt x="5289164" y="518010"/>
                </a:lnTo>
                <a:cubicBezTo>
                  <a:pt x="5289164" y="555654"/>
                  <a:pt x="5258648" y="586170"/>
                  <a:pt x="5221004" y="586170"/>
                </a:cubicBezTo>
                <a:lnTo>
                  <a:pt x="68160" y="586170"/>
                </a:lnTo>
                <a:cubicBezTo>
                  <a:pt x="30516" y="586170"/>
                  <a:pt x="0" y="555654"/>
                  <a:pt x="0" y="518010"/>
                </a:cubicBezTo>
                <a:lnTo>
                  <a:pt x="0" y="68160"/>
                </a:lnTo>
                <a:cubicBezTo>
                  <a:pt x="0" y="30516"/>
                  <a:pt x="30516" y="0"/>
                  <a:pt x="68160" y="0"/>
                </a:cubicBezTo>
                <a:close/>
              </a:path>
            </a:pathLst>
          </a:custGeom>
          <a:solidFill>
            <a:srgbClr val="FAFAFA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10494" y="3990308"/>
            <a:ext cx="119279" cy="136319"/>
          </a:xfrm>
          <a:custGeom>
            <a:avLst/>
            <a:gdLst/>
            <a:ahLst/>
            <a:cxnLst/>
            <a:rect l="l" t="t" r="r" b="b"/>
            <a:pathLst>
              <a:path w="119279" h="136319">
                <a:moveTo>
                  <a:pt x="68292" y="-8520"/>
                </a:moveTo>
                <a:cubicBezTo>
                  <a:pt x="76521" y="-8520"/>
                  <a:pt x="83202" y="-1839"/>
                  <a:pt x="83202" y="6390"/>
                </a:cubicBezTo>
                <a:cubicBezTo>
                  <a:pt x="83202" y="14619"/>
                  <a:pt x="76521" y="21300"/>
                  <a:pt x="68292" y="21300"/>
                </a:cubicBezTo>
                <a:cubicBezTo>
                  <a:pt x="60063" y="21300"/>
                  <a:pt x="53383" y="14619"/>
                  <a:pt x="53383" y="6390"/>
                </a:cubicBezTo>
                <a:cubicBezTo>
                  <a:pt x="53383" y="-1839"/>
                  <a:pt x="60063" y="-8520"/>
                  <a:pt x="68292" y="-8520"/>
                </a:cubicBezTo>
                <a:close/>
                <a:moveTo>
                  <a:pt x="32908" y="46860"/>
                </a:moveTo>
                <a:cubicBezTo>
                  <a:pt x="32030" y="46860"/>
                  <a:pt x="31257" y="47392"/>
                  <a:pt x="30938" y="48191"/>
                </a:cubicBezTo>
                <a:lnTo>
                  <a:pt x="25081" y="62808"/>
                </a:lnTo>
                <a:cubicBezTo>
                  <a:pt x="23323" y="67174"/>
                  <a:pt x="18371" y="69304"/>
                  <a:pt x="14005" y="67547"/>
                </a:cubicBezTo>
                <a:cubicBezTo>
                  <a:pt x="9638" y="65790"/>
                  <a:pt x="7508" y="60838"/>
                  <a:pt x="9265" y="56471"/>
                </a:cubicBezTo>
                <a:lnTo>
                  <a:pt x="15096" y="41854"/>
                </a:lnTo>
                <a:cubicBezTo>
                  <a:pt x="18025" y="34586"/>
                  <a:pt x="25054" y="29820"/>
                  <a:pt x="32908" y="29820"/>
                </a:cubicBezTo>
                <a:lnTo>
                  <a:pt x="58814" y="29820"/>
                </a:lnTo>
                <a:cubicBezTo>
                  <a:pt x="66402" y="29820"/>
                  <a:pt x="73404" y="33840"/>
                  <a:pt x="77212" y="40390"/>
                </a:cubicBezTo>
                <a:lnTo>
                  <a:pt x="85945" y="55379"/>
                </a:lnTo>
                <a:lnTo>
                  <a:pt x="102345" y="55379"/>
                </a:lnTo>
                <a:cubicBezTo>
                  <a:pt x="107058" y="55379"/>
                  <a:pt x="110865" y="59187"/>
                  <a:pt x="110865" y="63899"/>
                </a:cubicBezTo>
                <a:cubicBezTo>
                  <a:pt x="110865" y="68612"/>
                  <a:pt x="107058" y="72419"/>
                  <a:pt x="102345" y="72419"/>
                </a:cubicBezTo>
                <a:lnTo>
                  <a:pt x="85945" y="72419"/>
                </a:lnTo>
                <a:cubicBezTo>
                  <a:pt x="79874" y="72419"/>
                  <a:pt x="74283" y="69198"/>
                  <a:pt x="71221" y="63953"/>
                </a:cubicBezTo>
                <a:lnTo>
                  <a:pt x="68559" y="59400"/>
                </a:lnTo>
                <a:lnTo>
                  <a:pt x="63047" y="78144"/>
                </a:lnTo>
                <a:lnTo>
                  <a:pt x="83122" y="84161"/>
                </a:lnTo>
                <a:cubicBezTo>
                  <a:pt x="90497" y="86371"/>
                  <a:pt x="94252" y="94544"/>
                  <a:pt x="91136" y="101600"/>
                </a:cubicBezTo>
                <a:lnTo>
                  <a:pt x="76067" y="135520"/>
                </a:lnTo>
                <a:cubicBezTo>
                  <a:pt x="74150" y="139833"/>
                  <a:pt x="69118" y="141750"/>
                  <a:pt x="64831" y="139833"/>
                </a:cubicBezTo>
                <a:cubicBezTo>
                  <a:pt x="60545" y="137916"/>
                  <a:pt x="58601" y="132884"/>
                  <a:pt x="60518" y="128597"/>
                </a:cubicBezTo>
                <a:lnTo>
                  <a:pt x="73617" y="99097"/>
                </a:lnTo>
                <a:lnTo>
                  <a:pt x="48084" y="91429"/>
                </a:lnTo>
                <a:cubicBezTo>
                  <a:pt x="39378" y="88820"/>
                  <a:pt x="34239" y="79794"/>
                  <a:pt x="36449" y="70982"/>
                </a:cubicBezTo>
                <a:lnTo>
                  <a:pt x="42493" y="46860"/>
                </a:lnTo>
                <a:lnTo>
                  <a:pt x="32935" y="46860"/>
                </a:lnTo>
                <a:close/>
                <a:moveTo>
                  <a:pt x="30778" y="95050"/>
                </a:moveTo>
                <a:cubicBezTo>
                  <a:pt x="34319" y="99017"/>
                  <a:pt x="38952" y="102053"/>
                  <a:pt x="44410" y="103677"/>
                </a:cubicBezTo>
                <a:lnTo>
                  <a:pt x="45661" y="104049"/>
                </a:lnTo>
                <a:lnTo>
                  <a:pt x="43824" y="109188"/>
                </a:lnTo>
                <a:cubicBezTo>
                  <a:pt x="42280" y="113528"/>
                  <a:pt x="39564" y="117388"/>
                  <a:pt x="36023" y="120317"/>
                </a:cubicBezTo>
                <a:lnTo>
                  <a:pt x="14084" y="138395"/>
                </a:lnTo>
                <a:cubicBezTo>
                  <a:pt x="10464" y="141377"/>
                  <a:pt x="5085" y="140871"/>
                  <a:pt x="2103" y="137251"/>
                </a:cubicBezTo>
                <a:cubicBezTo>
                  <a:pt x="-879" y="133630"/>
                  <a:pt x="-373" y="128251"/>
                  <a:pt x="3248" y="125269"/>
                </a:cubicBezTo>
                <a:lnTo>
                  <a:pt x="25187" y="107191"/>
                </a:lnTo>
                <a:cubicBezTo>
                  <a:pt x="26385" y="106206"/>
                  <a:pt x="27264" y="104928"/>
                  <a:pt x="27796" y="103490"/>
                </a:cubicBezTo>
                <a:lnTo>
                  <a:pt x="30778" y="9505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1" name="Text 49"/>
          <p:cNvSpPr/>
          <p:nvPr/>
        </p:nvSpPr>
        <p:spPr>
          <a:xfrm>
            <a:off x="6723492" y="3973268"/>
            <a:ext cx="511195" cy="170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9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Lifestyle</a:t>
            </a:r>
            <a:endParaRPr lang="en-US" sz="1600"/>
          </a:p>
        </p:txBody>
      </p:sp>
      <p:sp>
        <p:nvSpPr>
          <p:cNvPr id="52" name="Text 50"/>
          <p:cNvSpPr/>
          <p:nvPr/>
        </p:nvSpPr>
        <p:spPr>
          <a:xfrm>
            <a:off x="6484934" y="4211826"/>
            <a:ext cx="5128990" cy="136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5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PHYACT3, ADSMOK2</a:t>
            </a:r>
            <a:endParaRPr lang="en-US" sz="1600"/>
          </a:p>
        </p:txBody>
      </p:sp>
      <p:sp>
        <p:nvSpPr>
          <p:cNvPr id="53" name="Shape 51"/>
          <p:cNvSpPr/>
          <p:nvPr/>
        </p:nvSpPr>
        <p:spPr>
          <a:xfrm>
            <a:off x="6379288" y="4562736"/>
            <a:ext cx="5289164" cy="722489"/>
          </a:xfrm>
          <a:custGeom>
            <a:avLst/>
            <a:gdLst/>
            <a:ahLst/>
            <a:cxnLst/>
            <a:rect l="l" t="t" r="r" b="b"/>
            <a:pathLst>
              <a:path w="5289164" h="722489">
                <a:moveTo>
                  <a:pt x="68160" y="0"/>
                </a:moveTo>
                <a:lnTo>
                  <a:pt x="5221004" y="0"/>
                </a:lnTo>
                <a:cubicBezTo>
                  <a:pt x="5258648" y="0"/>
                  <a:pt x="5289164" y="30516"/>
                  <a:pt x="5289164" y="68160"/>
                </a:cubicBezTo>
                <a:lnTo>
                  <a:pt x="5289164" y="654329"/>
                </a:lnTo>
                <a:cubicBezTo>
                  <a:pt x="5289164" y="691973"/>
                  <a:pt x="5258648" y="722489"/>
                  <a:pt x="5221004" y="722489"/>
                </a:cubicBezTo>
                <a:lnTo>
                  <a:pt x="68160" y="722489"/>
                </a:lnTo>
                <a:cubicBezTo>
                  <a:pt x="30516" y="722489"/>
                  <a:pt x="0" y="691973"/>
                  <a:pt x="0" y="654329"/>
                </a:cubicBezTo>
                <a:lnTo>
                  <a:pt x="0" y="68160"/>
                </a:lnTo>
                <a:cubicBezTo>
                  <a:pt x="0" y="30541"/>
                  <a:pt x="30541" y="0"/>
                  <a:pt x="68160" y="0"/>
                </a:cubicBezTo>
                <a:close/>
              </a:path>
            </a:pathLst>
          </a:custGeom>
          <a:solidFill>
            <a:srgbClr val="FAFAFA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501974" y="4685421"/>
            <a:ext cx="136319" cy="136319"/>
          </a:xfrm>
          <a:custGeom>
            <a:avLst/>
            <a:gdLst/>
            <a:ahLst/>
            <a:cxnLst/>
            <a:rect l="l" t="t" r="r" b="b"/>
            <a:pathLst>
              <a:path w="136319" h="136319">
                <a:moveTo>
                  <a:pt x="68159" y="0"/>
                </a:moveTo>
                <a:cubicBezTo>
                  <a:pt x="69384" y="0"/>
                  <a:pt x="70609" y="266"/>
                  <a:pt x="71727" y="772"/>
                </a:cubicBezTo>
                <a:lnTo>
                  <a:pt x="121888" y="22045"/>
                </a:lnTo>
                <a:cubicBezTo>
                  <a:pt x="127745" y="24521"/>
                  <a:pt x="132112" y="30299"/>
                  <a:pt x="132085" y="37275"/>
                </a:cubicBezTo>
                <a:cubicBezTo>
                  <a:pt x="131952" y="63686"/>
                  <a:pt x="121089" y="112010"/>
                  <a:pt x="75215" y="133976"/>
                </a:cubicBezTo>
                <a:cubicBezTo>
                  <a:pt x="70769" y="136106"/>
                  <a:pt x="65603" y="136106"/>
                  <a:pt x="61157" y="133976"/>
                </a:cubicBezTo>
                <a:cubicBezTo>
                  <a:pt x="15256" y="112010"/>
                  <a:pt x="4420" y="63686"/>
                  <a:pt x="4287" y="37275"/>
                </a:cubicBezTo>
                <a:cubicBezTo>
                  <a:pt x="4260" y="30299"/>
                  <a:pt x="8626" y="24521"/>
                  <a:pt x="14484" y="22045"/>
                </a:cubicBezTo>
                <a:lnTo>
                  <a:pt x="64618" y="772"/>
                </a:lnTo>
                <a:cubicBezTo>
                  <a:pt x="65736" y="266"/>
                  <a:pt x="66935" y="0"/>
                  <a:pt x="68159" y="0"/>
                </a:cubicBezTo>
                <a:close/>
                <a:moveTo>
                  <a:pt x="68159" y="17785"/>
                </a:moveTo>
                <a:lnTo>
                  <a:pt x="68159" y="118453"/>
                </a:lnTo>
                <a:cubicBezTo>
                  <a:pt x="104901" y="100668"/>
                  <a:pt x="114779" y="61264"/>
                  <a:pt x="115019" y="37674"/>
                </a:cubicBezTo>
                <a:lnTo>
                  <a:pt x="68159" y="17812"/>
                </a:lnTo>
                <a:lnTo>
                  <a:pt x="68159" y="17812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5" name="Text 53"/>
          <p:cNvSpPr/>
          <p:nvPr/>
        </p:nvSpPr>
        <p:spPr>
          <a:xfrm>
            <a:off x="6723492" y="4668382"/>
            <a:ext cx="1107589" cy="170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9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Insurance Coverage</a:t>
            </a:r>
            <a:endParaRPr lang="en-US" sz="1600"/>
          </a:p>
        </p:txBody>
      </p:sp>
      <p:sp>
        <p:nvSpPr>
          <p:cNvPr id="56" name="Text 54"/>
          <p:cNvSpPr/>
          <p:nvPr/>
        </p:nvSpPr>
        <p:spPr>
          <a:xfrm>
            <a:off x="6484934" y="4906939"/>
            <a:ext cx="5128990" cy="27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5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INSCOVY1, TRIEVY1, MCREVY1, MCDEVY1, TOTSLFY1_adj, TOTMCDY1_adj, TOTMCRY1_adj, TOTPRVY1_adj, TOTTRIY1_adj, TOTOPUY1_adj</a:t>
            </a:r>
            <a:endParaRPr lang="en-US" sz="1600"/>
          </a:p>
        </p:txBody>
      </p:sp>
      <p:sp>
        <p:nvSpPr>
          <p:cNvPr id="57" name="Shape 55"/>
          <p:cNvSpPr/>
          <p:nvPr/>
        </p:nvSpPr>
        <p:spPr>
          <a:xfrm>
            <a:off x="6379288" y="5394069"/>
            <a:ext cx="5289164" cy="586170"/>
          </a:xfrm>
          <a:custGeom>
            <a:avLst/>
            <a:gdLst/>
            <a:ahLst/>
            <a:cxnLst/>
            <a:rect l="l" t="t" r="r" b="b"/>
            <a:pathLst>
              <a:path w="5289164" h="586170">
                <a:moveTo>
                  <a:pt x="68160" y="0"/>
                </a:moveTo>
                <a:lnTo>
                  <a:pt x="5221004" y="0"/>
                </a:lnTo>
                <a:cubicBezTo>
                  <a:pt x="5258648" y="0"/>
                  <a:pt x="5289164" y="30516"/>
                  <a:pt x="5289164" y="68160"/>
                </a:cubicBezTo>
                <a:lnTo>
                  <a:pt x="5289164" y="518010"/>
                </a:lnTo>
                <a:cubicBezTo>
                  <a:pt x="5289164" y="555654"/>
                  <a:pt x="5258648" y="586170"/>
                  <a:pt x="5221004" y="586170"/>
                </a:cubicBezTo>
                <a:lnTo>
                  <a:pt x="68160" y="586170"/>
                </a:lnTo>
                <a:cubicBezTo>
                  <a:pt x="30516" y="586170"/>
                  <a:pt x="0" y="555654"/>
                  <a:pt x="0" y="518010"/>
                </a:cubicBezTo>
                <a:lnTo>
                  <a:pt x="0" y="68160"/>
                </a:lnTo>
                <a:cubicBezTo>
                  <a:pt x="0" y="30516"/>
                  <a:pt x="30516" y="0"/>
                  <a:pt x="68160" y="0"/>
                </a:cubicBezTo>
                <a:close/>
              </a:path>
            </a:pathLst>
          </a:custGeom>
          <a:solidFill>
            <a:srgbClr val="FAFAFA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93454" y="5516754"/>
            <a:ext cx="153358" cy="136319"/>
          </a:xfrm>
          <a:custGeom>
            <a:avLst/>
            <a:gdLst/>
            <a:ahLst/>
            <a:cxnLst/>
            <a:rect l="l" t="t" r="r" b="b"/>
            <a:pathLst>
              <a:path w="153358" h="136319">
                <a:moveTo>
                  <a:pt x="34080" y="17040"/>
                </a:moveTo>
                <a:cubicBezTo>
                  <a:pt x="34080" y="7641"/>
                  <a:pt x="41721" y="0"/>
                  <a:pt x="51119" y="0"/>
                </a:cubicBezTo>
                <a:lnTo>
                  <a:pt x="102239" y="0"/>
                </a:lnTo>
                <a:cubicBezTo>
                  <a:pt x="111638" y="0"/>
                  <a:pt x="119279" y="7641"/>
                  <a:pt x="119279" y="17040"/>
                </a:cubicBezTo>
                <a:lnTo>
                  <a:pt x="119279" y="34080"/>
                </a:lnTo>
                <a:lnTo>
                  <a:pt x="136319" y="34080"/>
                </a:lnTo>
                <a:cubicBezTo>
                  <a:pt x="145717" y="34080"/>
                  <a:pt x="153358" y="41721"/>
                  <a:pt x="153358" y="51119"/>
                </a:cubicBezTo>
                <a:lnTo>
                  <a:pt x="153358" y="119279"/>
                </a:lnTo>
                <a:cubicBezTo>
                  <a:pt x="153358" y="128677"/>
                  <a:pt x="145717" y="136319"/>
                  <a:pt x="136319" y="136319"/>
                </a:cubicBezTo>
                <a:lnTo>
                  <a:pt x="17040" y="136319"/>
                </a:lnTo>
                <a:cubicBezTo>
                  <a:pt x="7641" y="136319"/>
                  <a:pt x="0" y="128677"/>
                  <a:pt x="0" y="119279"/>
                </a:cubicBezTo>
                <a:lnTo>
                  <a:pt x="0" y="51119"/>
                </a:lnTo>
                <a:cubicBezTo>
                  <a:pt x="0" y="41721"/>
                  <a:pt x="7641" y="34080"/>
                  <a:pt x="17040" y="34080"/>
                </a:cubicBezTo>
                <a:lnTo>
                  <a:pt x="34080" y="34080"/>
                </a:lnTo>
                <a:lnTo>
                  <a:pt x="34080" y="17040"/>
                </a:lnTo>
                <a:close/>
                <a:moveTo>
                  <a:pt x="72419" y="93719"/>
                </a:moveTo>
                <a:cubicBezTo>
                  <a:pt x="67707" y="93719"/>
                  <a:pt x="63899" y="97526"/>
                  <a:pt x="63899" y="102239"/>
                </a:cubicBezTo>
                <a:lnTo>
                  <a:pt x="63899" y="123539"/>
                </a:lnTo>
                <a:lnTo>
                  <a:pt x="89459" y="123539"/>
                </a:lnTo>
                <a:lnTo>
                  <a:pt x="89459" y="102239"/>
                </a:lnTo>
                <a:cubicBezTo>
                  <a:pt x="89459" y="97526"/>
                  <a:pt x="85652" y="93719"/>
                  <a:pt x="80939" y="93719"/>
                </a:cubicBezTo>
                <a:lnTo>
                  <a:pt x="72419" y="93719"/>
                </a:lnTo>
                <a:close/>
                <a:moveTo>
                  <a:pt x="34080" y="97979"/>
                </a:moveTo>
                <a:lnTo>
                  <a:pt x="34080" y="89459"/>
                </a:lnTo>
                <a:cubicBezTo>
                  <a:pt x="34080" y="87116"/>
                  <a:pt x="32163" y="85199"/>
                  <a:pt x="29820" y="85199"/>
                </a:cubicBezTo>
                <a:lnTo>
                  <a:pt x="21300" y="85199"/>
                </a:lnTo>
                <a:cubicBezTo>
                  <a:pt x="18957" y="85199"/>
                  <a:pt x="17040" y="87116"/>
                  <a:pt x="17040" y="89459"/>
                </a:cubicBezTo>
                <a:lnTo>
                  <a:pt x="17040" y="97979"/>
                </a:lnTo>
                <a:cubicBezTo>
                  <a:pt x="17040" y="100322"/>
                  <a:pt x="18957" y="102239"/>
                  <a:pt x="21300" y="102239"/>
                </a:cubicBezTo>
                <a:lnTo>
                  <a:pt x="29820" y="102239"/>
                </a:lnTo>
                <a:cubicBezTo>
                  <a:pt x="32163" y="102239"/>
                  <a:pt x="34080" y="100322"/>
                  <a:pt x="34080" y="97979"/>
                </a:cubicBezTo>
                <a:close/>
                <a:moveTo>
                  <a:pt x="29820" y="68159"/>
                </a:moveTo>
                <a:cubicBezTo>
                  <a:pt x="32163" y="68159"/>
                  <a:pt x="34080" y="66242"/>
                  <a:pt x="34080" y="63899"/>
                </a:cubicBezTo>
                <a:lnTo>
                  <a:pt x="34080" y="55379"/>
                </a:lnTo>
                <a:cubicBezTo>
                  <a:pt x="34080" y="53036"/>
                  <a:pt x="32163" y="51119"/>
                  <a:pt x="29820" y="51119"/>
                </a:cubicBezTo>
                <a:lnTo>
                  <a:pt x="21300" y="51119"/>
                </a:lnTo>
                <a:cubicBezTo>
                  <a:pt x="18957" y="51119"/>
                  <a:pt x="17040" y="53036"/>
                  <a:pt x="17040" y="55379"/>
                </a:cubicBezTo>
                <a:lnTo>
                  <a:pt x="17040" y="63899"/>
                </a:lnTo>
                <a:cubicBezTo>
                  <a:pt x="17040" y="66242"/>
                  <a:pt x="18957" y="68159"/>
                  <a:pt x="21300" y="68159"/>
                </a:cubicBezTo>
                <a:lnTo>
                  <a:pt x="29820" y="68159"/>
                </a:lnTo>
                <a:close/>
                <a:moveTo>
                  <a:pt x="136319" y="97979"/>
                </a:moveTo>
                <a:lnTo>
                  <a:pt x="136319" y="89459"/>
                </a:lnTo>
                <a:cubicBezTo>
                  <a:pt x="136319" y="87116"/>
                  <a:pt x="134402" y="85199"/>
                  <a:pt x="132059" y="85199"/>
                </a:cubicBezTo>
                <a:lnTo>
                  <a:pt x="123539" y="85199"/>
                </a:lnTo>
                <a:cubicBezTo>
                  <a:pt x="121196" y="85199"/>
                  <a:pt x="119279" y="87116"/>
                  <a:pt x="119279" y="89459"/>
                </a:cubicBezTo>
                <a:lnTo>
                  <a:pt x="119279" y="97979"/>
                </a:lnTo>
                <a:cubicBezTo>
                  <a:pt x="119279" y="100322"/>
                  <a:pt x="121196" y="102239"/>
                  <a:pt x="123539" y="102239"/>
                </a:cubicBezTo>
                <a:lnTo>
                  <a:pt x="132059" y="102239"/>
                </a:lnTo>
                <a:cubicBezTo>
                  <a:pt x="134402" y="102239"/>
                  <a:pt x="136319" y="100322"/>
                  <a:pt x="136319" y="97979"/>
                </a:cubicBezTo>
                <a:close/>
                <a:moveTo>
                  <a:pt x="132059" y="68159"/>
                </a:moveTo>
                <a:cubicBezTo>
                  <a:pt x="134402" y="68159"/>
                  <a:pt x="136319" y="66242"/>
                  <a:pt x="136319" y="63899"/>
                </a:cubicBezTo>
                <a:lnTo>
                  <a:pt x="136319" y="55379"/>
                </a:lnTo>
                <a:cubicBezTo>
                  <a:pt x="136319" y="53036"/>
                  <a:pt x="134402" y="51119"/>
                  <a:pt x="132059" y="51119"/>
                </a:cubicBezTo>
                <a:lnTo>
                  <a:pt x="123539" y="51119"/>
                </a:lnTo>
                <a:cubicBezTo>
                  <a:pt x="121196" y="51119"/>
                  <a:pt x="119279" y="53036"/>
                  <a:pt x="119279" y="55379"/>
                </a:cubicBezTo>
                <a:lnTo>
                  <a:pt x="119279" y="63899"/>
                </a:lnTo>
                <a:cubicBezTo>
                  <a:pt x="119279" y="66242"/>
                  <a:pt x="121196" y="68159"/>
                  <a:pt x="123539" y="68159"/>
                </a:cubicBezTo>
                <a:lnTo>
                  <a:pt x="132059" y="68159"/>
                </a:lnTo>
                <a:close/>
                <a:moveTo>
                  <a:pt x="70289" y="27690"/>
                </a:moveTo>
                <a:lnTo>
                  <a:pt x="70289" y="36210"/>
                </a:lnTo>
                <a:lnTo>
                  <a:pt x="61769" y="36210"/>
                </a:lnTo>
                <a:cubicBezTo>
                  <a:pt x="59426" y="36210"/>
                  <a:pt x="57509" y="38127"/>
                  <a:pt x="57509" y="40470"/>
                </a:cubicBezTo>
                <a:lnTo>
                  <a:pt x="57509" y="44730"/>
                </a:lnTo>
                <a:cubicBezTo>
                  <a:pt x="57509" y="47073"/>
                  <a:pt x="59426" y="48990"/>
                  <a:pt x="61769" y="48990"/>
                </a:cubicBezTo>
                <a:lnTo>
                  <a:pt x="70289" y="48990"/>
                </a:lnTo>
                <a:lnTo>
                  <a:pt x="70289" y="57509"/>
                </a:lnTo>
                <a:cubicBezTo>
                  <a:pt x="70289" y="59852"/>
                  <a:pt x="72206" y="61769"/>
                  <a:pt x="74549" y="61769"/>
                </a:cubicBezTo>
                <a:lnTo>
                  <a:pt x="78809" y="61769"/>
                </a:lnTo>
                <a:cubicBezTo>
                  <a:pt x="81152" y="61769"/>
                  <a:pt x="83069" y="59852"/>
                  <a:pt x="83069" y="57509"/>
                </a:cubicBezTo>
                <a:lnTo>
                  <a:pt x="83069" y="48990"/>
                </a:lnTo>
                <a:lnTo>
                  <a:pt x="91589" y="48990"/>
                </a:lnTo>
                <a:cubicBezTo>
                  <a:pt x="93932" y="48990"/>
                  <a:pt x="95849" y="47073"/>
                  <a:pt x="95849" y="44730"/>
                </a:cubicBezTo>
                <a:lnTo>
                  <a:pt x="95849" y="40470"/>
                </a:lnTo>
                <a:cubicBezTo>
                  <a:pt x="95849" y="38127"/>
                  <a:pt x="93932" y="36210"/>
                  <a:pt x="91589" y="36210"/>
                </a:cubicBezTo>
                <a:lnTo>
                  <a:pt x="83069" y="36210"/>
                </a:lnTo>
                <a:lnTo>
                  <a:pt x="83069" y="27690"/>
                </a:lnTo>
                <a:cubicBezTo>
                  <a:pt x="83069" y="25347"/>
                  <a:pt x="81152" y="23430"/>
                  <a:pt x="78809" y="23430"/>
                </a:cubicBezTo>
                <a:lnTo>
                  <a:pt x="74549" y="23430"/>
                </a:lnTo>
                <a:cubicBezTo>
                  <a:pt x="72206" y="23430"/>
                  <a:pt x="70289" y="25347"/>
                  <a:pt x="70289" y="2769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9" name="Text 57"/>
          <p:cNvSpPr/>
          <p:nvPr/>
        </p:nvSpPr>
        <p:spPr>
          <a:xfrm>
            <a:off x="6723492" y="5499714"/>
            <a:ext cx="1184268" cy="170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9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Healthcare Utilization</a:t>
            </a:r>
            <a:endParaRPr lang="en-US" sz="1600"/>
          </a:p>
        </p:txBody>
      </p:sp>
      <p:sp>
        <p:nvSpPr>
          <p:cNvPr id="60" name="Text 58"/>
          <p:cNvSpPr/>
          <p:nvPr/>
        </p:nvSpPr>
        <p:spPr>
          <a:xfrm>
            <a:off x="6484934" y="5738272"/>
            <a:ext cx="5128990" cy="136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5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OBTOTVY1, OPTOTVY1, ERTOTY1, IPDISY1, RXTOTY1</a:t>
            </a:r>
            <a:endParaRPr lang="en-US" sz="1600"/>
          </a:p>
        </p:txBody>
      </p:sp>
      <p:sp>
        <p:nvSpPr>
          <p:cNvPr id="61" name="Shape 59"/>
          <p:cNvSpPr/>
          <p:nvPr/>
        </p:nvSpPr>
        <p:spPr>
          <a:xfrm>
            <a:off x="6379288" y="6089182"/>
            <a:ext cx="5289164" cy="586170"/>
          </a:xfrm>
          <a:custGeom>
            <a:avLst/>
            <a:gdLst/>
            <a:ahLst/>
            <a:cxnLst/>
            <a:rect l="l" t="t" r="r" b="b"/>
            <a:pathLst>
              <a:path w="5289164" h="586170">
                <a:moveTo>
                  <a:pt x="68160" y="0"/>
                </a:moveTo>
                <a:lnTo>
                  <a:pt x="5221004" y="0"/>
                </a:lnTo>
                <a:cubicBezTo>
                  <a:pt x="5258648" y="0"/>
                  <a:pt x="5289164" y="30516"/>
                  <a:pt x="5289164" y="68160"/>
                </a:cubicBezTo>
                <a:lnTo>
                  <a:pt x="5289164" y="518010"/>
                </a:lnTo>
                <a:cubicBezTo>
                  <a:pt x="5289164" y="555654"/>
                  <a:pt x="5258648" y="586170"/>
                  <a:pt x="5221004" y="586170"/>
                </a:cubicBezTo>
                <a:lnTo>
                  <a:pt x="68160" y="586170"/>
                </a:lnTo>
                <a:cubicBezTo>
                  <a:pt x="30516" y="586170"/>
                  <a:pt x="0" y="555654"/>
                  <a:pt x="0" y="518010"/>
                </a:cubicBezTo>
                <a:lnTo>
                  <a:pt x="0" y="68160"/>
                </a:lnTo>
                <a:cubicBezTo>
                  <a:pt x="0" y="30516"/>
                  <a:pt x="30516" y="0"/>
                  <a:pt x="6816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 w="10160">
            <a:solidFill>
              <a:srgbClr val="0071E3">
                <a:alpha val="30196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501974" y="6211876"/>
            <a:ext cx="136319" cy="136319"/>
          </a:xfrm>
          <a:custGeom>
            <a:avLst/>
            <a:gdLst/>
            <a:ahLst/>
            <a:cxnLst/>
            <a:rect l="l" t="t" r="r" b="b"/>
            <a:pathLst>
              <a:path w="136319" h="136319">
                <a:moveTo>
                  <a:pt x="17040" y="17040"/>
                </a:moveTo>
                <a:cubicBezTo>
                  <a:pt x="17040" y="12327"/>
                  <a:pt x="13232" y="8520"/>
                  <a:pt x="8520" y="8520"/>
                </a:cubicBezTo>
                <a:cubicBezTo>
                  <a:pt x="3807" y="8520"/>
                  <a:pt x="0" y="12327"/>
                  <a:pt x="0" y="17040"/>
                </a:cubicBezTo>
                <a:lnTo>
                  <a:pt x="0" y="106499"/>
                </a:lnTo>
                <a:cubicBezTo>
                  <a:pt x="0" y="118267"/>
                  <a:pt x="9532" y="127799"/>
                  <a:pt x="21300" y="127799"/>
                </a:cubicBezTo>
                <a:lnTo>
                  <a:pt x="127799" y="127799"/>
                </a:lnTo>
                <a:cubicBezTo>
                  <a:pt x="132511" y="127799"/>
                  <a:pt x="136319" y="123991"/>
                  <a:pt x="136319" y="119279"/>
                </a:cubicBezTo>
                <a:cubicBezTo>
                  <a:pt x="136319" y="114566"/>
                  <a:pt x="132511" y="110759"/>
                  <a:pt x="127799" y="110759"/>
                </a:cubicBezTo>
                <a:lnTo>
                  <a:pt x="21300" y="110759"/>
                </a:lnTo>
                <a:cubicBezTo>
                  <a:pt x="18957" y="110759"/>
                  <a:pt x="17040" y="108842"/>
                  <a:pt x="17040" y="106499"/>
                </a:cubicBezTo>
                <a:lnTo>
                  <a:pt x="17040" y="17040"/>
                </a:lnTo>
                <a:close/>
                <a:moveTo>
                  <a:pt x="125296" y="40097"/>
                </a:moveTo>
                <a:cubicBezTo>
                  <a:pt x="128624" y="36769"/>
                  <a:pt x="128624" y="31364"/>
                  <a:pt x="125296" y="28036"/>
                </a:cubicBezTo>
                <a:cubicBezTo>
                  <a:pt x="121968" y="24708"/>
                  <a:pt x="116563" y="24708"/>
                  <a:pt x="113235" y="28036"/>
                </a:cubicBezTo>
                <a:lnTo>
                  <a:pt x="85199" y="56098"/>
                </a:lnTo>
                <a:lnTo>
                  <a:pt x="69917" y="40842"/>
                </a:lnTo>
                <a:cubicBezTo>
                  <a:pt x="66588" y="37514"/>
                  <a:pt x="61184" y="37514"/>
                  <a:pt x="57856" y="40842"/>
                </a:cubicBezTo>
                <a:lnTo>
                  <a:pt x="32296" y="66402"/>
                </a:lnTo>
                <a:cubicBezTo>
                  <a:pt x="28968" y="69730"/>
                  <a:pt x="28968" y="75135"/>
                  <a:pt x="32296" y="78463"/>
                </a:cubicBezTo>
                <a:cubicBezTo>
                  <a:pt x="35624" y="81791"/>
                  <a:pt x="41029" y="81791"/>
                  <a:pt x="44357" y="78463"/>
                </a:cubicBezTo>
                <a:lnTo>
                  <a:pt x="63899" y="58921"/>
                </a:lnTo>
                <a:lnTo>
                  <a:pt x="79182" y="74203"/>
                </a:lnTo>
                <a:cubicBezTo>
                  <a:pt x="82510" y="77531"/>
                  <a:pt x="87915" y="77531"/>
                  <a:pt x="91243" y="74203"/>
                </a:cubicBezTo>
                <a:lnTo>
                  <a:pt x="125323" y="40123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3" name="Text 61"/>
          <p:cNvSpPr/>
          <p:nvPr/>
        </p:nvSpPr>
        <p:spPr>
          <a:xfrm>
            <a:off x="6723492" y="6194836"/>
            <a:ext cx="1414306" cy="170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9" b="1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Expenditure (Year 1)</a:t>
            </a:r>
            <a:endParaRPr lang="en-US" sz="1600"/>
          </a:p>
        </p:txBody>
      </p:sp>
      <p:sp>
        <p:nvSpPr>
          <p:cNvPr id="64" name="Text 62"/>
          <p:cNvSpPr/>
          <p:nvPr/>
        </p:nvSpPr>
        <p:spPr>
          <a:xfrm>
            <a:off x="6484934" y="6433394"/>
            <a:ext cx="5128990" cy="136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5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TOTEXPY1_adj</a:t>
            </a:r>
            <a:endParaRPr lang="en-US" sz="160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Predictive Modeling</a:t>
            </a:r>
            <a:endParaRPr lang="en-US" sz="160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Performance Comparison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384810" y="1223010"/>
            <a:ext cx="11418570" cy="3989070"/>
          </a:xfrm>
          <a:custGeom>
            <a:avLst/>
            <a:gdLst/>
            <a:ahLst/>
            <a:cxnLst/>
            <a:rect l="l" t="t" r="r" b="b"/>
            <a:pathLst>
              <a:path w="11418570" h="3989070">
                <a:moveTo>
                  <a:pt x="114287" y="0"/>
                </a:moveTo>
                <a:lnTo>
                  <a:pt x="11304283" y="0"/>
                </a:lnTo>
                <a:cubicBezTo>
                  <a:pt x="11367402" y="0"/>
                  <a:pt x="11418570" y="51168"/>
                  <a:pt x="11418570" y="114287"/>
                </a:cubicBezTo>
                <a:lnTo>
                  <a:pt x="11418570" y="3874783"/>
                </a:lnTo>
                <a:cubicBezTo>
                  <a:pt x="11418570" y="3937902"/>
                  <a:pt x="11367402" y="3989070"/>
                  <a:pt x="11304283" y="3989070"/>
                </a:cubicBezTo>
                <a:lnTo>
                  <a:pt x="114287" y="3989070"/>
                </a:lnTo>
                <a:cubicBezTo>
                  <a:pt x="51168" y="3989070"/>
                  <a:pt x="0" y="3937902"/>
                  <a:pt x="0" y="3874783"/>
                </a:cubicBezTo>
                <a:lnTo>
                  <a:pt x="0" y="114287"/>
                </a:lnTo>
                <a:cubicBezTo>
                  <a:pt x="0" y="51168"/>
                  <a:pt x="51168" y="0"/>
                  <a:pt x="11428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9120" y="1417318"/>
            <a:ext cx="1111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Comprehensive Model Performance Metrics</a:t>
            </a:r>
            <a:endParaRPr lang="en-US" sz="160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7795713"/>
              </p:ext>
            </p:extLst>
          </p:nvPr>
        </p:nvGraphicFramePr>
        <p:xfrm>
          <a:off x="579120" y="1836418"/>
          <a:ext cx="11029948" cy="3181353"/>
        </p:xfrm>
        <a:graphic>
          <a:graphicData uri="http://schemas.openxmlformats.org/drawingml/2006/table">
            <a:tbl>
              <a:tblPr/>
              <a:tblGrid>
                <a:gridCol w="3366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08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79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79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79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92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4479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>
                          <a:solidFill>
                            <a:srgbClr val="8686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Model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>
                          <a:solidFill>
                            <a:srgbClr val="8686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Accuracy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 err="1">
                          <a:solidFill>
                            <a:srgbClr val="86868B"/>
                          </a:solidFill>
                          <a:latin typeface="微软雅黑"/>
                          <a:ea typeface="微软雅黑"/>
                          <a:cs typeface="微软雅黑" pitchFamily="34" charset="-120"/>
                        </a:rPr>
                        <a:t>WeightedPrecision</a:t>
                      </a:r>
                      <a:endParaRPr lang="en-US" sz="1000" dirty="0" err="1">
                        <a:latin typeface="微软雅黑"/>
                        <a:ea typeface="微软雅黑"/>
                        <a:cs typeface="微软雅黑" charset="0"/>
                      </a:endParaRPr>
                    </a:p>
                  </a:txBody>
                  <a:tcPr marL="0" marR="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 err="1">
                          <a:solidFill>
                            <a:srgbClr val="86868B"/>
                          </a:solidFill>
                          <a:latin typeface="微软雅黑"/>
                          <a:ea typeface="微软雅黑"/>
                          <a:cs typeface="微软雅黑" pitchFamily="34" charset="-120"/>
                        </a:rPr>
                        <a:t>WeightedRecall</a:t>
                      </a:r>
                      <a:endParaRPr lang="en-US" sz="1000" dirty="0" err="1">
                        <a:latin typeface="微软雅黑"/>
                        <a:ea typeface="微软雅黑"/>
                        <a:cs typeface="微软雅黑" charset="0"/>
                      </a:endParaRPr>
                    </a:p>
                  </a:txBody>
                  <a:tcPr marL="0" marR="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>
                          <a:solidFill>
                            <a:srgbClr val="8686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WeightedF1 Score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>
                          <a:solidFill>
                            <a:srgbClr val="8686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MacroF1 Score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479">
                <a:tc>
                  <a:txBody>
                    <a:bodyPr/>
                    <a:lstStyle/>
                    <a:p>
                      <a:r>
                        <a:rPr lang="en-US" sz="1000" b="1" u="none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Logistic Regression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0.71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0.71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0.71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0.69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0.59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479">
                <a:tc>
                  <a:txBody>
                    <a:bodyPr/>
                    <a:lstStyle/>
                    <a:p>
                      <a:r>
                        <a:rPr lang="en-US" sz="1000" b="1" u="none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Random Forest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u="none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 pitchFamily="34" charset="-120"/>
                        </a:rPr>
                        <a:t>0.72</a:t>
                      </a:r>
                      <a:endParaRPr lang="en-US" sz="1000" b="0">
                        <a:solidFill>
                          <a:schemeClr val="tx1"/>
                        </a:solidFill>
                        <a:latin typeface="微软雅黑"/>
                        <a:ea typeface="微软雅黑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u="none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 pitchFamily="34" charset="-120"/>
                        </a:rPr>
                        <a:t>0.72</a:t>
                      </a:r>
                      <a:endParaRPr lang="en-US" sz="1000" b="0">
                        <a:solidFill>
                          <a:schemeClr val="tx1"/>
                        </a:solidFill>
                        <a:latin typeface="微软雅黑"/>
                        <a:ea typeface="微软雅黑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u="none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 pitchFamily="34" charset="-120"/>
                        </a:rPr>
                        <a:t>0.72</a:t>
                      </a:r>
                      <a:endParaRPr lang="en-US" sz="1000" b="0">
                        <a:solidFill>
                          <a:schemeClr val="tx1"/>
                        </a:solidFill>
                        <a:latin typeface="微软雅黑"/>
                        <a:ea typeface="微软雅黑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u="none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 pitchFamily="34" charset="-120"/>
                        </a:rPr>
                        <a:t>0.71</a:t>
                      </a:r>
                      <a:endParaRPr lang="en-US" sz="1000" b="0">
                        <a:solidFill>
                          <a:schemeClr val="tx1"/>
                        </a:solidFill>
                        <a:latin typeface="微软雅黑"/>
                        <a:ea typeface="微软雅黑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0.62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479">
                <a:tc>
                  <a:txBody>
                    <a:bodyPr/>
                    <a:lstStyle/>
                    <a:p>
                      <a:r>
                        <a:rPr lang="en-US" sz="1000" b="1" u="none" dirty="0" err="1">
                          <a:solidFill>
                            <a:srgbClr val="0071E3"/>
                          </a:solidFill>
                          <a:latin typeface="微软雅黑"/>
                          <a:ea typeface="微软雅黑"/>
                          <a:cs typeface="微软雅黑" pitchFamily="34" charset="-120"/>
                        </a:rPr>
                        <a:t>XGBoost</a:t>
                      </a:r>
                      <a:endParaRPr lang="en-US" sz="1000">
                        <a:solidFill>
                          <a:srgbClr val="0071E3"/>
                        </a:solidFill>
                        <a:latin typeface="微软雅黑"/>
                        <a:ea typeface="微软雅黑"/>
                        <a:cs typeface="微软雅黑" charset="0"/>
                      </a:endParaRPr>
                    </a:p>
                  </a:txBody>
                  <a:tcPr marL="0" marR="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>
                          <a:solidFill>
                            <a:srgbClr val="0071E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0.72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>
                          <a:solidFill>
                            <a:srgbClr val="0071E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0.72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>
                          <a:solidFill>
                            <a:srgbClr val="0071E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0.72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>
                          <a:solidFill>
                            <a:srgbClr val="0071E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0.71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>
                          <a:solidFill>
                            <a:srgbClr val="0071E3"/>
                          </a:solidFill>
                          <a:latin typeface="微软雅黑"/>
                          <a:ea typeface="微软雅黑"/>
                          <a:cs typeface="微软雅黑" pitchFamily="34" charset="-120"/>
                        </a:rPr>
                        <a:t>0.62</a:t>
                      </a:r>
                      <a:endParaRPr lang="en-US" sz="1000" b="1">
                        <a:solidFill>
                          <a:srgbClr val="0071E3"/>
                        </a:solidFill>
                        <a:latin typeface="微软雅黑"/>
                        <a:ea typeface="微软雅黑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479">
                <a:tc>
                  <a:txBody>
                    <a:bodyPr/>
                    <a:lstStyle/>
                    <a:p>
                      <a:r>
                        <a:rPr lang="en-US" sz="1000" b="1" u="none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Ordinal Model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0.71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0.71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0.71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0.70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0.61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4479">
                <a:tc>
                  <a:txBody>
                    <a:bodyPr/>
                    <a:lstStyle/>
                    <a:p>
                      <a:r>
                        <a:rPr lang="en-US" sz="1000" b="1" u="none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Interaction Model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0.71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0.71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0.71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0.70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0.62</a:t>
                      </a:r>
                      <a:endParaRPr lang="en-US" sz="1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4479">
                <a:tc>
                  <a:txBody>
                    <a:bodyPr/>
                    <a:lstStyle/>
                    <a:p>
                      <a:r>
                        <a:rPr lang="en-US" sz="1000" b="1" u="none" dirty="0" err="1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 pitchFamily="34" charset="-120"/>
                        </a:rPr>
                        <a:t>XGBoost</a:t>
                      </a:r>
                      <a:r>
                        <a:rPr lang="en-US" sz="1000" b="1" u="none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 pitchFamily="34" charset="-120"/>
                        </a:rPr>
                        <a:t> (Weighted)</a:t>
                      </a:r>
                      <a:endParaRPr lang="en-US" sz="1000" dirty="0">
                        <a:solidFill>
                          <a:schemeClr val="tx1"/>
                        </a:solidFill>
                        <a:latin typeface="微软雅黑"/>
                        <a:ea typeface="微软雅黑"/>
                        <a:cs typeface="微软雅黑" charset="0"/>
                      </a:endParaRPr>
                    </a:p>
                  </a:txBody>
                  <a:tcPr marL="0" marR="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71E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u="none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 pitchFamily="34" charset="-120"/>
                        </a:rPr>
                        <a:t>0.68</a:t>
                      </a:r>
                      <a:endParaRPr lang="en-US" sz="1000" b="0">
                        <a:solidFill>
                          <a:schemeClr val="tx1"/>
                        </a:solidFill>
                        <a:latin typeface="微软雅黑"/>
                        <a:ea typeface="微软雅黑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71E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u="none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 pitchFamily="34" charset="-120"/>
                        </a:rPr>
                        <a:t>0.69</a:t>
                      </a:r>
                      <a:endParaRPr lang="en-US" sz="1000" b="0">
                        <a:solidFill>
                          <a:schemeClr val="tx1"/>
                        </a:solidFill>
                        <a:latin typeface="微软雅黑"/>
                        <a:ea typeface="微软雅黑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71E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u="none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 pitchFamily="34" charset="-120"/>
                        </a:rPr>
                        <a:t>0.68</a:t>
                      </a:r>
                      <a:endParaRPr lang="en-US" sz="1000" b="0">
                        <a:solidFill>
                          <a:schemeClr val="tx1"/>
                        </a:solidFill>
                        <a:latin typeface="微软雅黑"/>
                        <a:ea typeface="微软雅黑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71E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u="none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 pitchFamily="34" charset="-120"/>
                        </a:rPr>
                        <a:t>0.68</a:t>
                      </a:r>
                      <a:endParaRPr lang="en-US" sz="1000" b="0">
                        <a:solidFill>
                          <a:schemeClr val="tx1"/>
                        </a:solidFill>
                        <a:latin typeface="微软雅黑"/>
                        <a:ea typeface="微软雅黑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71E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u="none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 pitchFamily="34" charset="-120"/>
                        </a:rPr>
                        <a:t>0.62</a:t>
                      </a:r>
                      <a:endParaRPr lang="en-US" sz="1000" b="0">
                        <a:solidFill>
                          <a:schemeClr val="tx1"/>
                        </a:solidFill>
                        <a:latin typeface="微软雅黑"/>
                        <a:ea typeface="微软雅黑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71E3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84810" y="5368292"/>
            <a:ext cx="3703320" cy="1303020"/>
          </a:xfrm>
          <a:custGeom>
            <a:avLst/>
            <a:gdLst/>
            <a:ahLst/>
            <a:cxnLst/>
            <a:rect l="l" t="t" r="r" b="b"/>
            <a:pathLst>
              <a:path w="3703320" h="1303020">
                <a:moveTo>
                  <a:pt x="114301" y="0"/>
                </a:moveTo>
                <a:lnTo>
                  <a:pt x="3589019" y="0"/>
                </a:lnTo>
                <a:cubicBezTo>
                  <a:pt x="3652146" y="0"/>
                  <a:pt x="3703320" y="51174"/>
                  <a:pt x="3703320" y="114301"/>
                </a:cubicBezTo>
                <a:lnTo>
                  <a:pt x="3703320" y="1188719"/>
                </a:lnTo>
                <a:cubicBezTo>
                  <a:pt x="3703320" y="1251846"/>
                  <a:pt x="3652146" y="1303020"/>
                  <a:pt x="3589019" y="1303020"/>
                </a:cubicBezTo>
                <a:lnTo>
                  <a:pt x="114301" y="1303020"/>
                </a:lnTo>
                <a:cubicBezTo>
                  <a:pt x="51174" y="1303020"/>
                  <a:pt x="0" y="1251846"/>
                  <a:pt x="0" y="118871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 w="10160">
            <a:solidFill>
              <a:srgbClr val="0071E3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1020" y="5524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9" name="Shape 6"/>
          <p:cNvSpPr/>
          <p:nvPr/>
        </p:nvSpPr>
        <p:spPr>
          <a:xfrm>
            <a:off x="655320" y="5638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42952" y="0"/>
                </a:moveTo>
                <a:lnTo>
                  <a:pt x="109627" y="0"/>
                </a:lnTo>
                <a:cubicBezTo>
                  <a:pt x="117515" y="0"/>
                  <a:pt x="123944" y="6489"/>
                  <a:pt x="123646" y="14347"/>
                </a:cubicBezTo>
                <a:cubicBezTo>
                  <a:pt x="123587" y="15925"/>
                  <a:pt x="123527" y="17502"/>
                  <a:pt x="123438" y="19050"/>
                </a:cubicBezTo>
                <a:lnTo>
                  <a:pt x="138202" y="19050"/>
                </a:lnTo>
                <a:cubicBezTo>
                  <a:pt x="145971" y="19050"/>
                  <a:pt x="152817" y="25479"/>
                  <a:pt x="152221" y="33873"/>
                </a:cubicBezTo>
                <a:cubicBezTo>
                  <a:pt x="149989" y="64740"/>
                  <a:pt x="134213" y="81707"/>
                  <a:pt x="117098" y="90577"/>
                </a:cubicBezTo>
                <a:cubicBezTo>
                  <a:pt x="112395" y="93018"/>
                  <a:pt x="107603" y="94833"/>
                  <a:pt x="103049" y="96173"/>
                </a:cubicBezTo>
                <a:cubicBezTo>
                  <a:pt x="97036" y="104686"/>
                  <a:pt x="90785" y="109180"/>
                  <a:pt x="85814" y="111591"/>
                </a:cubicBezTo>
                <a:lnTo>
                  <a:pt x="85814" y="133350"/>
                </a:lnTo>
                <a:lnTo>
                  <a:pt x="104864" y="133350"/>
                </a:lnTo>
                <a:cubicBezTo>
                  <a:pt x="110133" y="133350"/>
                  <a:pt x="114389" y="137606"/>
                  <a:pt x="114389" y="142875"/>
                </a:cubicBezTo>
                <a:cubicBezTo>
                  <a:pt x="114389" y="148144"/>
                  <a:pt x="110133" y="152400"/>
                  <a:pt x="104864" y="152400"/>
                </a:cubicBezTo>
                <a:lnTo>
                  <a:pt x="47714" y="152400"/>
                </a:lnTo>
                <a:cubicBezTo>
                  <a:pt x="42446" y="152400"/>
                  <a:pt x="38189" y="148144"/>
                  <a:pt x="38189" y="142875"/>
                </a:cubicBezTo>
                <a:cubicBezTo>
                  <a:pt x="38189" y="137606"/>
                  <a:pt x="42446" y="133350"/>
                  <a:pt x="47714" y="133350"/>
                </a:cubicBezTo>
                <a:lnTo>
                  <a:pt x="66764" y="133350"/>
                </a:lnTo>
                <a:lnTo>
                  <a:pt x="66764" y="111591"/>
                </a:lnTo>
                <a:cubicBezTo>
                  <a:pt x="62002" y="109299"/>
                  <a:pt x="56078" y="105043"/>
                  <a:pt x="50304" y="97215"/>
                </a:cubicBezTo>
                <a:cubicBezTo>
                  <a:pt x="44827" y="95786"/>
                  <a:pt x="38874" y="93613"/>
                  <a:pt x="33070" y="90339"/>
                </a:cubicBezTo>
                <a:cubicBezTo>
                  <a:pt x="16966" y="81320"/>
                  <a:pt x="2441" y="64324"/>
                  <a:pt x="357" y="33814"/>
                </a:cubicBezTo>
                <a:cubicBezTo>
                  <a:pt x="-208" y="25450"/>
                  <a:pt x="6608" y="19020"/>
                  <a:pt x="14377" y="19020"/>
                </a:cubicBezTo>
                <a:lnTo>
                  <a:pt x="29141" y="19020"/>
                </a:lnTo>
                <a:cubicBezTo>
                  <a:pt x="29051" y="17472"/>
                  <a:pt x="28992" y="15925"/>
                  <a:pt x="28932" y="14317"/>
                </a:cubicBezTo>
                <a:cubicBezTo>
                  <a:pt x="28635" y="6429"/>
                  <a:pt x="35064" y="-30"/>
                  <a:pt x="42952" y="-30"/>
                </a:cubicBezTo>
                <a:close/>
                <a:moveTo>
                  <a:pt x="30212" y="33338"/>
                </a:moveTo>
                <a:lnTo>
                  <a:pt x="14615" y="33338"/>
                </a:lnTo>
                <a:cubicBezTo>
                  <a:pt x="16460" y="58549"/>
                  <a:pt x="28039" y="71170"/>
                  <a:pt x="39975" y="77867"/>
                </a:cubicBezTo>
                <a:cubicBezTo>
                  <a:pt x="35689" y="66764"/>
                  <a:pt x="32147" y="52268"/>
                  <a:pt x="30212" y="33338"/>
                </a:cubicBezTo>
                <a:close/>
                <a:moveTo>
                  <a:pt x="113109" y="76438"/>
                </a:moveTo>
                <a:cubicBezTo>
                  <a:pt x="125164" y="69354"/>
                  <a:pt x="136059" y="56763"/>
                  <a:pt x="137904" y="33338"/>
                </a:cubicBezTo>
                <a:lnTo>
                  <a:pt x="122337" y="33338"/>
                </a:lnTo>
                <a:cubicBezTo>
                  <a:pt x="120491" y="51465"/>
                  <a:pt x="117157" y="65544"/>
                  <a:pt x="113109" y="764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036320" y="5600700"/>
            <a:ext cx="1552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Overall Accuracy</a:t>
            </a:r>
            <a:endParaRPr lang="en-US" sz="1600"/>
          </a:p>
        </p:txBody>
      </p:sp>
      <p:sp>
        <p:nvSpPr>
          <p:cNvPr id="11" name="Text 8"/>
          <p:cNvSpPr/>
          <p:nvPr/>
        </p:nvSpPr>
        <p:spPr>
          <a:xfrm>
            <a:off x="541020" y="5981700"/>
            <a:ext cx="350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72%</a:t>
            </a:r>
            <a:endParaRPr lang="en-US" sz="1600"/>
          </a:p>
        </p:txBody>
      </p:sp>
      <p:sp>
        <p:nvSpPr>
          <p:cNvPr id="12" name="Text 9"/>
          <p:cNvSpPr/>
          <p:nvPr/>
        </p:nvSpPr>
        <p:spPr>
          <a:xfrm>
            <a:off x="541020" y="6324479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 Forest &amp; XGBoost</a:t>
            </a:r>
            <a:endParaRPr lang="en-US" sz="1600"/>
          </a:p>
        </p:txBody>
      </p:sp>
      <p:sp>
        <p:nvSpPr>
          <p:cNvPr id="13" name="Shape 10"/>
          <p:cNvSpPr/>
          <p:nvPr/>
        </p:nvSpPr>
        <p:spPr>
          <a:xfrm>
            <a:off x="4245531" y="5368292"/>
            <a:ext cx="3703320" cy="1303020"/>
          </a:xfrm>
          <a:custGeom>
            <a:avLst/>
            <a:gdLst/>
            <a:ahLst/>
            <a:cxnLst/>
            <a:rect l="l" t="t" r="r" b="b"/>
            <a:pathLst>
              <a:path w="3703320" h="1303020">
                <a:moveTo>
                  <a:pt x="114301" y="0"/>
                </a:moveTo>
                <a:lnTo>
                  <a:pt x="3589019" y="0"/>
                </a:lnTo>
                <a:cubicBezTo>
                  <a:pt x="3652146" y="0"/>
                  <a:pt x="3703320" y="51174"/>
                  <a:pt x="3703320" y="114301"/>
                </a:cubicBezTo>
                <a:lnTo>
                  <a:pt x="3703320" y="1188719"/>
                </a:lnTo>
                <a:cubicBezTo>
                  <a:pt x="3703320" y="1251846"/>
                  <a:pt x="3652146" y="1303020"/>
                  <a:pt x="3589019" y="1303020"/>
                </a:cubicBezTo>
                <a:lnTo>
                  <a:pt x="114301" y="1303020"/>
                </a:lnTo>
                <a:cubicBezTo>
                  <a:pt x="51174" y="1303020"/>
                  <a:pt x="0" y="1251846"/>
                  <a:pt x="0" y="118871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 w="10160">
            <a:solidFill>
              <a:srgbClr val="0071E3">
                <a:alpha val="2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01741" y="5524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5" name="Shape 12"/>
          <p:cNvSpPr/>
          <p:nvPr/>
        </p:nvSpPr>
        <p:spPr>
          <a:xfrm>
            <a:off x="4496991" y="56388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14300" y="9525"/>
                </a:moveTo>
                <a:lnTo>
                  <a:pt x="152400" y="9525"/>
                </a:lnTo>
                <a:cubicBezTo>
                  <a:pt x="157669" y="9525"/>
                  <a:pt x="161925" y="13781"/>
                  <a:pt x="161925" y="19050"/>
                </a:cubicBezTo>
                <a:cubicBezTo>
                  <a:pt x="161925" y="24319"/>
                  <a:pt x="157669" y="28575"/>
                  <a:pt x="152400" y="28575"/>
                </a:cubicBezTo>
                <a:lnTo>
                  <a:pt x="118586" y="28575"/>
                </a:lnTo>
                <a:cubicBezTo>
                  <a:pt x="117038" y="36255"/>
                  <a:pt x="111770" y="42595"/>
                  <a:pt x="104775" y="45631"/>
                </a:cubicBezTo>
                <a:lnTo>
                  <a:pt x="104775" y="133350"/>
                </a:lnTo>
                <a:lnTo>
                  <a:pt x="152400" y="133350"/>
                </a:lnTo>
                <a:cubicBezTo>
                  <a:pt x="157669" y="133350"/>
                  <a:pt x="161925" y="137606"/>
                  <a:pt x="161925" y="142875"/>
                </a:cubicBezTo>
                <a:cubicBezTo>
                  <a:pt x="161925" y="148144"/>
                  <a:pt x="157669" y="152400"/>
                  <a:pt x="152400" y="152400"/>
                </a:cubicBezTo>
                <a:lnTo>
                  <a:pt x="38100" y="152400"/>
                </a:lnTo>
                <a:cubicBezTo>
                  <a:pt x="32831" y="152400"/>
                  <a:pt x="28575" y="148144"/>
                  <a:pt x="28575" y="142875"/>
                </a:cubicBezTo>
                <a:cubicBezTo>
                  <a:pt x="28575" y="137606"/>
                  <a:pt x="32831" y="133350"/>
                  <a:pt x="38100" y="133350"/>
                </a:cubicBezTo>
                <a:lnTo>
                  <a:pt x="85725" y="133350"/>
                </a:lnTo>
                <a:lnTo>
                  <a:pt x="85725" y="45631"/>
                </a:lnTo>
                <a:cubicBezTo>
                  <a:pt x="78730" y="42565"/>
                  <a:pt x="73462" y="36225"/>
                  <a:pt x="71914" y="28575"/>
                </a:cubicBezTo>
                <a:lnTo>
                  <a:pt x="38100" y="28575"/>
                </a:lnTo>
                <a:cubicBezTo>
                  <a:pt x="32831" y="28575"/>
                  <a:pt x="28575" y="24319"/>
                  <a:pt x="28575" y="19050"/>
                </a:cubicBezTo>
                <a:cubicBezTo>
                  <a:pt x="28575" y="13781"/>
                  <a:pt x="32831" y="9525"/>
                  <a:pt x="38100" y="9525"/>
                </a:cubicBezTo>
                <a:lnTo>
                  <a:pt x="76200" y="9525"/>
                </a:lnTo>
                <a:cubicBezTo>
                  <a:pt x="80546" y="3750"/>
                  <a:pt x="87451" y="0"/>
                  <a:pt x="95250" y="0"/>
                </a:cubicBezTo>
                <a:cubicBezTo>
                  <a:pt x="103049" y="0"/>
                  <a:pt x="109954" y="3750"/>
                  <a:pt x="114300" y="9525"/>
                </a:cubicBezTo>
                <a:close/>
                <a:moveTo>
                  <a:pt x="130850" y="95250"/>
                </a:moveTo>
                <a:lnTo>
                  <a:pt x="173950" y="95250"/>
                </a:lnTo>
                <a:lnTo>
                  <a:pt x="152400" y="58281"/>
                </a:lnTo>
                <a:lnTo>
                  <a:pt x="130850" y="95250"/>
                </a:lnTo>
                <a:close/>
                <a:moveTo>
                  <a:pt x="152400" y="123825"/>
                </a:moveTo>
                <a:cubicBezTo>
                  <a:pt x="133677" y="123825"/>
                  <a:pt x="118110" y="113705"/>
                  <a:pt x="114895" y="100340"/>
                </a:cubicBezTo>
                <a:cubicBezTo>
                  <a:pt x="114121" y="97066"/>
                  <a:pt x="115193" y="93702"/>
                  <a:pt x="116890" y="90785"/>
                </a:cubicBezTo>
                <a:lnTo>
                  <a:pt x="145226" y="42208"/>
                </a:lnTo>
                <a:cubicBezTo>
                  <a:pt x="146715" y="39648"/>
                  <a:pt x="149453" y="38100"/>
                  <a:pt x="152400" y="38100"/>
                </a:cubicBezTo>
                <a:cubicBezTo>
                  <a:pt x="155347" y="38100"/>
                  <a:pt x="158085" y="39678"/>
                  <a:pt x="159574" y="42208"/>
                </a:cubicBezTo>
                <a:lnTo>
                  <a:pt x="187910" y="90785"/>
                </a:lnTo>
                <a:cubicBezTo>
                  <a:pt x="189607" y="93702"/>
                  <a:pt x="190679" y="97066"/>
                  <a:pt x="189905" y="100340"/>
                </a:cubicBezTo>
                <a:cubicBezTo>
                  <a:pt x="186690" y="113675"/>
                  <a:pt x="171123" y="123825"/>
                  <a:pt x="152400" y="123825"/>
                </a:cubicBezTo>
                <a:close/>
                <a:moveTo>
                  <a:pt x="37743" y="58281"/>
                </a:moveTo>
                <a:lnTo>
                  <a:pt x="16193" y="95250"/>
                </a:lnTo>
                <a:lnTo>
                  <a:pt x="59323" y="95250"/>
                </a:lnTo>
                <a:lnTo>
                  <a:pt x="37743" y="58281"/>
                </a:lnTo>
                <a:close/>
                <a:moveTo>
                  <a:pt x="268" y="100340"/>
                </a:moveTo>
                <a:cubicBezTo>
                  <a:pt x="-506" y="97066"/>
                  <a:pt x="566" y="93702"/>
                  <a:pt x="2262" y="90785"/>
                </a:cubicBezTo>
                <a:lnTo>
                  <a:pt x="30599" y="42208"/>
                </a:lnTo>
                <a:cubicBezTo>
                  <a:pt x="32087" y="39648"/>
                  <a:pt x="34826" y="38100"/>
                  <a:pt x="37773" y="38100"/>
                </a:cubicBezTo>
                <a:cubicBezTo>
                  <a:pt x="40719" y="38100"/>
                  <a:pt x="43458" y="39678"/>
                  <a:pt x="44946" y="42208"/>
                </a:cubicBezTo>
                <a:lnTo>
                  <a:pt x="73283" y="90785"/>
                </a:lnTo>
                <a:cubicBezTo>
                  <a:pt x="74980" y="93702"/>
                  <a:pt x="76051" y="97066"/>
                  <a:pt x="75277" y="100340"/>
                </a:cubicBezTo>
                <a:cubicBezTo>
                  <a:pt x="72063" y="113675"/>
                  <a:pt x="56495" y="123825"/>
                  <a:pt x="37773" y="123825"/>
                </a:cubicBezTo>
                <a:cubicBezTo>
                  <a:pt x="19050" y="123825"/>
                  <a:pt x="3483" y="113705"/>
                  <a:pt x="268" y="10034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4897041" y="5600700"/>
            <a:ext cx="1009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Balance</a:t>
            </a:r>
            <a:endParaRPr lang="en-US" sz="1600"/>
          </a:p>
        </p:txBody>
      </p:sp>
      <p:sp>
        <p:nvSpPr>
          <p:cNvPr id="6" name="Text 14"/>
          <p:cNvSpPr/>
          <p:nvPr/>
        </p:nvSpPr>
        <p:spPr>
          <a:xfrm>
            <a:off x="4401741" y="5981700"/>
            <a:ext cx="350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</a:t>
            </a:r>
            <a:endParaRPr lang="en-US" sz="1600"/>
          </a:p>
        </p:txBody>
      </p:sp>
      <p:sp>
        <p:nvSpPr>
          <p:cNvPr id="18" name="Text 15"/>
          <p:cNvSpPr/>
          <p:nvPr/>
        </p:nvSpPr>
        <p:spPr>
          <a:xfrm>
            <a:off x="4401741" y="6324479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High-cost class = 10% of data</a:t>
            </a:r>
            <a:endParaRPr lang="en-US" sz="1600"/>
          </a:p>
        </p:txBody>
      </p:sp>
      <p:sp>
        <p:nvSpPr>
          <p:cNvPr id="19" name="Shape 16"/>
          <p:cNvSpPr/>
          <p:nvPr/>
        </p:nvSpPr>
        <p:spPr>
          <a:xfrm>
            <a:off x="8106371" y="5368292"/>
            <a:ext cx="3703320" cy="1303020"/>
          </a:xfrm>
          <a:custGeom>
            <a:avLst/>
            <a:gdLst/>
            <a:ahLst/>
            <a:cxnLst/>
            <a:rect l="l" t="t" r="r" b="b"/>
            <a:pathLst>
              <a:path w="3703320" h="1303020">
                <a:moveTo>
                  <a:pt x="114301" y="0"/>
                </a:moveTo>
                <a:lnTo>
                  <a:pt x="3589019" y="0"/>
                </a:lnTo>
                <a:cubicBezTo>
                  <a:pt x="3652146" y="0"/>
                  <a:pt x="3703320" y="51174"/>
                  <a:pt x="3703320" y="114301"/>
                </a:cubicBezTo>
                <a:lnTo>
                  <a:pt x="3703320" y="1188719"/>
                </a:lnTo>
                <a:cubicBezTo>
                  <a:pt x="3703320" y="1251846"/>
                  <a:pt x="3652146" y="1303020"/>
                  <a:pt x="3589019" y="1303020"/>
                </a:cubicBezTo>
                <a:lnTo>
                  <a:pt x="114301" y="1303020"/>
                </a:lnTo>
                <a:cubicBezTo>
                  <a:pt x="51174" y="1303020"/>
                  <a:pt x="0" y="1251846"/>
                  <a:pt x="0" y="118871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 w="10160">
            <a:solidFill>
              <a:srgbClr val="0071E3">
                <a:alpha val="20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262581" y="5524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1" name="Shape 18"/>
          <p:cNvSpPr/>
          <p:nvPr/>
        </p:nvSpPr>
        <p:spPr>
          <a:xfrm>
            <a:off x="8376881" y="5638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76200" y="40481"/>
                </a:moveTo>
                <a:cubicBezTo>
                  <a:pt x="80159" y="40481"/>
                  <a:pt x="83344" y="43666"/>
                  <a:pt x="83344" y="47625"/>
                </a:cubicBezTo>
                <a:lnTo>
                  <a:pt x="83344" y="80962"/>
                </a:lnTo>
                <a:cubicBezTo>
                  <a:pt x="83344" y="84921"/>
                  <a:pt x="80159" y="88106"/>
                  <a:pt x="76200" y="88106"/>
                </a:cubicBezTo>
                <a:cubicBezTo>
                  <a:pt x="72241" y="88106"/>
                  <a:pt x="69056" y="84921"/>
                  <a:pt x="69056" y="80962"/>
                </a:cubicBezTo>
                <a:lnTo>
                  <a:pt x="69056" y="47625"/>
                </a:lnTo>
                <a:cubicBezTo>
                  <a:pt x="69056" y="43666"/>
                  <a:pt x="72241" y="40481"/>
                  <a:pt x="76200" y="40481"/>
                </a:cubicBezTo>
                <a:close/>
                <a:moveTo>
                  <a:pt x="68253" y="104775"/>
                </a:moveTo>
                <a:cubicBezTo>
                  <a:pt x="68072" y="101825"/>
                  <a:pt x="69543" y="99018"/>
                  <a:pt x="72072" y="97489"/>
                </a:cubicBezTo>
                <a:cubicBezTo>
                  <a:pt x="74601" y="95959"/>
                  <a:pt x="77770" y="95959"/>
                  <a:pt x="80298" y="97489"/>
                </a:cubicBezTo>
                <a:cubicBezTo>
                  <a:pt x="82827" y="99018"/>
                  <a:pt x="84298" y="101825"/>
                  <a:pt x="84118" y="104775"/>
                </a:cubicBezTo>
                <a:cubicBezTo>
                  <a:pt x="84298" y="107725"/>
                  <a:pt x="82827" y="110532"/>
                  <a:pt x="80298" y="112061"/>
                </a:cubicBezTo>
                <a:cubicBezTo>
                  <a:pt x="77770" y="113591"/>
                  <a:pt x="74601" y="113591"/>
                  <a:pt x="72072" y="112061"/>
                </a:cubicBezTo>
                <a:cubicBezTo>
                  <a:pt x="69543" y="110532"/>
                  <a:pt x="68072" y="107725"/>
                  <a:pt x="68253" y="1047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8757881" y="5600700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Limitation</a:t>
            </a:r>
            <a:endParaRPr lang="en-US" sz="1600"/>
          </a:p>
        </p:txBody>
      </p:sp>
      <p:sp>
        <p:nvSpPr>
          <p:cNvPr id="23" name="Text 20"/>
          <p:cNvSpPr/>
          <p:nvPr/>
        </p:nvSpPr>
        <p:spPr>
          <a:xfrm>
            <a:off x="8262581" y="5981700"/>
            <a:ext cx="350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F1 = 0.38</a:t>
            </a:r>
            <a:endParaRPr lang="en-US" sz="1600"/>
          </a:p>
        </p:txBody>
      </p:sp>
      <p:sp>
        <p:nvSpPr>
          <p:cNvPr id="24" name="Text 21"/>
          <p:cNvSpPr/>
          <p:nvPr/>
        </p:nvSpPr>
        <p:spPr>
          <a:xfrm>
            <a:off x="8262581" y="6324479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High-cost class detection</a:t>
            </a:r>
            <a:endParaRPr lang="en-US" sz="160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5872" y="345872"/>
            <a:ext cx="11560783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b="1" kern="0" spc="48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Predictive Modeling</a:t>
            </a:r>
            <a:endParaRPr lang="en-US" sz="1600"/>
          </a:p>
        </p:txBody>
      </p:sp>
      <p:sp>
        <p:nvSpPr>
          <p:cNvPr id="3" name="Text 1"/>
          <p:cNvSpPr/>
          <p:nvPr/>
        </p:nvSpPr>
        <p:spPr>
          <a:xfrm>
            <a:off x="345872" y="587983"/>
            <a:ext cx="11655898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51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Class-wise Performance &amp; High-Cost Detection Improvement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349331" y="1110250"/>
            <a:ext cx="5635990" cy="5532228"/>
          </a:xfrm>
          <a:custGeom>
            <a:avLst/>
            <a:gdLst/>
            <a:ahLst/>
            <a:cxnLst/>
            <a:rect l="l" t="t" r="r" b="b"/>
            <a:pathLst>
              <a:path w="5635990" h="5532228">
                <a:moveTo>
                  <a:pt x="103785" y="0"/>
                </a:moveTo>
                <a:lnTo>
                  <a:pt x="5532205" y="0"/>
                </a:lnTo>
                <a:cubicBezTo>
                  <a:pt x="5589524" y="0"/>
                  <a:pt x="5635990" y="46466"/>
                  <a:pt x="5635990" y="103785"/>
                </a:cubicBezTo>
                <a:lnTo>
                  <a:pt x="5635990" y="5428443"/>
                </a:lnTo>
                <a:cubicBezTo>
                  <a:pt x="5635990" y="5485762"/>
                  <a:pt x="5589524" y="5532228"/>
                  <a:pt x="5532205" y="5532228"/>
                </a:cubicBezTo>
                <a:lnTo>
                  <a:pt x="103785" y="5532228"/>
                </a:lnTo>
                <a:cubicBezTo>
                  <a:pt x="46466" y="5532228"/>
                  <a:pt x="0" y="5485762"/>
                  <a:pt x="0" y="5428443"/>
                </a:cubicBezTo>
                <a:lnTo>
                  <a:pt x="0" y="103785"/>
                </a:lnTo>
                <a:cubicBezTo>
                  <a:pt x="0" y="46504"/>
                  <a:pt x="46504" y="0"/>
                  <a:pt x="103785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5726" y="1286643"/>
            <a:ext cx="5361021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6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F1 Scores by Expenditure Class</a:t>
            </a:r>
            <a:endParaRPr lang="en-US" sz="1600"/>
          </a:p>
        </p:txBody>
      </p:sp>
      <p:pic>
        <p:nvPicPr>
          <p:cNvPr id="6" name="Image 0" descr="https://kimi-img.moonshot.cn/pub/slides/26-03-26-18:32:16-d72gmc3kvk6nv6kc4ebg.png"/>
          <p:cNvPicPr>
            <a:picLocks noChangeAspect="1"/>
          </p:cNvPicPr>
          <p:nvPr/>
        </p:nvPicPr>
        <p:blipFill>
          <a:blip r:embed="rId3"/>
          <a:srcRect l="10311" t="180" r="195" b="9004"/>
          <a:stretch>
            <a:fillRect/>
          </a:stretch>
        </p:blipFill>
        <p:spPr>
          <a:xfrm>
            <a:off x="525726" y="1521231"/>
            <a:ext cx="5351425" cy="2610632"/>
          </a:xfrm>
          <a:prstGeom prst="roundRect">
            <a:avLst>
              <a:gd name="adj" fmla="val 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6202248" y="1110250"/>
            <a:ext cx="5635990" cy="3206237"/>
          </a:xfrm>
          <a:custGeom>
            <a:avLst/>
            <a:gdLst/>
            <a:ahLst/>
            <a:cxnLst/>
            <a:rect l="l" t="t" r="r" b="b"/>
            <a:pathLst>
              <a:path w="5635990" h="3206237">
                <a:moveTo>
                  <a:pt x="103754" y="0"/>
                </a:moveTo>
                <a:lnTo>
                  <a:pt x="5532236" y="0"/>
                </a:lnTo>
                <a:cubicBezTo>
                  <a:pt x="5589538" y="0"/>
                  <a:pt x="5635990" y="46452"/>
                  <a:pt x="5635990" y="103754"/>
                </a:cubicBezTo>
                <a:lnTo>
                  <a:pt x="5635990" y="3102483"/>
                </a:lnTo>
                <a:cubicBezTo>
                  <a:pt x="5635990" y="3159784"/>
                  <a:pt x="5589538" y="3206237"/>
                  <a:pt x="5532236" y="3206237"/>
                </a:cubicBezTo>
                <a:lnTo>
                  <a:pt x="103754" y="3206237"/>
                </a:lnTo>
                <a:cubicBezTo>
                  <a:pt x="46452" y="3206237"/>
                  <a:pt x="0" y="3159784"/>
                  <a:pt x="0" y="3102483"/>
                </a:cubicBezTo>
                <a:lnTo>
                  <a:pt x="0" y="103754"/>
                </a:lnTo>
                <a:cubicBezTo>
                  <a:pt x="0" y="46491"/>
                  <a:pt x="46491" y="0"/>
                  <a:pt x="103754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78643" y="1286643"/>
            <a:ext cx="5361021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6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Class-wise F1 Score Analysis</a:t>
            </a:r>
            <a:endParaRPr lang="en-US" sz="160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78643" y="1667103"/>
          <a:ext cx="5283200" cy="2472988"/>
        </p:xfrm>
        <a:graphic>
          <a:graphicData uri="http://schemas.openxmlformats.org/drawingml/2006/table">
            <a:tbl>
              <a:tblPr/>
              <a:tblGrid>
                <a:gridCol w="2498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9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33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3284">
                <a:tc>
                  <a:txBody>
                    <a:bodyPr/>
                    <a:lstStyle/>
                    <a:p>
                      <a:pPr algn="l"/>
                      <a:r>
                        <a:rPr lang="en-US" sz="900" b="1" u="none">
                          <a:solidFill>
                            <a:srgbClr val="8686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Model</a:t>
                      </a:r>
                      <a:endParaRPr lang="en-US" sz="9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103762" marB="10376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>
                          <a:solidFill>
                            <a:srgbClr val="8686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Class 0(Low)</a:t>
                      </a:r>
                      <a:endParaRPr lang="en-US" sz="9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103762" marB="10376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>
                          <a:solidFill>
                            <a:srgbClr val="8686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Class 1(Medium)</a:t>
                      </a:r>
                      <a:endParaRPr lang="en-US" sz="9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103762" marB="10376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>
                          <a:solidFill>
                            <a:srgbClr val="8686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Class 2(High)</a:t>
                      </a:r>
                      <a:endParaRPr lang="en-US" sz="9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103762" marB="10376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284">
                <a:tc>
                  <a:txBody>
                    <a:bodyPr/>
                    <a:lstStyle/>
                    <a:p>
                      <a:r>
                        <a:rPr lang="en-US" sz="900" u="none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Logistic Regression</a:t>
                      </a:r>
                      <a:endParaRPr lang="en-US" sz="9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9174" marB="6917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0.80</a:t>
                      </a:r>
                      <a:endParaRPr lang="en-US" sz="9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0.65</a:t>
                      </a:r>
                      <a:endParaRPr lang="en-US" sz="9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>
                          <a:solidFill>
                            <a:srgbClr val="8686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0.32</a:t>
                      </a:r>
                      <a:endParaRPr lang="en-US" sz="9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284">
                <a:tc>
                  <a:txBody>
                    <a:bodyPr/>
                    <a:lstStyle/>
                    <a:p>
                      <a:r>
                        <a:rPr lang="en-US" sz="900" u="none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Random Forest</a:t>
                      </a:r>
                      <a:endParaRPr lang="en-US" sz="9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9174" marB="6917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0.80</a:t>
                      </a:r>
                      <a:endParaRPr lang="en-US" sz="9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0.67</a:t>
                      </a:r>
                      <a:endParaRPr lang="en-US" sz="9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>
                          <a:solidFill>
                            <a:srgbClr val="8686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0.38</a:t>
                      </a:r>
                      <a:endParaRPr lang="en-US" sz="9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284">
                <a:tc>
                  <a:txBody>
                    <a:bodyPr/>
                    <a:lstStyle/>
                    <a:p>
                      <a:r>
                        <a:rPr lang="en-US" sz="900" u="none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XGBoost</a:t>
                      </a:r>
                      <a:endParaRPr lang="en-US" sz="9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9174" marB="6917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0.80</a:t>
                      </a:r>
                      <a:endParaRPr lang="en-US" sz="9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0.68</a:t>
                      </a:r>
                      <a:endParaRPr lang="en-US" sz="9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>
                          <a:solidFill>
                            <a:srgbClr val="8686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0.38</a:t>
                      </a:r>
                      <a:endParaRPr lang="en-US" sz="9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284">
                <a:tc>
                  <a:txBody>
                    <a:bodyPr/>
                    <a:lstStyle/>
                    <a:p>
                      <a:r>
                        <a:rPr lang="en-US" sz="900" u="none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Ordinal Model</a:t>
                      </a:r>
                      <a:endParaRPr lang="en-US" sz="9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9174" marB="6917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0.80</a:t>
                      </a:r>
                      <a:endParaRPr lang="en-US" sz="9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0.67</a:t>
                      </a:r>
                      <a:endParaRPr lang="en-US" sz="9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>
                          <a:solidFill>
                            <a:srgbClr val="8686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0.38</a:t>
                      </a:r>
                      <a:endParaRPr lang="en-US" sz="9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284">
                <a:tc>
                  <a:txBody>
                    <a:bodyPr/>
                    <a:lstStyle/>
                    <a:p>
                      <a:r>
                        <a:rPr lang="en-US" sz="900" u="none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Interaction Model</a:t>
                      </a:r>
                      <a:endParaRPr lang="en-US" sz="9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9174" marB="6917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0.79</a:t>
                      </a:r>
                      <a:endParaRPr lang="en-US" sz="9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0.66</a:t>
                      </a:r>
                      <a:endParaRPr lang="en-US" sz="9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>
                          <a:solidFill>
                            <a:srgbClr val="8686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0.41</a:t>
                      </a:r>
                      <a:endParaRPr lang="en-US" sz="9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284">
                <a:tc>
                  <a:txBody>
                    <a:bodyPr/>
                    <a:lstStyle/>
                    <a:p>
                      <a:r>
                        <a:rPr lang="en-US" sz="900" b="1" u="none">
                          <a:solidFill>
                            <a:srgbClr val="0071E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XGBoost (Weighted)</a:t>
                      </a:r>
                      <a:endParaRPr lang="en-US" sz="9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9174" marB="6917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71E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>
                          <a:solidFill>
                            <a:srgbClr val="1D1D1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0.80</a:t>
                      </a:r>
                      <a:endParaRPr lang="en-US" sz="9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71E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>
                          <a:solidFill>
                            <a:srgbClr val="8686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0.59</a:t>
                      </a:r>
                      <a:endParaRPr lang="en-US" sz="9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71E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>
                          <a:solidFill>
                            <a:srgbClr val="0071E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0.46</a:t>
                      </a:r>
                      <a:endParaRPr lang="en-US" sz="9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71E3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198789" y="4454837"/>
            <a:ext cx="5646366" cy="1141379"/>
          </a:xfrm>
          <a:custGeom>
            <a:avLst/>
            <a:gdLst/>
            <a:ahLst/>
            <a:cxnLst/>
            <a:rect l="l" t="t" r="r" b="b"/>
            <a:pathLst>
              <a:path w="5646366" h="1141379">
                <a:moveTo>
                  <a:pt x="103763" y="0"/>
                </a:moveTo>
                <a:lnTo>
                  <a:pt x="5542603" y="0"/>
                </a:lnTo>
                <a:cubicBezTo>
                  <a:pt x="5599910" y="0"/>
                  <a:pt x="5646366" y="46456"/>
                  <a:pt x="5646366" y="103763"/>
                </a:cubicBezTo>
                <a:lnTo>
                  <a:pt x="5646366" y="1037616"/>
                </a:lnTo>
                <a:cubicBezTo>
                  <a:pt x="5646366" y="1094923"/>
                  <a:pt x="5599910" y="1141379"/>
                  <a:pt x="5542603" y="1141379"/>
                </a:cubicBezTo>
                <a:lnTo>
                  <a:pt x="103763" y="1141379"/>
                </a:lnTo>
                <a:cubicBezTo>
                  <a:pt x="46456" y="1141379"/>
                  <a:pt x="0" y="1094923"/>
                  <a:pt x="0" y="1037616"/>
                </a:cubicBezTo>
                <a:lnTo>
                  <a:pt x="0" y="103763"/>
                </a:lnTo>
                <a:cubicBezTo>
                  <a:pt x="0" y="46495"/>
                  <a:pt x="46495" y="0"/>
                  <a:pt x="103763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1" name="Shape 7"/>
          <p:cNvSpPr/>
          <p:nvPr/>
        </p:nvSpPr>
        <p:spPr>
          <a:xfrm>
            <a:off x="6371725" y="4783416"/>
            <a:ext cx="484221" cy="484221"/>
          </a:xfrm>
          <a:custGeom>
            <a:avLst/>
            <a:gdLst/>
            <a:ahLst/>
            <a:cxnLst/>
            <a:rect l="l" t="t" r="r" b="b"/>
            <a:pathLst>
              <a:path w="484221" h="484221">
                <a:moveTo>
                  <a:pt x="103764" y="0"/>
                </a:moveTo>
                <a:lnTo>
                  <a:pt x="380457" y="0"/>
                </a:lnTo>
                <a:cubicBezTo>
                  <a:pt x="437765" y="0"/>
                  <a:pt x="484221" y="46457"/>
                  <a:pt x="484221" y="103764"/>
                </a:cubicBezTo>
                <a:lnTo>
                  <a:pt x="484221" y="380457"/>
                </a:lnTo>
                <a:cubicBezTo>
                  <a:pt x="484221" y="437765"/>
                  <a:pt x="437765" y="484221"/>
                  <a:pt x="380457" y="484221"/>
                </a:cubicBezTo>
                <a:lnTo>
                  <a:pt x="103764" y="484221"/>
                </a:lnTo>
                <a:cubicBezTo>
                  <a:pt x="46457" y="484221"/>
                  <a:pt x="0" y="437765"/>
                  <a:pt x="0" y="380457"/>
                </a:cubicBezTo>
                <a:lnTo>
                  <a:pt x="0" y="103764"/>
                </a:lnTo>
                <a:cubicBezTo>
                  <a:pt x="0" y="46457"/>
                  <a:pt x="46457" y="0"/>
                  <a:pt x="103764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6518721" y="4895825"/>
            <a:ext cx="194553" cy="259404"/>
          </a:xfrm>
          <a:custGeom>
            <a:avLst/>
            <a:gdLst/>
            <a:ahLst/>
            <a:cxnLst/>
            <a:rect l="l" t="t" r="r" b="b"/>
            <a:pathLst>
              <a:path w="194553" h="259404">
                <a:moveTo>
                  <a:pt x="108727" y="8816"/>
                </a:moveTo>
                <a:cubicBezTo>
                  <a:pt x="102394" y="2483"/>
                  <a:pt x="92109" y="2483"/>
                  <a:pt x="85776" y="8816"/>
                </a:cubicBezTo>
                <a:lnTo>
                  <a:pt x="4712" y="89880"/>
                </a:lnTo>
                <a:cubicBezTo>
                  <a:pt x="-1621" y="96213"/>
                  <a:pt x="-1621" y="106498"/>
                  <a:pt x="4712" y="112831"/>
                </a:cubicBezTo>
                <a:cubicBezTo>
                  <a:pt x="11045" y="119164"/>
                  <a:pt x="21330" y="119164"/>
                  <a:pt x="27663" y="112831"/>
                </a:cubicBezTo>
                <a:lnTo>
                  <a:pt x="81064" y="59430"/>
                </a:lnTo>
                <a:lnTo>
                  <a:pt x="81064" y="247245"/>
                </a:lnTo>
                <a:cubicBezTo>
                  <a:pt x="81064" y="256212"/>
                  <a:pt x="88309" y="263457"/>
                  <a:pt x="97277" y="263457"/>
                </a:cubicBezTo>
                <a:cubicBezTo>
                  <a:pt x="106244" y="263457"/>
                  <a:pt x="113489" y="256212"/>
                  <a:pt x="113489" y="247245"/>
                </a:cubicBezTo>
                <a:lnTo>
                  <a:pt x="113489" y="59430"/>
                </a:lnTo>
                <a:lnTo>
                  <a:pt x="166890" y="112831"/>
                </a:lnTo>
                <a:cubicBezTo>
                  <a:pt x="173223" y="119164"/>
                  <a:pt x="183508" y="119164"/>
                  <a:pt x="189841" y="112831"/>
                </a:cubicBezTo>
                <a:cubicBezTo>
                  <a:pt x="196174" y="106498"/>
                  <a:pt x="196174" y="96213"/>
                  <a:pt x="189841" y="89880"/>
                </a:cubicBezTo>
                <a:lnTo>
                  <a:pt x="108778" y="881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9"/>
          <p:cNvSpPr/>
          <p:nvPr/>
        </p:nvSpPr>
        <p:spPr>
          <a:xfrm>
            <a:off x="6994295" y="4627774"/>
            <a:ext cx="1902298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High-Cost Detection Improvement</a:t>
            </a:r>
            <a:endParaRPr lang="en-US" sz="1600"/>
          </a:p>
        </p:txBody>
      </p:sp>
      <p:sp>
        <p:nvSpPr>
          <p:cNvPr id="14" name="Text 10"/>
          <p:cNvSpPr/>
          <p:nvPr/>
        </p:nvSpPr>
        <p:spPr>
          <a:xfrm>
            <a:off x="6994295" y="4835297"/>
            <a:ext cx="1997413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51" b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44%</a:t>
            </a:r>
            <a:endParaRPr lang="en-US" sz="1600"/>
          </a:p>
        </p:txBody>
      </p:sp>
      <p:sp>
        <p:nvSpPr>
          <p:cNvPr id="15" name="Text 11"/>
          <p:cNvSpPr/>
          <p:nvPr/>
        </p:nvSpPr>
        <p:spPr>
          <a:xfrm>
            <a:off x="6994295" y="5215757"/>
            <a:ext cx="1910945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F1 improved from 0.32 to 0.46</a:t>
            </a:r>
            <a:endParaRPr lang="en-US" sz="1600"/>
          </a:p>
        </p:txBody>
      </p:sp>
      <p:sp>
        <p:nvSpPr>
          <p:cNvPr id="16" name="Shape 12"/>
          <p:cNvSpPr/>
          <p:nvPr/>
        </p:nvSpPr>
        <p:spPr>
          <a:xfrm>
            <a:off x="6202248" y="5738024"/>
            <a:ext cx="5635990" cy="906186"/>
          </a:xfrm>
          <a:custGeom>
            <a:avLst/>
            <a:gdLst/>
            <a:ahLst/>
            <a:cxnLst/>
            <a:rect l="l" t="t" r="r" b="b"/>
            <a:pathLst>
              <a:path w="5635990" h="906186">
                <a:moveTo>
                  <a:pt x="103758" y="0"/>
                </a:moveTo>
                <a:lnTo>
                  <a:pt x="5532232" y="0"/>
                </a:lnTo>
                <a:cubicBezTo>
                  <a:pt x="5589536" y="0"/>
                  <a:pt x="5635990" y="46454"/>
                  <a:pt x="5635990" y="103758"/>
                </a:cubicBezTo>
                <a:lnTo>
                  <a:pt x="5635990" y="802427"/>
                </a:lnTo>
                <a:cubicBezTo>
                  <a:pt x="5635990" y="859731"/>
                  <a:pt x="5589536" y="906186"/>
                  <a:pt x="5532232" y="906186"/>
                </a:cubicBezTo>
                <a:lnTo>
                  <a:pt x="103758" y="906186"/>
                </a:lnTo>
                <a:cubicBezTo>
                  <a:pt x="46454" y="906186"/>
                  <a:pt x="0" y="859731"/>
                  <a:pt x="0" y="802427"/>
                </a:cubicBezTo>
                <a:lnTo>
                  <a:pt x="0" y="103758"/>
                </a:lnTo>
                <a:cubicBezTo>
                  <a:pt x="0" y="46454"/>
                  <a:pt x="46454" y="0"/>
                  <a:pt x="103758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 w="10160">
            <a:solidFill>
              <a:srgbClr val="0071E3">
                <a:alpha val="20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378643" y="5907501"/>
            <a:ext cx="103762" cy="138349"/>
          </a:xfrm>
          <a:custGeom>
            <a:avLst/>
            <a:gdLst/>
            <a:ahLst/>
            <a:cxnLst/>
            <a:rect l="l" t="t" r="r" b="b"/>
            <a:pathLst>
              <a:path w="103762" h="138349">
                <a:moveTo>
                  <a:pt x="79145" y="103762"/>
                </a:moveTo>
                <a:cubicBezTo>
                  <a:pt x="81118" y="97736"/>
                  <a:pt x="85063" y="92278"/>
                  <a:pt x="89521" y="87576"/>
                </a:cubicBezTo>
                <a:cubicBezTo>
                  <a:pt x="98357" y="78281"/>
                  <a:pt x="103762" y="65716"/>
                  <a:pt x="103762" y="51881"/>
                </a:cubicBezTo>
                <a:cubicBezTo>
                  <a:pt x="103762" y="23238"/>
                  <a:pt x="80523" y="0"/>
                  <a:pt x="51881" y="0"/>
                </a:cubicBezTo>
                <a:cubicBezTo>
                  <a:pt x="23238" y="0"/>
                  <a:pt x="0" y="23238"/>
                  <a:pt x="0" y="51881"/>
                </a:cubicBezTo>
                <a:cubicBezTo>
                  <a:pt x="0" y="65716"/>
                  <a:pt x="5404" y="78281"/>
                  <a:pt x="14240" y="87576"/>
                </a:cubicBezTo>
                <a:cubicBezTo>
                  <a:pt x="18699" y="92278"/>
                  <a:pt x="22671" y="97736"/>
                  <a:pt x="24616" y="103762"/>
                </a:cubicBezTo>
                <a:lnTo>
                  <a:pt x="79118" y="103762"/>
                </a:lnTo>
                <a:close/>
                <a:moveTo>
                  <a:pt x="77821" y="116732"/>
                </a:moveTo>
                <a:lnTo>
                  <a:pt x="25940" y="116732"/>
                </a:lnTo>
                <a:lnTo>
                  <a:pt x="25940" y="121055"/>
                </a:lnTo>
                <a:cubicBezTo>
                  <a:pt x="25940" y="132999"/>
                  <a:pt x="35614" y="142672"/>
                  <a:pt x="47557" y="142672"/>
                </a:cubicBezTo>
                <a:lnTo>
                  <a:pt x="56204" y="142672"/>
                </a:lnTo>
                <a:cubicBezTo>
                  <a:pt x="68148" y="142672"/>
                  <a:pt x="77821" y="132999"/>
                  <a:pt x="77821" y="121055"/>
                </a:cubicBezTo>
                <a:lnTo>
                  <a:pt x="77821" y="116732"/>
                </a:lnTo>
                <a:close/>
                <a:moveTo>
                  <a:pt x="49719" y="30264"/>
                </a:moveTo>
                <a:cubicBezTo>
                  <a:pt x="38965" y="30264"/>
                  <a:pt x="30264" y="38965"/>
                  <a:pt x="30264" y="49719"/>
                </a:cubicBezTo>
                <a:cubicBezTo>
                  <a:pt x="30264" y="53313"/>
                  <a:pt x="27373" y="56204"/>
                  <a:pt x="23779" y="56204"/>
                </a:cubicBezTo>
                <a:cubicBezTo>
                  <a:pt x="20185" y="56204"/>
                  <a:pt x="17294" y="53313"/>
                  <a:pt x="17294" y="49719"/>
                </a:cubicBezTo>
                <a:cubicBezTo>
                  <a:pt x="17294" y="31804"/>
                  <a:pt x="31804" y="17294"/>
                  <a:pt x="49719" y="17294"/>
                </a:cubicBezTo>
                <a:cubicBezTo>
                  <a:pt x="53313" y="17294"/>
                  <a:pt x="56204" y="20185"/>
                  <a:pt x="56204" y="23779"/>
                </a:cubicBezTo>
                <a:cubicBezTo>
                  <a:pt x="56204" y="27373"/>
                  <a:pt x="53313" y="30264"/>
                  <a:pt x="49719" y="30264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9" name="Text 14"/>
          <p:cNvSpPr/>
          <p:nvPr/>
        </p:nvSpPr>
        <p:spPr>
          <a:xfrm>
            <a:off x="6564089" y="5879830"/>
            <a:ext cx="5201515" cy="62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Insight:</a:t>
            </a:r>
            <a:r>
              <a:rPr lang="en-US" sz="1089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While standard models achieve good overall performance, they struggle with the minority high-cost class. Weighted XGBoost addresses this imbalance, significantly improving detection of the most critical patient group.</a:t>
            </a:r>
            <a:endParaRPr lang="en-US" sz="160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F030D8C-D219-1E79-09C3-D8A6FC5156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717" y="4213500"/>
            <a:ext cx="4897783" cy="242873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6231" y="356231"/>
            <a:ext cx="11541879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kern="0" spc="49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Predictive Modeling</a:t>
            </a:r>
            <a:endParaRPr lang="en-US" sz="1600"/>
          </a:p>
        </p:txBody>
      </p:sp>
      <p:sp>
        <p:nvSpPr>
          <p:cNvPr id="3" name="Text 1"/>
          <p:cNvSpPr/>
          <p:nvPr/>
        </p:nvSpPr>
        <p:spPr>
          <a:xfrm>
            <a:off x="356231" y="605592"/>
            <a:ext cx="11639842" cy="356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24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Selection &amp; Justification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359793" y="1143501"/>
            <a:ext cx="5626666" cy="3311166"/>
          </a:xfrm>
          <a:custGeom>
            <a:avLst/>
            <a:gdLst/>
            <a:ahLst/>
            <a:cxnLst/>
            <a:rect l="l" t="t" r="r" b="b"/>
            <a:pathLst>
              <a:path w="5626666" h="3311166">
                <a:moveTo>
                  <a:pt x="106884" y="0"/>
                </a:moveTo>
                <a:lnTo>
                  <a:pt x="5519781" y="0"/>
                </a:lnTo>
                <a:cubicBezTo>
                  <a:pt x="5578812" y="0"/>
                  <a:pt x="5626666" y="47854"/>
                  <a:pt x="5626666" y="106884"/>
                </a:cubicBezTo>
                <a:lnTo>
                  <a:pt x="5626666" y="3204281"/>
                </a:lnTo>
                <a:cubicBezTo>
                  <a:pt x="5626666" y="3263312"/>
                  <a:pt x="5578812" y="3311166"/>
                  <a:pt x="5519781" y="3311166"/>
                </a:cubicBezTo>
                <a:lnTo>
                  <a:pt x="106884" y="3311166"/>
                </a:lnTo>
                <a:cubicBezTo>
                  <a:pt x="47854" y="3311166"/>
                  <a:pt x="0" y="3263312"/>
                  <a:pt x="0" y="3204281"/>
                </a:cubicBezTo>
                <a:lnTo>
                  <a:pt x="0" y="106884"/>
                </a:lnTo>
                <a:cubicBezTo>
                  <a:pt x="0" y="47893"/>
                  <a:pt x="47893" y="0"/>
                  <a:pt x="106884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1471" y="1325177"/>
            <a:ext cx="5343462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2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Selection Criteria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559282" y="1717031"/>
            <a:ext cx="5245499" cy="1211185"/>
          </a:xfrm>
          <a:custGeom>
            <a:avLst/>
            <a:gdLst/>
            <a:ahLst/>
            <a:cxnLst/>
            <a:rect l="l" t="t" r="r" b="b"/>
            <a:pathLst>
              <a:path w="5245499" h="1211185">
                <a:moveTo>
                  <a:pt x="35623" y="0"/>
                </a:moveTo>
                <a:lnTo>
                  <a:pt x="5174257" y="0"/>
                </a:lnTo>
                <a:cubicBezTo>
                  <a:pt x="5213576" y="0"/>
                  <a:pt x="5245499" y="31922"/>
                  <a:pt x="5245499" y="71242"/>
                </a:cubicBezTo>
                <a:lnTo>
                  <a:pt x="5245499" y="1139943"/>
                </a:lnTo>
                <a:cubicBezTo>
                  <a:pt x="5245499" y="1179262"/>
                  <a:pt x="5213576" y="1211185"/>
                  <a:pt x="5174257" y="1211185"/>
                </a:cubicBezTo>
                <a:lnTo>
                  <a:pt x="35623" y="1211185"/>
                </a:lnTo>
                <a:cubicBezTo>
                  <a:pt x="15949" y="1211185"/>
                  <a:pt x="0" y="1195236"/>
                  <a:pt x="0" y="1175562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59282" y="1717031"/>
            <a:ext cx="35623" cy="1211185"/>
          </a:xfrm>
          <a:custGeom>
            <a:avLst/>
            <a:gdLst/>
            <a:ahLst/>
            <a:cxnLst/>
            <a:rect l="l" t="t" r="r" b="b"/>
            <a:pathLst>
              <a:path w="35623" h="1211185">
                <a:moveTo>
                  <a:pt x="35623" y="0"/>
                </a:moveTo>
                <a:lnTo>
                  <a:pt x="35623" y="0"/>
                </a:lnTo>
                <a:lnTo>
                  <a:pt x="35623" y="1211185"/>
                </a:lnTo>
                <a:lnTo>
                  <a:pt x="35623" y="1211185"/>
                </a:lnTo>
                <a:cubicBezTo>
                  <a:pt x="15949" y="1211185"/>
                  <a:pt x="0" y="1195236"/>
                  <a:pt x="0" y="1175562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8" name="Text 6"/>
          <p:cNvSpPr/>
          <p:nvPr/>
        </p:nvSpPr>
        <p:spPr>
          <a:xfrm>
            <a:off x="719586" y="1859523"/>
            <a:ext cx="5013949" cy="92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2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final model was selected based on its ability to </a:t>
            </a:r>
            <a:r>
              <a:rPr lang="en-US" sz="1122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effectively identify high-cost individuals</a:t>
            </a:r>
            <a:r>
              <a:rPr lang="en-US" sz="1122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rather than solely maximizing overall accuracy. Since high-cost patients represent a small but critical group, improving their detection was prioritized.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545033" y="3074270"/>
            <a:ext cx="5252624" cy="541471"/>
          </a:xfrm>
          <a:custGeom>
            <a:avLst/>
            <a:gdLst/>
            <a:ahLst/>
            <a:cxnLst/>
            <a:rect l="l" t="t" r="r" b="b"/>
            <a:pathLst>
              <a:path w="5252624" h="541471">
                <a:moveTo>
                  <a:pt x="71247" y="0"/>
                </a:moveTo>
                <a:lnTo>
                  <a:pt x="5181377" y="0"/>
                </a:lnTo>
                <a:cubicBezTo>
                  <a:pt x="5220725" y="0"/>
                  <a:pt x="5252624" y="31898"/>
                  <a:pt x="5252624" y="71247"/>
                </a:cubicBezTo>
                <a:lnTo>
                  <a:pt x="5252624" y="470224"/>
                </a:lnTo>
                <a:cubicBezTo>
                  <a:pt x="5252624" y="509573"/>
                  <a:pt x="5220725" y="541471"/>
                  <a:pt x="5181377" y="541471"/>
                </a:cubicBezTo>
                <a:lnTo>
                  <a:pt x="71247" y="541471"/>
                </a:lnTo>
                <a:cubicBezTo>
                  <a:pt x="31898" y="541471"/>
                  <a:pt x="0" y="509573"/>
                  <a:pt x="0" y="470224"/>
                </a:cubicBezTo>
                <a:lnTo>
                  <a:pt x="0" y="71247"/>
                </a:lnTo>
                <a:cubicBezTo>
                  <a:pt x="0" y="31898"/>
                  <a:pt x="31898" y="0"/>
                  <a:pt x="71247" y="0"/>
                </a:cubicBezTo>
                <a:close/>
              </a:path>
            </a:pathLst>
          </a:custGeom>
          <a:solidFill>
            <a:srgbClr val="FAFAFA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3276" y="3220332"/>
            <a:ext cx="142492" cy="142492"/>
          </a:xfrm>
          <a:custGeom>
            <a:avLst/>
            <a:gdLst/>
            <a:ahLst/>
            <a:cxnLst/>
            <a:rect l="l" t="t" r="r" b="b"/>
            <a:pathLst>
              <a:path w="142492" h="142492">
                <a:moveTo>
                  <a:pt x="71246" y="142492"/>
                </a:moveTo>
                <a:cubicBezTo>
                  <a:pt x="110568" y="142492"/>
                  <a:pt x="142492" y="110568"/>
                  <a:pt x="142492" y="71246"/>
                </a:cubicBezTo>
                <a:cubicBezTo>
                  <a:pt x="142492" y="31924"/>
                  <a:pt x="110568" y="0"/>
                  <a:pt x="71246" y="0"/>
                </a:cubicBezTo>
                <a:cubicBezTo>
                  <a:pt x="31924" y="0"/>
                  <a:pt x="0" y="31924"/>
                  <a:pt x="0" y="71246"/>
                </a:cubicBezTo>
                <a:cubicBezTo>
                  <a:pt x="0" y="110568"/>
                  <a:pt x="31924" y="142492"/>
                  <a:pt x="71246" y="142492"/>
                </a:cubicBezTo>
                <a:close/>
                <a:moveTo>
                  <a:pt x="46477" y="46477"/>
                </a:moveTo>
                <a:cubicBezTo>
                  <a:pt x="49093" y="43861"/>
                  <a:pt x="53323" y="43861"/>
                  <a:pt x="55912" y="46477"/>
                </a:cubicBezTo>
                <a:lnTo>
                  <a:pt x="71218" y="61784"/>
                </a:lnTo>
                <a:lnTo>
                  <a:pt x="86525" y="46477"/>
                </a:lnTo>
                <a:cubicBezTo>
                  <a:pt x="89141" y="43861"/>
                  <a:pt x="93371" y="43861"/>
                  <a:pt x="95960" y="46477"/>
                </a:cubicBezTo>
                <a:cubicBezTo>
                  <a:pt x="98548" y="49093"/>
                  <a:pt x="98576" y="53323"/>
                  <a:pt x="95960" y="55912"/>
                </a:cubicBezTo>
                <a:lnTo>
                  <a:pt x="80653" y="71218"/>
                </a:lnTo>
                <a:lnTo>
                  <a:pt x="95960" y="86525"/>
                </a:lnTo>
                <a:cubicBezTo>
                  <a:pt x="98576" y="89141"/>
                  <a:pt x="98576" y="93371"/>
                  <a:pt x="95960" y="95960"/>
                </a:cubicBezTo>
                <a:cubicBezTo>
                  <a:pt x="93344" y="98548"/>
                  <a:pt x="89113" y="98576"/>
                  <a:pt x="86525" y="95960"/>
                </a:cubicBezTo>
                <a:lnTo>
                  <a:pt x="71218" y="80653"/>
                </a:lnTo>
                <a:lnTo>
                  <a:pt x="55912" y="95960"/>
                </a:lnTo>
                <a:cubicBezTo>
                  <a:pt x="53295" y="98576"/>
                  <a:pt x="49065" y="98576"/>
                  <a:pt x="46477" y="95960"/>
                </a:cubicBezTo>
                <a:cubicBezTo>
                  <a:pt x="43889" y="93344"/>
                  <a:pt x="43861" y="89113"/>
                  <a:pt x="46477" y="86525"/>
                </a:cubicBezTo>
                <a:lnTo>
                  <a:pt x="61784" y="71218"/>
                </a:lnTo>
                <a:lnTo>
                  <a:pt x="46477" y="55912"/>
                </a:lnTo>
                <a:cubicBezTo>
                  <a:pt x="43861" y="53295"/>
                  <a:pt x="43861" y="49065"/>
                  <a:pt x="46477" y="46477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11" name="Text 9"/>
          <p:cNvSpPr/>
          <p:nvPr/>
        </p:nvSpPr>
        <p:spPr>
          <a:xfrm>
            <a:off x="904826" y="3184709"/>
            <a:ext cx="4604283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Standard Models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904826" y="3362824"/>
            <a:ext cx="4595378" cy="14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1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Achieved higher accuracy (~72%) but showed limited performance for high-cost class (F1 ≈ 0.38)</a:t>
            </a:r>
            <a:endParaRPr lang="en-US" sz="1600"/>
          </a:p>
        </p:txBody>
      </p:sp>
      <p:sp>
        <p:nvSpPr>
          <p:cNvPr id="13" name="Shape 11"/>
          <p:cNvSpPr/>
          <p:nvPr/>
        </p:nvSpPr>
        <p:spPr>
          <a:xfrm>
            <a:off x="545033" y="3729627"/>
            <a:ext cx="5252624" cy="541471"/>
          </a:xfrm>
          <a:custGeom>
            <a:avLst/>
            <a:gdLst/>
            <a:ahLst/>
            <a:cxnLst/>
            <a:rect l="l" t="t" r="r" b="b"/>
            <a:pathLst>
              <a:path w="5252624" h="541471">
                <a:moveTo>
                  <a:pt x="71247" y="0"/>
                </a:moveTo>
                <a:lnTo>
                  <a:pt x="5181377" y="0"/>
                </a:lnTo>
                <a:cubicBezTo>
                  <a:pt x="5220725" y="0"/>
                  <a:pt x="5252624" y="31898"/>
                  <a:pt x="5252624" y="71247"/>
                </a:cubicBezTo>
                <a:lnTo>
                  <a:pt x="5252624" y="470224"/>
                </a:lnTo>
                <a:cubicBezTo>
                  <a:pt x="5252624" y="509573"/>
                  <a:pt x="5220725" y="541471"/>
                  <a:pt x="5181377" y="541471"/>
                </a:cubicBezTo>
                <a:lnTo>
                  <a:pt x="71247" y="541471"/>
                </a:lnTo>
                <a:cubicBezTo>
                  <a:pt x="31898" y="541471"/>
                  <a:pt x="0" y="509573"/>
                  <a:pt x="0" y="470224"/>
                </a:cubicBezTo>
                <a:lnTo>
                  <a:pt x="0" y="71247"/>
                </a:lnTo>
                <a:cubicBezTo>
                  <a:pt x="0" y="31898"/>
                  <a:pt x="31898" y="0"/>
                  <a:pt x="71247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 w="10160">
            <a:solidFill>
              <a:srgbClr val="0071E3">
                <a:alpha val="30196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3276" y="3875680"/>
            <a:ext cx="142492" cy="142492"/>
          </a:xfrm>
          <a:custGeom>
            <a:avLst/>
            <a:gdLst/>
            <a:ahLst/>
            <a:cxnLst/>
            <a:rect l="l" t="t" r="r" b="b"/>
            <a:pathLst>
              <a:path w="142492" h="142492">
                <a:moveTo>
                  <a:pt x="71246" y="142492"/>
                </a:moveTo>
                <a:cubicBezTo>
                  <a:pt x="110568" y="142492"/>
                  <a:pt x="142492" y="110568"/>
                  <a:pt x="142492" y="71246"/>
                </a:cubicBezTo>
                <a:cubicBezTo>
                  <a:pt x="142492" y="31924"/>
                  <a:pt x="110568" y="0"/>
                  <a:pt x="71246" y="0"/>
                </a:cubicBezTo>
                <a:cubicBezTo>
                  <a:pt x="31924" y="0"/>
                  <a:pt x="0" y="31924"/>
                  <a:pt x="0" y="71246"/>
                </a:cubicBezTo>
                <a:cubicBezTo>
                  <a:pt x="0" y="110568"/>
                  <a:pt x="31924" y="142492"/>
                  <a:pt x="71246" y="142492"/>
                </a:cubicBezTo>
                <a:close/>
                <a:moveTo>
                  <a:pt x="94735" y="59196"/>
                </a:moveTo>
                <a:lnTo>
                  <a:pt x="72471" y="94819"/>
                </a:lnTo>
                <a:cubicBezTo>
                  <a:pt x="71302" y="96683"/>
                  <a:pt x="69298" y="97852"/>
                  <a:pt x="67099" y="97963"/>
                </a:cubicBezTo>
                <a:cubicBezTo>
                  <a:pt x="64901" y="98075"/>
                  <a:pt x="62786" y="97073"/>
                  <a:pt x="61478" y="95292"/>
                </a:cubicBezTo>
                <a:lnTo>
                  <a:pt x="48119" y="77480"/>
                </a:lnTo>
                <a:cubicBezTo>
                  <a:pt x="45893" y="74530"/>
                  <a:pt x="46505" y="70356"/>
                  <a:pt x="49455" y="68129"/>
                </a:cubicBezTo>
                <a:cubicBezTo>
                  <a:pt x="52405" y="65903"/>
                  <a:pt x="56579" y="66515"/>
                  <a:pt x="58806" y="69465"/>
                </a:cubicBezTo>
                <a:lnTo>
                  <a:pt x="66320" y="79484"/>
                </a:lnTo>
                <a:lnTo>
                  <a:pt x="83408" y="52127"/>
                </a:lnTo>
                <a:cubicBezTo>
                  <a:pt x="85356" y="49010"/>
                  <a:pt x="89475" y="48036"/>
                  <a:pt x="92620" y="50011"/>
                </a:cubicBezTo>
                <a:cubicBezTo>
                  <a:pt x="95765" y="51987"/>
                  <a:pt x="96711" y="56079"/>
                  <a:pt x="94735" y="5922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5" name="Text 13"/>
          <p:cNvSpPr/>
          <p:nvPr/>
        </p:nvSpPr>
        <p:spPr>
          <a:xfrm>
            <a:off x="904826" y="3840057"/>
            <a:ext cx="3036868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Weighted XGBoost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904826" y="4018172"/>
            <a:ext cx="3027962" cy="14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1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Improved high-cost detection to F1 = 0.46 (~44% improvement)</a:t>
            </a:r>
            <a:endParaRPr lang="en-US" sz="1600"/>
          </a:p>
        </p:txBody>
      </p:sp>
      <p:sp>
        <p:nvSpPr>
          <p:cNvPr id="17" name="Shape 15"/>
          <p:cNvSpPr/>
          <p:nvPr/>
        </p:nvSpPr>
        <p:spPr>
          <a:xfrm>
            <a:off x="359793" y="4605845"/>
            <a:ext cx="5626666" cy="2108886"/>
          </a:xfrm>
          <a:custGeom>
            <a:avLst/>
            <a:gdLst/>
            <a:ahLst/>
            <a:cxnLst/>
            <a:rect l="l" t="t" r="r" b="b"/>
            <a:pathLst>
              <a:path w="5626666" h="2108886">
                <a:moveTo>
                  <a:pt x="106878" y="0"/>
                </a:moveTo>
                <a:lnTo>
                  <a:pt x="5519788" y="0"/>
                </a:lnTo>
                <a:cubicBezTo>
                  <a:pt x="5578815" y="0"/>
                  <a:pt x="5626666" y="47851"/>
                  <a:pt x="5626666" y="106878"/>
                </a:cubicBezTo>
                <a:lnTo>
                  <a:pt x="5626666" y="2002008"/>
                </a:lnTo>
                <a:cubicBezTo>
                  <a:pt x="5626666" y="2061035"/>
                  <a:pt x="5578815" y="2108886"/>
                  <a:pt x="5519788" y="2108886"/>
                </a:cubicBezTo>
                <a:lnTo>
                  <a:pt x="106878" y="2108886"/>
                </a:lnTo>
                <a:cubicBezTo>
                  <a:pt x="47851" y="2108886"/>
                  <a:pt x="0" y="2061035"/>
                  <a:pt x="0" y="2002008"/>
                </a:cubicBezTo>
                <a:lnTo>
                  <a:pt x="0" y="106878"/>
                </a:lnTo>
                <a:cubicBezTo>
                  <a:pt x="0" y="47891"/>
                  <a:pt x="47891" y="0"/>
                  <a:pt x="10687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1471" y="4787521"/>
            <a:ext cx="5343462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2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Trade-offs Observed</a:t>
            </a:r>
            <a:endParaRPr lang="en-US" sz="1600"/>
          </a:p>
        </p:txBody>
      </p:sp>
      <p:sp>
        <p:nvSpPr>
          <p:cNvPr id="19" name="Shape 17"/>
          <p:cNvSpPr/>
          <p:nvPr/>
        </p:nvSpPr>
        <p:spPr>
          <a:xfrm>
            <a:off x="541471" y="5179375"/>
            <a:ext cx="2555956" cy="1068692"/>
          </a:xfrm>
          <a:custGeom>
            <a:avLst/>
            <a:gdLst/>
            <a:ahLst/>
            <a:cxnLst/>
            <a:rect l="l" t="t" r="r" b="b"/>
            <a:pathLst>
              <a:path w="2555956" h="1068692">
                <a:moveTo>
                  <a:pt x="71250" y="0"/>
                </a:moveTo>
                <a:lnTo>
                  <a:pt x="2484706" y="0"/>
                </a:lnTo>
                <a:cubicBezTo>
                  <a:pt x="2524057" y="0"/>
                  <a:pt x="2555956" y="31900"/>
                  <a:pt x="2555956" y="71250"/>
                </a:cubicBezTo>
                <a:lnTo>
                  <a:pt x="2555956" y="997443"/>
                </a:lnTo>
                <a:cubicBezTo>
                  <a:pt x="2555956" y="1036767"/>
                  <a:pt x="2524030" y="1068692"/>
                  <a:pt x="2484706" y="1068692"/>
                </a:cubicBezTo>
                <a:lnTo>
                  <a:pt x="71250" y="1068692"/>
                </a:lnTo>
                <a:cubicBezTo>
                  <a:pt x="31900" y="1068692"/>
                  <a:pt x="0" y="1036793"/>
                  <a:pt x="0" y="997443"/>
                </a:cubicBezTo>
                <a:lnTo>
                  <a:pt x="0" y="71250"/>
                </a:lnTo>
                <a:cubicBezTo>
                  <a:pt x="0" y="31926"/>
                  <a:pt x="31926" y="0"/>
                  <a:pt x="71250" y="0"/>
                </a:cubicBezTo>
                <a:close/>
              </a:path>
            </a:pathLst>
          </a:custGeom>
          <a:solidFill>
            <a:srgbClr val="86868B">
              <a:alpha val="1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741078" y="5321868"/>
            <a:ext cx="160304" cy="213738"/>
          </a:xfrm>
          <a:custGeom>
            <a:avLst/>
            <a:gdLst/>
            <a:ahLst/>
            <a:cxnLst/>
            <a:rect l="l" t="t" r="r" b="b"/>
            <a:pathLst>
              <a:path w="160304" h="213738">
                <a:moveTo>
                  <a:pt x="70717" y="209814"/>
                </a:moveTo>
                <a:cubicBezTo>
                  <a:pt x="75936" y="215033"/>
                  <a:pt x="84410" y="215033"/>
                  <a:pt x="89628" y="209814"/>
                </a:cubicBezTo>
                <a:lnTo>
                  <a:pt x="156422" y="143021"/>
                </a:lnTo>
                <a:cubicBezTo>
                  <a:pt x="161640" y="137803"/>
                  <a:pt x="161640" y="129328"/>
                  <a:pt x="156422" y="124110"/>
                </a:cubicBezTo>
                <a:cubicBezTo>
                  <a:pt x="151203" y="118892"/>
                  <a:pt x="142729" y="118892"/>
                  <a:pt x="137511" y="124110"/>
                </a:cubicBezTo>
                <a:lnTo>
                  <a:pt x="93511" y="168110"/>
                </a:lnTo>
                <a:lnTo>
                  <a:pt x="93511" y="13359"/>
                </a:lnTo>
                <a:cubicBezTo>
                  <a:pt x="93511" y="5970"/>
                  <a:pt x="87541" y="0"/>
                  <a:pt x="80152" y="0"/>
                </a:cubicBezTo>
                <a:cubicBezTo>
                  <a:pt x="72763" y="0"/>
                  <a:pt x="66793" y="5970"/>
                  <a:pt x="66793" y="13359"/>
                </a:cubicBezTo>
                <a:lnTo>
                  <a:pt x="66793" y="168110"/>
                </a:lnTo>
                <a:lnTo>
                  <a:pt x="22793" y="124110"/>
                </a:lnTo>
                <a:cubicBezTo>
                  <a:pt x="17575" y="118892"/>
                  <a:pt x="9101" y="118892"/>
                  <a:pt x="3882" y="124110"/>
                </a:cubicBezTo>
                <a:cubicBezTo>
                  <a:pt x="-1336" y="129328"/>
                  <a:pt x="-1336" y="137803"/>
                  <a:pt x="3882" y="143021"/>
                </a:cubicBezTo>
                <a:lnTo>
                  <a:pt x="70676" y="209814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21" name="Text 19"/>
          <p:cNvSpPr/>
          <p:nvPr/>
        </p:nvSpPr>
        <p:spPr>
          <a:xfrm>
            <a:off x="652793" y="5606852"/>
            <a:ext cx="2333312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2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Overall Accuracy</a:t>
            </a:r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630529" y="5820591"/>
            <a:ext cx="2377841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83" b="1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72% → 68%</a:t>
            </a:r>
            <a:endParaRPr lang="en-US" sz="1600"/>
          </a:p>
        </p:txBody>
      </p:sp>
      <p:sp>
        <p:nvSpPr>
          <p:cNvPr id="23" name="Shape 21"/>
          <p:cNvSpPr/>
          <p:nvPr/>
        </p:nvSpPr>
        <p:spPr>
          <a:xfrm>
            <a:off x="3243593" y="5179375"/>
            <a:ext cx="2555956" cy="1068692"/>
          </a:xfrm>
          <a:custGeom>
            <a:avLst/>
            <a:gdLst/>
            <a:ahLst/>
            <a:cxnLst/>
            <a:rect l="l" t="t" r="r" b="b"/>
            <a:pathLst>
              <a:path w="2555956" h="1068692">
                <a:moveTo>
                  <a:pt x="71250" y="0"/>
                </a:moveTo>
                <a:lnTo>
                  <a:pt x="2484706" y="0"/>
                </a:lnTo>
                <a:cubicBezTo>
                  <a:pt x="2524057" y="0"/>
                  <a:pt x="2555956" y="31900"/>
                  <a:pt x="2555956" y="71250"/>
                </a:cubicBezTo>
                <a:lnTo>
                  <a:pt x="2555956" y="997443"/>
                </a:lnTo>
                <a:cubicBezTo>
                  <a:pt x="2555956" y="1036767"/>
                  <a:pt x="2524030" y="1068692"/>
                  <a:pt x="2484706" y="1068692"/>
                </a:cubicBezTo>
                <a:lnTo>
                  <a:pt x="71250" y="1068692"/>
                </a:lnTo>
                <a:cubicBezTo>
                  <a:pt x="31900" y="1068692"/>
                  <a:pt x="0" y="1036793"/>
                  <a:pt x="0" y="997443"/>
                </a:cubicBezTo>
                <a:lnTo>
                  <a:pt x="0" y="71250"/>
                </a:lnTo>
                <a:cubicBezTo>
                  <a:pt x="0" y="31926"/>
                  <a:pt x="31926" y="0"/>
                  <a:pt x="71250" y="0"/>
                </a:cubicBezTo>
                <a:close/>
              </a:path>
            </a:pathLst>
          </a:custGeom>
          <a:solidFill>
            <a:srgbClr val="86868B">
              <a:alpha val="1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443312" y="5321868"/>
            <a:ext cx="160304" cy="213738"/>
          </a:xfrm>
          <a:custGeom>
            <a:avLst/>
            <a:gdLst/>
            <a:ahLst/>
            <a:cxnLst/>
            <a:rect l="l" t="t" r="r" b="b"/>
            <a:pathLst>
              <a:path w="160304" h="213738">
                <a:moveTo>
                  <a:pt x="70717" y="209814"/>
                </a:moveTo>
                <a:cubicBezTo>
                  <a:pt x="75936" y="215033"/>
                  <a:pt x="84410" y="215033"/>
                  <a:pt x="89628" y="209814"/>
                </a:cubicBezTo>
                <a:lnTo>
                  <a:pt x="156422" y="143021"/>
                </a:lnTo>
                <a:cubicBezTo>
                  <a:pt x="161640" y="137803"/>
                  <a:pt x="161640" y="129328"/>
                  <a:pt x="156422" y="124110"/>
                </a:cubicBezTo>
                <a:cubicBezTo>
                  <a:pt x="151203" y="118892"/>
                  <a:pt x="142729" y="118892"/>
                  <a:pt x="137511" y="124110"/>
                </a:cubicBezTo>
                <a:lnTo>
                  <a:pt x="93511" y="168110"/>
                </a:lnTo>
                <a:lnTo>
                  <a:pt x="93511" y="13359"/>
                </a:lnTo>
                <a:cubicBezTo>
                  <a:pt x="93511" y="5970"/>
                  <a:pt x="87541" y="0"/>
                  <a:pt x="80152" y="0"/>
                </a:cubicBezTo>
                <a:cubicBezTo>
                  <a:pt x="72763" y="0"/>
                  <a:pt x="66793" y="5970"/>
                  <a:pt x="66793" y="13359"/>
                </a:cubicBezTo>
                <a:lnTo>
                  <a:pt x="66793" y="168110"/>
                </a:lnTo>
                <a:lnTo>
                  <a:pt x="22793" y="124110"/>
                </a:lnTo>
                <a:cubicBezTo>
                  <a:pt x="17575" y="118892"/>
                  <a:pt x="9101" y="118892"/>
                  <a:pt x="3882" y="124110"/>
                </a:cubicBezTo>
                <a:cubicBezTo>
                  <a:pt x="-1336" y="129328"/>
                  <a:pt x="-1336" y="137803"/>
                  <a:pt x="3882" y="143021"/>
                </a:cubicBezTo>
                <a:lnTo>
                  <a:pt x="70676" y="209814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25" name="Text 23"/>
          <p:cNvSpPr/>
          <p:nvPr/>
        </p:nvSpPr>
        <p:spPr>
          <a:xfrm>
            <a:off x="3354915" y="5606852"/>
            <a:ext cx="2333312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2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Medium Class F1</a:t>
            </a:r>
            <a:endParaRPr lang="en-US" sz="1600"/>
          </a:p>
        </p:txBody>
      </p:sp>
      <p:sp>
        <p:nvSpPr>
          <p:cNvPr id="26" name="Text 24"/>
          <p:cNvSpPr/>
          <p:nvPr/>
        </p:nvSpPr>
        <p:spPr>
          <a:xfrm>
            <a:off x="3332651" y="5820591"/>
            <a:ext cx="2377841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83" b="1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0.68 → 0.59</a:t>
            </a:r>
            <a:endParaRPr lang="en-US" sz="1600"/>
          </a:p>
        </p:txBody>
      </p:sp>
      <p:sp>
        <p:nvSpPr>
          <p:cNvPr id="27" name="Shape 25"/>
          <p:cNvSpPr/>
          <p:nvPr/>
        </p:nvSpPr>
        <p:spPr>
          <a:xfrm>
            <a:off x="1490603" y="6383324"/>
            <a:ext cx="124681" cy="124681"/>
          </a:xfrm>
          <a:custGeom>
            <a:avLst/>
            <a:gdLst/>
            <a:ahLst/>
            <a:cxnLst/>
            <a:rect l="l" t="t" r="r" b="b"/>
            <a:pathLst>
              <a:path w="124681" h="124681">
                <a:moveTo>
                  <a:pt x="62340" y="124681"/>
                </a:moveTo>
                <a:cubicBezTo>
                  <a:pt x="96747" y="124681"/>
                  <a:pt x="124681" y="96747"/>
                  <a:pt x="124681" y="62340"/>
                </a:cubicBezTo>
                <a:cubicBezTo>
                  <a:pt x="124681" y="27934"/>
                  <a:pt x="96747" y="0"/>
                  <a:pt x="62340" y="0"/>
                </a:cubicBezTo>
                <a:cubicBezTo>
                  <a:pt x="27934" y="0"/>
                  <a:pt x="0" y="27934"/>
                  <a:pt x="0" y="62340"/>
                </a:cubicBezTo>
                <a:cubicBezTo>
                  <a:pt x="0" y="96747"/>
                  <a:pt x="27934" y="124681"/>
                  <a:pt x="62340" y="124681"/>
                </a:cubicBezTo>
                <a:close/>
                <a:moveTo>
                  <a:pt x="54548" y="38963"/>
                </a:moveTo>
                <a:cubicBezTo>
                  <a:pt x="54548" y="34662"/>
                  <a:pt x="58040" y="31170"/>
                  <a:pt x="62340" y="31170"/>
                </a:cubicBezTo>
                <a:cubicBezTo>
                  <a:pt x="66641" y="31170"/>
                  <a:pt x="70133" y="34662"/>
                  <a:pt x="70133" y="38963"/>
                </a:cubicBezTo>
                <a:cubicBezTo>
                  <a:pt x="70133" y="43264"/>
                  <a:pt x="66641" y="46755"/>
                  <a:pt x="62340" y="46755"/>
                </a:cubicBezTo>
                <a:cubicBezTo>
                  <a:pt x="58040" y="46755"/>
                  <a:pt x="54548" y="43264"/>
                  <a:pt x="54548" y="38963"/>
                </a:cubicBezTo>
                <a:close/>
                <a:moveTo>
                  <a:pt x="52600" y="54548"/>
                </a:moveTo>
                <a:lnTo>
                  <a:pt x="64289" y="54548"/>
                </a:lnTo>
                <a:cubicBezTo>
                  <a:pt x="67527" y="54548"/>
                  <a:pt x="70133" y="57153"/>
                  <a:pt x="70133" y="60392"/>
                </a:cubicBezTo>
                <a:lnTo>
                  <a:pt x="70133" y="81822"/>
                </a:lnTo>
                <a:lnTo>
                  <a:pt x="72081" y="81822"/>
                </a:lnTo>
                <a:cubicBezTo>
                  <a:pt x="75320" y="81822"/>
                  <a:pt x="77925" y="84427"/>
                  <a:pt x="77925" y="87666"/>
                </a:cubicBezTo>
                <a:cubicBezTo>
                  <a:pt x="77925" y="90905"/>
                  <a:pt x="75320" y="93511"/>
                  <a:pt x="72081" y="93511"/>
                </a:cubicBezTo>
                <a:lnTo>
                  <a:pt x="52600" y="93511"/>
                </a:lnTo>
                <a:cubicBezTo>
                  <a:pt x="49361" y="93511"/>
                  <a:pt x="46755" y="90905"/>
                  <a:pt x="46755" y="87666"/>
                </a:cubicBezTo>
                <a:cubicBezTo>
                  <a:pt x="46755" y="84427"/>
                  <a:pt x="49361" y="81822"/>
                  <a:pt x="52600" y="81822"/>
                </a:cubicBezTo>
                <a:lnTo>
                  <a:pt x="58444" y="81822"/>
                </a:lnTo>
                <a:lnTo>
                  <a:pt x="58444" y="66237"/>
                </a:lnTo>
                <a:lnTo>
                  <a:pt x="52600" y="66237"/>
                </a:lnTo>
                <a:cubicBezTo>
                  <a:pt x="49361" y="66237"/>
                  <a:pt x="46755" y="63631"/>
                  <a:pt x="46755" y="60392"/>
                </a:cubicBezTo>
                <a:cubicBezTo>
                  <a:pt x="46755" y="57153"/>
                  <a:pt x="49361" y="54548"/>
                  <a:pt x="52600" y="54548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28" name="Text 26"/>
          <p:cNvSpPr/>
          <p:nvPr/>
        </p:nvSpPr>
        <p:spPr>
          <a:xfrm>
            <a:off x="695585" y="6354824"/>
            <a:ext cx="5140367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2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weighting addresses 10% high-cost group imbalance</a:t>
            </a:r>
            <a:endParaRPr lang="en-US" sz="1600"/>
          </a:p>
        </p:txBody>
      </p:sp>
      <p:sp>
        <p:nvSpPr>
          <p:cNvPr id="29" name="Shape 27"/>
          <p:cNvSpPr/>
          <p:nvPr/>
        </p:nvSpPr>
        <p:spPr>
          <a:xfrm>
            <a:off x="6202313" y="1139939"/>
            <a:ext cx="5628447" cy="3704801"/>
          </a:xfrm>
          <a:custGeom>
            <a:avLst/>
            <a:gdLst/>
            <a:ahLst/>
            <a:cxnLst/>
            <a:rect l="l" t="t" r="r" b="b"/>
            <a:pathLst>
              <a:path w="5628447" h="3704801">
                <a:moveTo>
                  <a:pt x="106883" y="0"/>
                </a:moveTo>
                <a:lnTo>
                  <a:pt x="5521564" y="0"/>
                </a:lnTo>
                <a:cubicBezTo>
                  <a:pt x="5580594" y="0"/>
                  <a:pt x="5628447" y="47853"/>
                  <a:pt x="5628447" y="106883"/>
                </a:cubicBezTo>
                <a:lnTo>
                  <a:pt x="5628447" y="3597917"/>
                </a:lnTo>
                <a:cubicBezTo>
                  <a:pt x="5628447" y="3656947"/>
                  <a:pt x="5580594" y="3704801"/>
                  <a:pt x="5521564" y="3704801"/>
                </a:cubicBezTo>
                <a:lnTo>
                  <a:pt x="106883" y="3704801"/>
                </a:lnTo>
                <a:cubicBezTo>
                  <a:pt x="47853" y="3704801"/>
                  <a:pt x="0" y="3656947"/>
                  <a:pt x="0" y="3597917"/>
                </a:cubicBezTo>
                <a:lnTo>
                  <a:pt x="0" y="106883"/>
                </a:lnTo>
                <a:cubicBezTo>
                  <a:pt x="0" y="47893"/>
                  <a:pt x="47893" y="0"/>
                  <a:pt x="106883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0" name="Text 28"/>
          <p:cNvSpPr/>
          <p:nvPr/>
        </p:nvSpPr>
        <p:spPr>
          <a:xfrm>
            <a:off x="6416051" y="1353677"/>
            <a:ext cx="5290028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2" b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 Decision</a:t>
            </a:r>
            <a:endParaRPr lang="en-US" sz="1600"/>
          </a:p>
        </p:txBody>
      </p:sp>
      <p:sp>
        <p:nvSpPr>
          <p:cNvPr id="31" name="Text 29"/>
          <p:cNvSpPr/>
          <p:nvPr/>
        </p:nvSpPr>
        <p:spPr>
          <a:xfrm>
            <a:off x="6416051" y="1745531"/>
            <a:ext cx="5272216" cy="69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2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Although the standard XGBoost model achieved the highest overall accuracy (~72%), it </a:t>
            </a:r>
            <a:r>
              <a:rPr lang="en-US" sz="1122" b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underperformed in identifying high-cost patients</a:t>
            </a:r>
            <a:r>
              <a:rPr lang="en-US" sz="1122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which represent the most critical segment in healthcare expenditure analysis.</a:t>
            </a:r>
            <a:endParaRPr lang="en-US" sz="1600"/>
          </a:p>
        </p:txBody>
      </p:sp>
      <p:sp>
        <p:nvSpPr>
          <p:cNvPr id="32" name="Text 30"/>
          <p:cNvSpPr/>
          <p:nvPr/>
        </p:nvSpPr>
        <p:spPr>
          <a:xfrm>
            <a:off x="6416051" y="2582673"/>
            <a:ext cx="5272216" cy="92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2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 address this limitation, a </a:t>
            </a:r>
            <a:r>
              <a:rPr lang="en-US" sz="1122" b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class-weighted XGBoost model</a:t>
            </a:r>
            <a:r>
              <a:rPr lang="en-US" sz="1122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was implemented to account for class imbalance. While this resulted in a reduction in overall accuracy (~68%), it </a:t>
            </a:r>
            <a:r>
              <a:rPr lang="en-US" sz="1122" b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significantly improved the F1-score for the high-cost class from 0.32 to 0.46</a:t>
            </a:r>
            <a:r>
              <a:rPr lang="en-US" sz="1122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/>
          </a:p>
        </p:txBody>
      </p:sp>
      <p:sp>
        <p:nvSpPr>
          <p:cNvPr id="33" name="Shape 31"/>
          <p:cNvSpPr/>
          <p:nvPr/>
        </p:nvSpPr>
        <p:spPr>
          <a:xfrm>
            <a:off x="6416051" y="3651366"/>
            <a:ext cx="5200970" cy="979635"/>
          </a:xfrm>
          <a:custGeom>
            <a:avLst/>
            <a:gdLst/>
            <a:ahLst/>
            <a:cxnLst/>
            <a:rect l="l" t="t" r="r" b="b"/>
            <a:pathLst>
              <a:path w="5200970" h="979635">
                <a:moveTo>
                  <a:pt x="71249" y="0"/>
                </a:moveTo>
                <a:lnTo>
                  <a:pt x="5129721" y="0"/>
                </a:lnTo>
                <a:cubicBezTo>
                  <a:pt x="5169071" y="0"/>
                  <a:pt x="5200970" y="31899"/>
                  <a:pt x="5200970" y="71249"/>
                </a:cubicBezTo>
                <a:lnTo>
                  <a:pt x="5200970" y="908386"/>
                </a:lnTo>
                <a:cubicBezTo>
                  <a:pt x="5200970" y="947736"/>
                  <a:pt x="5169071" y="979635"/>
                  <a:pt x="5129721" y="979635"/>
                </a:cubicBezTo>
                <a:lnTo>
                  <a:pt x="71249" y="979635"/>
                </a:lnTo>
                <a:cubicBezTo>
                  <a:pt x="31899" y="979635"/>
                  <a:pt x="0" y="947736"/>
                  <a:pt x="0" y="908386"/>
                </a:cubicBezTo>
                <a:lnTo>
                  <a:pt x="0" y="71249"/>
                </a:lnTo>
                <a:cubicBezTo>
                  <a:pt x="0" y="31926"/>
                  <a:pt x="31926" y="0"/>
                  <a:pt x="7124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558543" y="3793858"/>
            <a:ext cx="4987232" cy="69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2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Given the objective of </a:t>
            </a:r>
            <a:r>
              <a:rPr lang="en-US" sz="1122" b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early identification of high-expenditure individuals</a:t>
            </a:r>
            <a:r>
              <a:rPr lang="en-US" sz="1122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targeted intervention, the weighted XGBoost model was selected as the final model, as it better aligns with the practical and policy-driven goals of the study.</a:t>
            </a:r>
            <a:endParaRPr lang="en-US" sz="1600"/>
          </a:p>
        </p:txBody>
      </p:sp>
      <p:sp>
        <p:nvSpPr>
          <p:cNvPr id="35" name="Shape 33"/>
          <p:cNvSpPr/>
          <p:nvPr/>
        </p:nvSpPr>
        <p:spPr>
          <a:xfrm>
            <a:off x="6205875" y="4990794"/>
            <a:ext cx="1797185" cy="897702"/>
          </a:xfrm>
          <a:custGeom>
            <a:avLst/>
            <a:gdLst/>
            <a:ahLst/>
            <a:cxnLst/>
            <a:rect l="l" t="t" r="r" b="b"/>
            <a:pathLst>
              <a:path w="1797185" h="897702">
                <a:moveTo>
                  <a:pt x="71251" y="0"/>
                </a:moveTo>
                <a:lnTo>
                  <a:pt x="1725934" y="0"/>
                </a:lnTo>
                <a:cubicBezTo>
                  <a:pt x="1765285" y="0"/>
                  <a:pt x="1797185" y="31900"/>
                  <a:pt x="1797185" y="71251"/>
                </a:cubicBezTo>
                <a:lnTo>
                  <a:pt x="1797185" y="826451"/>
                </a:lnTo>
                <a:cubicBezTo>
                  <a:pt x="1797185" y="865802"/>
                  <a:pt x="1765285" y="897702"/>
                  <a:pt x="1725934" y="897702"/>
                </a:cubicBezTo>
                <a:lnTo>
                  <a:pt x="71251" y="897702"/>
                </a:lnTo>
                <a:cubicBezTo>
                  <a:pt x="31926" y="897702"/>
                  <a:pt x="0" y="865775"/>
                  <a:pt x="0" y="826451"/>
                </a:cubicBezTo>
                <a:lnTo>
                  <a:pt x="0" y="71251"/>
                </a:lnTo>
                <a:cubicBezTo>
                  <a:pt x="0" y="31926"/>
                  <a:pt x="31926" y="0"/>
                  <a:pt x="7125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05168" y="5136847"/>
            <a:ext cx="200380" cy="178115"/>
          </a:xfrm>
          <a:custGeom>
            <a:avLst/>
            <a:gdLst/>
            <a:ahLst/>
            <a:cxnLst/>
            <a:rect l="l" t="t" r="r" b="b"/>
            <a:pathLst>
              <a:path w="200380" h="178115">
                <a:moveTo>
                  <a:pt x="107669" y="-6575"/>
                </a:moveTo>
                <a:cubicBezTo>
                  <a:pt x="106243" y="-9358"/>
                  <a:pt x="103356" y="-11132"/>
                  <a:pt x="100225" y="-11132"/>
                </a:cubicBezTo>
                <a:cubicBezTo>
                  <a:pt x="97094" y="-11132"/>
                  <a:pt x="94206" y="-9358"/>
                  <a:pt x="92780" y="-6575"/>
                </a:cubicBezTo>
                <a:lnTo>
                  <a:pt x="67176" y="43590"/>
                </a:lnTo>
                <a:lnTo>
                  <a:pt x="11550" y="52426"/>
                </a:lnTo>
                <a:cubicBezTo>
                  <a:pt x="8454" y="52913"/>
                  <a:pt x="5879" y="55104"/>
                  <a:pt x="4905" y="58096"/>
                </a:cubicBezTo>
                <a:cubicBezTo>
                  <a:pt x="3931" y="61088"/>
                  <a:pt x="4731" y="64358"/>
                  <a:pt x="6923" y="66585"/>
                </a:cubicBezTo>
                <a:lnTo>
                  <a:pt x="46721" y="106417"/>
                </a:lnTo>
                <a:lnTo>
                  <a:pt x="37954" y="162043"/>
                </a:lnTo>
                <a:cubicBezTo>
                  <a:pt x="37467" y="165139"/>
                  <a:pt x="38754" y="168270"/>
                  <a:pt x="41294" y="170114"/>
                </a:cubicBezTo>
                <a:cubicBezTo>
                  <a:pt x="43833" y="171958"/>
                  <a:pt x="47173" y="172236"/>
                  <a:pt x="49991" y="170810"/>
                </a:cubicBezTo>
                <a:lnTo>
                  <a:pt x="100225" y="145275"/>
                </a:lnTo>
                <a:lnTo>
                  <a:pt x="150424" y="170810"/>
                </a:lnTo>
                <a:cubicBezTo>
                  <a:pt x="153207" y="172236"/>
                  <a:pt x="156582" y="171958"/>
                  <a:pt x="159121" y="170114"/>
                </a:cubicBezTo>
                <a:cubicBezTo>
                  <a:pt x="161661" y="168270"/>
                  <a:pt x="162948" y="165174"/>
                  <a:pt x="162461" y="162043"/>
                </a:cubicBezTo>
                <a:lnTo>
                  <a:pt x="153659" y="106417"/>
                </a:lnTo>
                <a:lnTo>
                  <a:pt x="193457" y="66585"/>
                </a:lnTo>
                <a:cubicBezTo>
                  <a:pt x="195683" y="64358"/>
                  <a:pt x="196449" y="61088"/>
                  <a:pt x="195475" y="58096"/>
                </a:cubicBezTo>
                <a:cubicBezTo>
                  <a:pt x="194501" y="55104"/>
                  <a:pt x="191961" y="52913"/>
                  <a:pt x="188830" y="52426"/>
                </a:cubicBezTo>
                <a:lnTo>
                  <a:pt x="133239" y="43590"/>
                </a:lnTo>
                <a:lnTo>
                  <a:pt x="107669" y="-6575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7" name="Text 35"/>
          <p:cNvSpPr/>
          <p:nvPr/>
        </p:nvSpPr>
        <p:spPr>
          <a:xfrm>
            <a:off x="6320759" y="5386208"/>
            <a:ext cx="1567416" cy="356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2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Weighted XGBoost Selected</a:t>
            </a:r>
            <a:endParaRPr lang="en-US" sz="1600"/>
          </a:p>
        </p:txBody>
      </p:sp>
      <p:sp>
        <p:nvSpPr>
          <p:cNvPr id="38" name="Shape 36"/>
          <p:cNvSpPr/>
          <p:nvPr/>
        </p:nvSpPr>
        <p:spPr>
          <a:xfrm>
            <a:off x="8118946" y="4990794"/>
            <a:ext cx="1797185" cy="897702"/>
          </a:xfrm>
          <a:custGeom>
            <a:avLst/>
            <a:gdLst/>
            <a:ahLst/>
            <a:cxnLst/>
            <a:rect l="l" t="t" r="r" b="b"/>
            <a:pathLst>
              <a:path w="1797185" h="897702">
                <a:moveTo>
                  <a:pt x="71251" y="0"/>
                </a:moveTo>
                <a:lnTo>
                  <a:pt x="1725934" y="0"/>
                </a:lnTo>
                <a:cubicBezTo>
                  <a:pt x="1765285" y="0"/>
                  <a:pt x="1797185" y="31900"/>
                  <a:pt x="1797185" y="71251"/>
                </a:cubicBezTo>
                <a:lnTo>
                  <a:pt x="1797185" y="826451"/>
                </a:lnTo>
                <a:cubicBezTo>
                  <a:pt x="1797185" y="865802"/>
                  <a:pt x="1765285" y="897702"/>
                  <a:pt x="1725934" y="897702"/>
                </a:cubicBezTo>
                <a:lnTo>
                  <a:pt x="71251" y="897702"/>
                </a:lnTo>
                <a:cubicBezTo>
                  <a:pt x="31926" y="897702"/>
                  <a:pt x="0" y="865775"/>
                  <a:pt x="0" y="826451"/>
                </a:cubicBezTo>
                <a:lnTo>
                  <a:pt x="0" y="71251"/>
                </a:lnTo>
                <a:cubicBezTo>
                  <a:pt x="0" y="31926"/>
                  <a:pt x="31926" y="0"/>
                  <a:pt x="7125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929371" y="5136847"/>
            <a:ext cx="178115" cy="178115"/>
          </a:xfrm>
          <a:custGeom>
            <a:avLst/>
            <a:gdLst/>
            <a:ahLst/>
            <a:cxnLst/>
            <a:rect l="l" t="t" r="r" b="b"/>
            <a:pathLst>
              <a:path w="178115" h="178115">
                <a:moveTo>
                  <a:pt x="155851" y="89058"/>
                </a:moveTo>
                <a:cubicBezTo>
                  <a:pt x="155851" y="52193"/>
                  <a:pt x="125922" y="22264"/>
                  <a:pt x="89058" y="22264"/>
                </a:cubicBezTo>
                <a:cubicBezTo>
                  <a:pt x="52193" y="22264"/>
                  <a:pt x="22264" y="52193"/>
                  <a:pt x="22264" y="89058"/>
                </a:cubicBezTo>
                <a:cubicBezTo>
                  <a:pt x="22264" y="125922"/>
                  <a:pt x="52193" y="155851"/>
                  <a:pt x="89058" y="155851"/>
                </a:cubicBezTo>
                <a:cubicBezTo>
                  <a:pt x="125922" y="155851"/>
                  <a:pt x="155851" y="125922"/>
                  <a:pt x="155851" y="89058"/>
                </a:cubicBezTo>
                <a:close/>
                <a:moveTo>
                  <a:pt x="0" y="89058"/>
                </a:moveTo>
                <a:cubicBezTo>
                  <a:pt x="0" y="39905"/>
                  <a:pt x="39905" y="0"/>
                  <a:pt x="89058" y="0"/>
                </a:cubicBezTo>
                <a:cubicBezTo>
                  <a:pt x="138210" y="0"/>
                  <a:pt x="178115" y="39905"/>
                  <a:pt x="178115" y="89058"/>
                </a:cubicBezTo>
                <a:cubicBezTo>
                  <a:pt x="178115" y="138210"/>
                  <a:pt x="138210" y="178115"/>
                  <a:pt x="89058" y="178115"/>
                </a:cubicBezTo>
                <a:cubicBezTo>
                  <a:pt x="39905" y="178115"/>
                  <a:pt x="0" y="138210"/>
                  <a:pt x="0" y="89058"/>
                </a:cubicBezTo>
                <a:close/>
                <a:moveTo>
                  <a:pt x="89058" y="116888"/>
                </a:moveTo>
                <a:cubicBezTo>
                  <a:pt x="104418" y="116888"/>
                  <a:pt x="116888" y="104418"/>
                  <a:pt x="116888" y="89058"/>
                </a:cubicBezTo>
                <a:cubicBezTo>
                  <a:pt x="116888" y="73698"/>
                  <a:pt x="104418" y="61227"/>
                  <a:pt x="89058" y="61227"/>
                </a:cubicBezTo>
                <a:cubicBezTo>
                  <a:pt x="73698" y="61227"/>
                  <a:pt x="61227" y="73698"/>
                  <a:pt x="61227" y="89058"/>
                </a:cubicBezTo>
                <a:cubicBezTo>
                  <a:pt x="61227" y="104418"/>
                  <a:pt x="73698" y="116888"/>
                  <a:pt x="89058" y="116888"/>
                </a:cubicBezTo>
                <a:close/>
                <a:moveTo>
                  <a:pt x="89058" y="38963"/>
                </a:moveTo>
                <a:cubicBezTo>
                  <a:pt x="116706" y="38963"/>
                  <a:pt x="139153" y="61410"/>
                  <a:pt x="139153" y="89058"/>
                </a:cubicBezTo>
                <a:cubicBezTo>
                  <a:pt x="139153" y="116706"/>
                  <a:pt x="116706" y="139153"/>
                  <a:pt x="89058" y="139153"/>
                </a:cubicBezTo>
                <a:cubicBezTo>
                  <a:pt x="61410" y="139153"/>
                  <a:pt x="38963" y="116706"/>
                  <a:pt x="38963" y="89058"/>
                </a:cubicBezTo>
                <a:cubicBezTo>
                  <a:pt x="38963" y="61410"/>
                  <a:pt x="61410" y="38963"/>
                  <a:pt x="89058" y="38963"/>
                </a:cubicBezTo>
                <a:close/>
                <a:moveTo>
                  <a:pt x="77925" y="89058"/>
                </a:moveTo>
                <a:cubicBezTo>
                  <a:pt x="77925" y="82914"/>
                  <a:pt x="82914" y="77925"/>
                  <a:pt x="89058" y="77925"/>
                </a:cubicBezTo>
                <a:cubicBezTo>
                  <a:pt x="95202" y="77925"/>
                  <a:pt x="100190" y="82914"/>
                  <a:pt x="100190" y="89058"/>
                </a:cubicBezTo>
                <a:cubicBezTo>
                  <a:pt x="100190" y="95202"/>
                  <a:pt x="95202" y="100190"/>
                  <a:pt x="89058" y="100190"/>
                </a:cubicBezTo>
                <a:cubicBezTo>
                  <a:pt x="82914" y="100190"/>
                  <a:pt x="77925" y="95202"/>
                  <a:pt x="77925" y="89058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0" name="Text 38"/>
          <p:cNvSpPr/>
          <p:nvPr/>
        </p:nvSpPr>
        <p:spPr>
          <a:xfrm>
            <a:off x="8233830" y="5386208"/>
            <a:ext cx="1567416" cy="356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2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Better Real-World Objective</a:t>
            </a:r>
            <a:endParaRPr lang="en-US" sz="1600"/>
          </a:p>
        </p:txBody>
      </p:sp>
      <p:sp>
        <p:nvSpPr>
          <p:cNvPr id="41" name="Shape 39"/>
          <p:cNvSpPr/>
          <p:nvPr/>
        </p:nvSpPr>
        <p:spPr>
          <a:xfrm>
            <a:off x="10032017" y="4990794"/>
            <a:ext cx="1797185" cy="897702"/>
          </a:xfrm>
          <a:custGeom>
            <a:avLst/>
            <a:gdLst/>
            <a:ahLst/>
            <a:cxnLst/>
            <a:rect l="l" t="t" r="r" b="b"/>
            <a:pathLst>
              <a:path w="1797185" h="897702">
                <a:moveTo>
                  <a:pt x="71251" y="0"/>
                </a:moveTo>
                <a:lnTo>
                  <a:pt x="1725934" y="0"/>
                </a:lnTo>
                <a:cubicBezTo>
                  <a:pt x="1765285" y="0"/>
                  <a:pt x="1797185" y="31900"/>
                  <a:pt x="1797185" y="71251"/>
                </a:cubicBezTo>
                <a:lnTo>
                  <a:pt x="1797185" y="826451"/>
                </a:lnTo>
                <a:cubicBezTo>
                  <a:pt x="1797185" y="865802"/>
                  <a:pt x="1765285" y="897702"/>
                  <a:pt x="1725934" y="897702"/>
                </a:cubicBezTo>
                <a:lnTo>
                  <a:pt x="71251" y="897702"/>
                </a:lnTo>
                <a:cubicBezTo>
                  <a:pt x="31926" y="897702"/>
                  <a:pt x="0" y="865775"/>
                  <a:pt x="0" y="826451"/>
                </a:cubicBezTo>
                <a:lnTo>
                  <a:pt x="0" y="71251"/>
                </a:lnTo>
                <a:cubicBezTo>
                  <a:pt x="0" y="31926"/>
                  <a:pt x="31926" y="0"/>
                  <a:pt x="7125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842442" y="5136847"/>
            <a:ext cx="178115" cy="178115"/>
          </a:xfrm>
          <a:custGeom>
            <a:avLst/>
            <a:gdLst/>
            <a:ahLst/>
            <a:cxnLst/>
            <a:rect l="l" t="t" r="r" b="b"/>
            <a:pathLst>
              <a:path w="178115" h="178115">
                <a:moveTo>
                  <a:pt x="50199" y="0"/>
                </a:moveTo>
                <a:lnTo>
                  <a:pt x="128125" y="0"/>
                </a:lnTo>
                <a:cubicBezTo>
                  <a:pt x="137344" y="0"/>
                  <a:pt x="144858" y="7584"/>
                  <a:pt x="144510" y="16768"/>
                </a:cubicBezTo>
                <a:cubicBezTo>
                  <a:pt x="144440" y="18612"/>
                  <a:pt x="144371" y="20455"/>
                  <a:pt x="144267" y="22264"/>
                </a:cubicBezTo>
                <a:lnTo>
                  <a:pt x="161521" y="22264"/>
                </a:lnTo>
                <a:cubicBezTo>
                  <a:pt x="170601" y="22264"/>
                  <a:pt x="178602" y="29779"/>
                  <a:pt x="177907" y="39589"/>
                </a:cubicBezTo>
                <a:cubicBezTo>
                  <a:pt x="175298" y="75664"/>
                  <a:pt x="156860" y="95494"/>
                  <a:pt x="136857" y="105860"/>
                </a:cubicBezTo>
                <a:cubicBezTo>
                  <a:pt x="131360" y="108713"/>
                  <a:pt x="125759" y="110835"/>
                  <a:pt x="120437" y="112401"/>
                </a:cubicBezTo>
                <a:cubicBezTo>
                  <a:pt x="113409" y="122350"/>
                  <a:pt x="106104" y="127603"/>
                  <a:pt x="100294" y="130421"/>
                </a:cubicBezTo>
                <a:lnTo>
                  <a:pt x="100294" y="155851"/>
                </a:lnTo>
                <a:lnTo>
                  <a:pt x="122559" y="155851"/>
                </a:lnTo>
                <a:cubicBezTo>
                  <a:pt x="128716" y="155851"/>
                  <a:pt x="133691" y="160826"/>
                  <a:pt x="133691" y="166983"/>
                </a:cubicBezTo>
                <a:cubicBezTo>
                  <a:pt x="133691" y="173141"/>
                  <a:pt x="128716" y="178115"/>
                  <a:pt x="122559" y="178115"/>
                </a:cubicBezTo>
                <a:lnTo>
                  <a:pt x="55765" y="178115"/>
                </a:lnTo>
                <a:cubicBezTo>
                  <a:pt x="49608" y="178115"/>
                  <a:pt x="44633" y="173141"/>
                  <a:pt x="44633" y="166983"/>
                </a:cubicBezTo>
                <a:cubicBezTo>
                  <a:pt x="44633" y="160826"/>
                  <a:pt x="49608" y="155851"/>
                  <a:pt x="55765" y="155851"/>
                </a:cubicBezTo>
                <a:lnTo>
                  <a:pt x="78030" y="155851"/>
                </a:lnTo>
                <a:lnTo>
                  <a:pt x="78030" y="130421"/>
                </a:lnTo>
                <a:cubicBezTo>
                  <a:pt x="72464" y="127742"/>
                  <a:pt x="65541" y="122767"/>
                  <a:pt x="58792" y="113618"/>
                </a:cubicBezTo>
                <a:cubicBezTo>
                  <a:pt x="52391" y="111948"/>
                  <a:pt x="45433" y="109409"/>
                  <a:pt x="38650" y="105582"/>
                </a:cubicBezTo>
                <a:cubicBezTo>
                  <a:pt x="19829" y="95041"/>
                  <a:pt x="2853" y="75177"/>
                  <a:pt x="417" y="39519"/>
                </a:cubicBezTo>
                <a:cubicBezTo>
                  <a:pt x="-244" y="29744"/>
                  <a:pt x="7723" y="22230"/>
                  <a:pt x="16803" y="22230"/>
                </a:cubicBezTo>
                <a:lnTo>
                  <a:pt x="34058" y="22230"/>
                </a:lnTo>
                <a:cubicBezTo>
                  <a:pt x="33953" y="20421"/>
                  <a:pt x="33884" y="18612"/>
                  <a:pt x="33814" y="16733"/>
                </a:cubicBezTo>
                <a:cubicBezTo>
                  <a:pt x="33466" y="7514"/>
                  <a:pt x="40980" y="-35"/>
                  <a:pt x="50199" y="-35"/>
                </a:cubicBezTo>
                <a:close/>
                <a:moveTo>
                  <a:pt x="35310" y="38963"/>
                </a:moveTo>
                <a:lnTo>
                  <a:pt x="17081" y="38963"/>
                </a:lnTo>
                <a:cubicBezTo>
                  <a:pt x="19238" y="68428"/>
                  <a:pt x="32770" y="83179"/>
                  <a:pt x="46721" y="91006"/>
                </a:cubicBezTo>
                <a:cubicBezTo>
                  <a:pt x="41711" y="78030"/>
                  <a:pt x="37571" y="61088"/>
                  <a:pt x="35310" y="38963"/>
                </a:cubicBezTo>
                <a:close/>
                <a:moveTo>
                  <a:pt x="132195" y="89336"/>
                </a:moveTo>
                <a:cubicBezTo>
                  <a:pt x="146284" y="81056"/>
                  <a:pt x="159017" y="66341"/>
                  <a:pt x="161174" y="38963"/>
                </a:cubicBezTo>
                <a:lnTo>
                  <a:pt x="142979" y="38963"/>
                </a:lnTo>
                <a:cubicBezTo>
                  <a:pt x="140822" y="60149"/>
                  <a:pt x="136926" y="76604"/>
                  <a:pt x="132195" y="89336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3" name="Text 41"/>
          <p:cNvSpPr/>
          <p:nvPr/>
        </p:nvSpPr>
        <p:spPr>
          <a:xfrm>
            <a:off x="10146902" y="5386208"/>
            <a:ext cx="1567416" cy="356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2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Prioritizes Impact Over Accuracy</a:t>
            </a:r>
            <a:endParaRPr lang="en-US" sz="160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5337" y="325337"/>
            <a:ext cx="11598260" cy="16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7" b="1" kern="0" spc="45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Predictive Modeling</a:t>
            </a:r>
            <a:endParaRPr lang="en-US" sz="1600"/>
          </a:p>
        </p:txBody>
      </p:sp>
      <p:sp>
        <p:nvSpPr>
          <p:cNvPr id="3" name="Text 1"/>
          <p:cNvSpPr/>
          <p:nvPr/>
        </p:nvSpPr>
        <p:spPr>
          <a:xfrm>
            <a:off x="325337" y="553073"/>
            <a:ext cx="11687728" cy="325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06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Importance Analysis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328590" y="1044331"/>
            <a:ext cx="5667369" cy="5480300"/>
          </a:xfrm>
          <a:custGeom>
            <a:avLst/>
            <a:gdLst/>
            <a:ahLst/>
            <a:cxnLst/>
            <a:rect l="l" t="t" r="r" b="b"/>
            <a:pathLst>
              <a:path w="5667369" h="5480300">
                <a:moveTo>
                  <a:pt x="97604" y="0"/>
                </a:moveTo>
                <a:lnTo>
                  <a:pt x="5569765" y="0"/>
                </a:lnTo>
                <a:cubicBezTo>
                  <a:pt x="5623670" y="0"/>
                  <a:pt x="5667369" y="43699"/>
                  <a:pt x="5667369" y="97604"/>
                </a:cubicBezTo>
                <a:lnTo>
                  <a:pt x="5667369" y="5382696"/>
                </a:lnTo>
                <a:cubicBezTo>
                  <a:pt x="5667369" y="5436601"/>
                  <a:pt x="5623670" y="5480300"/>
                  <a:pt x="5569765" y="5480300"/>
                </a:cubicBezTo>
                <a:lnTo>
                  <a:pt x="97604" y="5480300"/>
                </a:lnTo>
                <a:cubicBezTo>
                  <a:pt x="43699" y="5480300"/>
                  <a:pt x="0" y="5436601"/>
                  <a:pt x="0" y="5382696"/>
                </a:cubicBezTo>
                <a:lnTo>
                  <a:pt x="0" y="97604"/>
                </a:lnTo>
                <a:cubicBezTo>
                  <a:pt x="0" y="43699"/>
                  <a:pt x="43699" y="0"/>
                  <a:pt x="97604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4512" y="1210252"/>
            <a:ext cx="5408726" cy="22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Predictive Features</a:t>
            </a:r>
            <a:endParaRPr lang="en-US" sz="1600"/>
          </a:p>
        </p:txBody>
      </p:sp>
      <p:pic>
        <p:nvPicPr>
          <p:cNvPr id="6" name="Image 0" descr="https://kimi-img.moonshot.cn/pub/slides/26-03-26-18:32:17-d72gmcdkfv3ls22u8tf0.png"/>
          <p:cNvPicPr>
            <a:picLocks noChangeAspect="1"/>
          </p:cNvPicPr>
          <p:nvPr/>
        </p:nvPicPr>
        <p:blipFill>
          <a:blip r:embed="rId3"/>
          <a:srcRect t="37" b="37"/>
          <a:stretch/>
        </p:blipFill>
        <p:spPr>
          <a:xfrm>
            <a:off x="494512" y="1568122"/>
            <a:ext cx="4440849" cy="3904043"/>
          </a:xfrm>
          <a:prstGeom prst="roundRect">
            <a:avLst>
              <a:gd name="adj" fmla="val 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6195431" y="1044331"/>
            <a:ext cx="5667369" cy="4333487"/>
          </a:xfrm>
          <a:custGeom>
            <a:avLst/>
            <a:gdLst/>
            <a:ahLst/>
            <a:cxnLst/>
            <a:rect l="l" t="t" r="r" b="b"/>
            <a:pathLst>
              <a:path w="5667369" h="4333487">
                <a:moveTo>
                  <a:pt x="97590" y="0"/>
                </a:moveTo>
                <a:lnTo>
                  <a:pt x="5569779" y="0"/>
                </a:lnTo>
                <a:cubicBezTo>
                  <a:pt x="5623640" y="0"/>
                  <a:pt x="5667369" y="43729"/>
                  <a:pt x="5667369" y="97590"/>
                </a:cubicBezTo>
                <a:lnTo>
                  <a:pt x="5667369" y="4235897"/>
                </a:lnTo>
                <a:cubicBezTo>
                  <a:pt x="5667369" y="4289759"/>
                  <a:pt x="5623640" y="4333487"/>
                  <a:pt x="5569779" y="4333487"/>
                </a:cubicBezTo>
                <a:lnTo>
                  <a:pt x="97590" y="4333487"/>
                </a:lnTo>
                <a:cubicBezTo>
                  <a:pt x="43729" y="4333487"/>
                  <a:pt x="0" y="4289759"/>
                  <a:pt x="0" y="4235897"/>
                </a:cubicBezTo>
                <a:lnTo>
                  <a:pt x="0" y="97590"/>
                </a:lnTo>
                <a:cubicBezTo>
                  <a:pt x="0" y="43729"/>
                  <a:pt x="43729" y="0"/>
                  <a:pt x="97590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61353" y="1210252"/>
            <a:ext cx="5408726" cy="22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Drivers of Healthcare Expenditure</a:t>
            </a:r>
            <a:endParaRPr lang="en-US" sz="1600"/>
          </a:p>
        </p:txBody>
      </p:sp>
      <p:sp>
        <p:nvSpPr>
          <p:cNvPr id="9" name="Shape 6"/>
          <p:cNvSpPr/>
          <p:nvPr/>
        </p:nvSpPr>
        <p:spPr>
          <a:xfrm>
            <a:off x="6377620" y="1568122"/>
            <a:ext cx="5319258" cy="650674"/>
          </a:xfrm>
          <a:custGeom>
            <a:avLst/>
            <a:gdLst/>
            <a:ahLst/>
            <a:cxnLst/>
            <a:rect l="l" t="t" r="r" b="b"/>
            <a:pathLst>
              <a:path w="5319258" h="650674">
                <a:moveTo>
                  <a:pt x="32534" y="0"/>
                </a:moveTo>
                <a:lnTo>
                  <a:pt x="5254191" y="0"/>
                </a:lnTo>
                <a:cubicBezTo>
                  <a:pt x="5290102" y="0"/>
                  <a:pt x="5319258" y="29156"/>
                  <a:pt x="5319258" y="65067"/>
                </a:cubicBezTo>
                <a:lnTo>
                  <a:pt x="5319258" y="585606"/>
                </a:lnTo>
                <a:cubicBezTo>
                  <a:pt x="5319258" y="621542"/>
                  <a:pt x="5290127" y="650674"/>
                  <a:pt x="5254191" y="650674"/>
                </a:cubicBezTo>
                <a:lnTo>
                  <a:pt x="32534" y="650674"/>
                </a:lnTo>
                <a:cubicBezTo>
                  <a:pt x="14578" y="650674"/>
                  <a:pt x="0" y="636096"/>
                  <a:pt x="0" y="618140"/>
                </a:cubicBezTo>
                <a:lnTo>
                  <a:pt x="0" y="32534"/>
                </a:lnTo>
                <a:cubicBezTo>
                  <a:pt x="0" y="14566"/>
                  <a:pt x="14566" y="0"/>
                  <a:pt x="32534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377620" y="1568122"/>
            <a:ext cx="32534" cy="650674"/>
          </a:xfrm>
          <a:custGeom>
            <a:avLst/>
            <a:gdLst/>
            <a:ahLst/>
            <a:cxnLst/>
            <a:rect l="l" t="t" r="r" b="b"/>
            <a:pathLst>
              <a:path w="32534" h="650674">
                <a:moveTo>
                  <a:pt x="32534" y="0"/>
                </a:moveTo>
                <a:lnTo>
                  <a:pt x="32534" y="0"/>
                </a:lnTo>
                <a:lnTo>
                  <a:pt x="32534" y="650674"/>
                </a:lnTo>
                <a:lnTo>
                  <a:pt x="32534" y="650674"/>
                </a:lnTo>
                <a:cubicBezTo>
                  <a:pt x="14578" y="650674"/>
                  <a:pt x="0" y="636096"/>
                  <a:pt x="0" y="618140"/>
                </a:cubicBezTo>
                <a:lnTo>
                  <a:pt x="0" y="32534"/>
                </a:lnTo>
                <a:cubicBezTo>
                  <a:pt x="0" y="14566"/>
                  <a:pt x="14566" y="0"/>
                  <a:pt x="32534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1" name="Shape 8"/>
          <p:cNvSpPr/>
          <p:nvPr/>
        </p:nvSpPr>
        <p:spPr>
          <a:xfrm>
            <a:off x="6524021" y="1698257"/>
            <a:ext cx="325337" cy="325337"/>
          </a:xfrm>
          <a:custGeom>
            <a:avLst/>
            <a:gdLst/>
            <a:ahLst/>
            <a:cxnLst/>
            <a:rect l="l" t="t" r="r" b="b"/>
            <a:pathLst>
              <a:path w="325337" h="325337">
                <a:moveTo>
                  <a:pt x="65067" y="0"/>
                </a:moveTo>
                <a:lnTo>
                  <a:pt x="260270" y="0"/>
                </a:lnTo>
                <a:cubicBezTo>
                  <a:pt x="296181" y="0"/>
                  <a:pt x="325337" y="29156"/>
                  <a:pt x="325337" y="65067"/>
                </a:cubicBezTo>
                <a:lnTo>
                  <a:pt x="325337" y="260270"/>
                </a:lnTo>
                <a:cubicBezTo>
                  <a:pt x="325337" y="296205"/>
                  <a:pt x="296205" y="325337"/>
                  <a:pt x="260270" y="325337"/>
                </a:cubicBezTo>
                <a:lnTo>
                  <a:pt x="65067" y="325337"/>
                </a:lnTo>
                <a:cubicBezTo>
                  <a:pt x="29156" y="325337"/>
                  <a:pt x="0" y="296181"/>
                  <a:pt x="0" y="260270"/>
                </a:cubicBezTo>
                <a:lnTo>
                  <a:pt x="0" y="65067"/>
                </a:lnTo>
                <a:cubicBezTo>
                  <a:pt x="0" y="29132"/>
                  <a:pt x="29132" y="0"/>
                  <a:pt x="65067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2" name="Shape 9"/>
          <p:cNvSpPr/>
          <p:nvPr/>
        </p:nvSpPr>
        <p:spPr>
          <a:xfrm>
            <a:off x="6621622" y="1795858"/>
            <a:ext cx="130135" cy="130135"/>
          </a:xfrm>
          <a:custGeom>
            <a:avLst/>
            <a:gdLst/>
            <a:ahLst/>
            <a:cxnLst/>
            <a:rect l="l" t="t" r="r" b="b"/>
            <a:pathLst>
              <a:path w="130135" h="130135">
                <a:moveTo>
                  <a:pt x="32534" y="24400"/>
                </a:moveTo>
                <a:lnTo>
                  <a:pt x="32534" y="20334"/>
                </a:lnTo>
                <a:cubicBezTo>
                  <a:pt x="32534" y="9099"/>
                  <a:pt x="54392" y="0"/>
                  <a:pt x="81334" y="0"/>
                </a:cubicBezTo>
                <a:cubicBezTo>
                  <a:pt x="108276" y="0"/>
                  <a:pt x="130135" y="9099"/>
                  <a:pt x="130135" y="20334"/>
                </a:cubicBezTo>
                <a:lnTo>
                  <a:pt x="130135" y="24400"/>
                </a:lnTo>
                <a:cubicBezTo>
                  <a:pt x="130135" y="32178"/>
                  <a:pt x="119638" y="38939"/>
                  <a:pt x="104209" y="42370"/>
                </a:cubicBezTo>
                <a:cubicBezTo>
                  <a:pt x="103599" y="41658"/>
                  <a:pt x="102964" y="40972"/>
                  <a:pt x="102329" y="40337"/>
                </a:cubicBezTo>
                <a:cubicBezTo>
                  <a:pt x="98389" y="36448"/>
                  <a:pt x="93306" y="33500"/>
                  <a:pt x="87993" y="31314"/>
                </a:cubicBezTo>
                <a:cubicBezTo>
                  <a:pt x="77344" y="26866"/>
                  <a:pt x="63466" y="24426"/>
                  <a:pt x="48801" y="24426"/>
                </a:cubicBezTo>
                <a:cubicBezTo>
                  <a:pt x="43234" y="24426"/>
                  <a:pt x="37795" y="24782"/>
                  <a:pt x="32585" y="25468"/>
                </a:cubicBezTo>
                <a:cubicBezTo>
                  <a:pt x="32534" y="25137"/>
                  <a:pt x="32534" y="24782"/>
                  <a:pt x="32534" y="24426"/>
                </a:cubicBezTo>
                <a:close/>
                <a:moveTo>
                  <a:pt x="109801" y="89722"/>
                </a:moveTo>
                <a:lnTo>
                  <a:pt x="109801" y="77979"/>
                </a:lnTo>
                <a:cubicBezTo>
                  <a:pt x="113639" y="76988"/>
                  <a:pt x="117248" y="75819"/>
                  <a:pt x="120527" y="74446"/>
                </a:cubicBezTo>
                <a:cubicBezTo>
                  <a:pt x="123882" y="73048"/>
                  <a:pt x="127161" y="71345"/>
                  <a:pt x="130135" y="69287"/>
                </a:cubicBezTo>
                <a:lnTo>
                  <a:pt x="130135" y="73201"/>
                </a:lnTo>
                <a:cubicBezTo>
                  <a:pt x="130135" y="80013"/>
                  <a:pt x="122128" y="86036"/>
                  <a:pt x="109801" y="89722"/>
                </a:cubicBezTo>
                <a:close/>
                <a:moveTo>
                  <a:pt x="109801" y="65322"/>
                </a:moveTo>
                <a:lnTo>
                  <a:pt x="109801" y="56934"/>
                </a:lnTo>
                <a:cubicBezTo>
                  <a:pt x="109801" y="55790"/>
                  <a:pt x="109700" y="54697"/>
                  <a:pt x="109547" y="53630"/>
                </a:cubicBezTo>
                <a:cubicBezTo>
                  <a:pt x="113487" y="52638"/>
                  <a:pt x="117172" y="51444"/>
                  <a:pt x="120527" y="50021"/>
                </a:cubicBezTo>
                <a:cubicBezTo>
                  <a:pt x="123882" y="48597"/>
                  <a:pt x="127161" y="46920"/>
                  <a:pt x="130135" y="44861"/>
                </a:cubicBezTo>
                <a:lnTo>
                  <a:pt x="130135" y="48775"/>
                </a:lnTo>
                <a:cubicBezTo>
                  <a:pt x="130135" y="55587"/>
                  <a:pt x="122128" y="61611"/>
                  <a:pt x="109801" y="65296"/>
                </a:cubicBezTo>
                <a:close/>
                <a:moveTo>
                  <a:pt x="0" y="61001"/>
                </a:moveTo>
                <a:lnTo>
                  <a:pt x="0" y="56934"/>
                </a:lnTo>
                <a:cubicBezTo>
                  <a:pt x="0" y="45700"/>
                  <a:pt x="21859" y="36600"/>
                  <a:pt x="48801" y="36600"/>
                </a:cubicBezTo>
                <a:cubicBezTo>
                  <a:pt x="75742" y="36600"/>
                  <a:pt x="97601" y="45700"/>
                  <a:pt x="97601" y="56934"/>
                </a:cubicBezTo>
                <a:lnTo>
                  <a:pt x="97601" y="61001"/>
                </a:lnTo>
                <a:cubicBezTo>
                  <a:pt x="97601" y="72235"/>
                  <a:pt x="75742" y="81334"/>
                  <a:pt x="48801" y="81334"/>
                </a:cubicBezTo>
                <a:cubicBezTo>
                  <a:pt x="21859" y="81334"/>
                  <a:pt x="0" y="72235"/>
                  <a:pt x="0" y="61001"/>
                </a:cubicBezTo>
                <a:close/>
                <a:moveTo>
                  <a:pt x="97601" y="85401"/>
                </a:moveTo>
                <a:cubicBezTo>
                  <a:pt x="97601" y="96635"/>
                  <a:pt x="75742" y="105734"/>
                  <a:pt x="48801" y="105734"/>
                </a:cubicBezTo>
                <a:cubicBezTo>
                  <a:pt x="21859" y="105734"/>
                  <a:pt x="0" y="96635"/>
                  <a:pt x="0" y="85401"/>
                </a:cubicBezTo>
                <a:lnTo>
                  <a:pt x="0" y="81487"/>
                </a:lnTo>
                <a:cubicBezTo>
                  <a:pt x="2948" y="83545"/>
                  <a:pt x="6227" y="85223"/>
                  <a:pt x="9608" y="86646"/>
                </a:cubicBezTo>
                <a:cubicBezTo>
                  <a:pt x="20257" y="91094"/>
                  <a:pt x="34135" y="93534"/>
                  <a:pt x="48801" y="93534"/>
                </a:cubicBezTo>
                <a:cubicBezTo>
                  <a:pt x="63466" y="93534"/>
                  <a:pt x="77344" y="91069"/>
                  <a:pt x="87993" y="86646"/>
                </a:cubicBezTo>
                <a:cubicBezTo>
                  <a:pt x="91348" y="85248"/>
                  <a:pt x="94627" y="83545"/>
                  <a:pt x="97601" y="81487"/>
                </a:cubicBezTo>
                <a:lnTo>
                  <a:pt x="97601" y="85401"/>
                </a:lnTo>
                <a:close/>
                <a:moveTo>
                  <a:pt x="97601" y="105887"/>
                </a:moveTo>
                <a:lnTo>
                  <a:pt x="97601" y="109801"/>
                </a:lnTo>
                <a:cubicBezTo>
                  <a:pt x="97601" y="121035"/>
                  <a:pt x="75742" y="130135"/>
                  <a:pt x="48801" y="130135"/>
                </a:cubicBezTo>
                <a:cubicBezTo>
                  <a:pt x="21859" y="130135"/>
                  <a:pt x="0" y="121035"/>
                  <a:pt x="0" y="109801"/>
                </a:cubicBezTo>
                <a:lnTo>
                  <a:pt x="0" y="105887"/>
                </a:lnTo>
                <a:cubicBezTo>
                  <a:pt x="2948" y="107946"/>
                  <a:pt x="6227" y="109623"/>
                  <a:pt x="9608" y="111047"/>
                </a:cubicBezTo>
                <a:cubicBezTo>
                  <a:pt x="20257" y="115495"/>
                  <a:pt x="34135" y="117935"/>
                  <a:pt x="48801" y="117935"/>
                </a:cubicBezTo>
                <a:cubicBezTo>
                  <a:pt x="63466" y="117935"/>
                  <a:pt x="77344" y="115469"/>
                  <a:pt x="87993" y="111047"/>
                </a:cubicBezTo>
                <a:cubicBezTo>
                  <a:pt x="91348" y="109649"/>
                  <a:pt x="94627" y="107946"/>
                  <a:pt x="97601" y="10588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6946959" y="1698257"/>
            <a:ext cx="3985377" cy="195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5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Prior Expenditure (TOTEXPY1_adj)</a:t>
            </a:r>
            <a:endParaRPr lang="en-US" sz="1600"/>
          </a:p>
        </p:txBody>
      </p:sp>
      <p:sp>
        <p:nvSpPr>
          <p:cNvPr id="14" name="Text 11"/>
          <p:cNvSpPr/>
          <p:nvPr/>
        </p:nvSpPr>
        <p:spPr>
          <a:xfrm>
            <a:off x="6946959" y="1925993"/>
            <a:ext cx="3977243" cy="16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7" b="1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Strongest predictor</a:t>
            </a:r>
            <a:r>
              <a:rPr lang="en-US" sz="897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past spending heavily influences future healthcare costs</a:t>
            </a:r>
            <a:endParaRPr lang="en-US" sz="1600"/>
          </a:p>
        </p:txBody>
      </p:sp>
      <p:sp>
        <p:nvSpPr>
          <p:cNvPr id="15" name="Shape 12"/>
          <p:cNvSpPr/>
          <p:nvPr/>
        </p:nvSpPr>
        <p:spPr>
          <a:xfrm>
            <a:off x="6377620" y="2316397"/>
            <a:ext cx="5319258" cy="650674"/>
          </a:xfrm>
          <a:custGeom>
            <a:avLst/>
            <a:gdLst/>
            <a:ahLst/>
            <a:cxnLst/>
            <a:rect l="l" t="t" r="r" b="b"/>
            <a:pathLst>
              <a:path w="5319258" h="650674">
                <a:moveTo>
                  <a:pt x="32534" y="0"/>
                </a:moveTo>
                <a:lnTo>
                  <a:pt x="5254191" y="0"/>
                </a:lnTo>
                <a:cubicBezTo>
                  <a:pt x="5290102" y="0"/>
                  <a:pt x="5319258" y="29156"/>
                  <a:pt x="5319258" y="65067"/>
                </a:cubicBezTo>
                <a:lnTo>
                  <a:pt x="5319258" y="585606"/>
                </a:lnTo>
                <a:cubicBezTo>
                  <a:pt x="5319258" y="621542"/>
                  <a:pt x="5290127" y="650674"/>
                  <a:pt x="5254191" y="650674"/>
                </a:cubicBezTo>
                <a:lnTo>
                  <a:pt x="32534" y="650674"/>
                </a:lnTo>
                <a:cubicBezTo>
                  <a:pt x="14578" y="650674"/>
                  <a:pt x="0" y="636096"/>
                  <a:pt x="0" y="618140"/>
                </a:cubicBezTo>
                <a:lnTo>
                  <a:pt x="0" y="32534"/>
                </a:lnTo>
                <a:cubicBezTo>
                  <a:pt x="0" y="14566"/>
                  <a:pt x="14566" y="0"/>
                  <a:pt x="32534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6377620" y="2316397"/>
            <a:ext cx="32534" cy="650674"/>
          </a:xfrm>
          <a:custGeom>
            <a:avLst/>
            <a:gdLst/>
            <a:ahLst/>
            <a:cxnLst/>
            <a:rect l="l" t="t" r="r" b="b"/>
            <a:pathLst>
              <a:path w="32534" h="650674">
                <a:moveTo>
                  <a:pt x="32534" y="0"/>
                </a:moveTo>
                <a:lnTo>
                  <a:pt x="32534" y="0"/>
                </a:lnTo>
                <a:lnTo>
                  <a:pt x="32534" y="650674"/>
                </a:lnTo>
                <a:lnTo>
                  <a:pt x="32534" y="650674"/>
                </a:lnTo>
                <a:cubicBezTo>
                  <a:pt x="14578" y="650674"/>
                  <a:pt x="0" y="636096"/>
                  <a:pt x="0" y="618140"/>
                </a:cubicBezTo>
                <a:lnTo>
                  <a:pt x="0" y="32534"/>
                </a:lnTo>
                <a:cubicBezTo>
                  <a:pt x="0" y="14566"/>
                  <a:pt x="14566" y="0"/>
                  <a:pt x="32534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7" name="Shape 14"/>
          <p:cNvSpPr/>
          <p:nvPr/>
        </p:nvSpPr>
        <p:spPr>
          <a:xfrm>
            <a:off x="6524021" y="2446532"/>
            <a:ext cx="325337" cy="325337"/>
          </a:xfrm>
          <a:custGeom>
            <a:avLst/>
            <a:gdLst/>
            <a:ahLst/>
            <a:cxnLst/>
            <a:rect l="l" t="t" r="r" b="b"/>
            <a:pathLst>
              <a:path w="325337" h="325337">
                <a:moveTo>
                  <a:pt x="65067" y="0"/>
                </a:moveTo>
                <a:lnTo>
                  <a:pt x="260270" y="0"/>
                </a:lnTo>
                <a:cubicBezTo>
                  <a:pt x="296181" y="0"/>
                  <a:pt x="325337" y="29156"/>
                  <a:pt x="325337" y="65067"/>
                </a:cubicBezTo>
                <a:lnTo>
                  <a:pt x="325337" y="260270"/>
                </a:lnTo>
                <a:cubicBezTo>
                  <a:pt x="325337" y="296205"/>
                  <a:pt x="296205" y="325337"/>
                  <a:pt x="260270" y="325337"/>
                </a:cubicBezTo>
                <a:lnTo>
                  <a:pt x="65067" y="325337"/>
                </a:lnTo>
                <a:cubicBezTo>
                  <a:pt x="29156" y="325337"/>
                  <a:pt x="0" y="296181"/>
                  <a:pt x="0" y="260270"/>
                </a:cubicBezTo>
                <a:lnTo>
                  <a:pt x="0" y="65067"/>
                </a:lnTo>
                <a:cubicBezTo>
                  <a:pt x="0" y="29132"/>
                  <a:pt x="29132" y="0"/>
                  <a:pt x="65067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8" name="Shape 15"/>
          <p:cNvSpPr/>
          <p:nvPr/>
        </p:nvSpPr>
        <p:spPr>
          <a:xfrm>
            <a:off x="6613489" y="2544133"/>
            <a:ext cx="146402" cy="130135"/>
          </a:xfrm>
          <a:custGeom>
            <a:avLst/>
            <a:gdLst/>
            <a:ahLst/>
            <a:cxnLst/>
            <a:rect l="l" t="t" r="r" b="b"/>
            <a:pathLst>
              <a:path w="146402" h="130135">
                <a:moveTo>
                  <a:pt x="32534" y="16267"/>
                </a:moveTo>
                <a:cubicBezTo>
                  <a:pt x="32534" y="7295"/>
                  <a:pt x="39828" y="0"/>
                  <a:pt x="48801" y="0"/>
                </a:cubicBezTo>
                <a:lnTo>
                  <a:pt x="97601" y="0"/>
                </a:lnTo>
                <a:cubicBezTo>
                  <a:pt x="106573" y="0"/>
                  <a:pt x="113868" y="7295"/>
                  <a:pt x="113868" y="16267"/>
                </a:cubicBezTo>
                <a:lnTo>
                  <a:pt x="113868" y="32534"/>
                </a:lnTo>
                <a:lnTo>
                  <a:pt x="130135" y="32534"/>
                </a:lnTo>
                <a:cubicBezTo>
                  <a:pt x="139107" y="32534"/>
                  <a:pt x="146402" y="39828"/>
                  <a:pt x="146402" y="48801"/>
                </a:cubicBezTo>
                <a:lnTo>
                  <a:pt x="146402" y="113868"/>
                </a:lnTo>
                <a:cubicBezTo>
                  <a:pt x="146402" y="122840"/>
                  <a:pt x="139107" y="130135"/>
                  <a:pt x="130135" y="130135"/>
                </a:cubicBezTo>
                <a:lnTo>
                  <a:pt x="16267" y="130135"/>
                </a:lnTo>
                <a:cubicBezTo>
                  <a:pt x="7295" y="130135"/>
                  <a:pt x="0" y="122840"/>
                  <a:pt x="0" y="113868"/>
                </a:cubicBezTo>
                <a:lnTo>
                  <a:pt x="0" y="48801"/>
                </a:lnTo>
                <a:cubicBezTo>
                  <a:pt x="0" y="39828"/>
                  <a:pt x="7295" y="32534"/>
                  <a:pt x="16267" y="32534"/>
                </a:cubicBezTo>
                <a:lnTo>
                  <a:pt x="32534" y="32534"/>
                </a:lnTo>
                <a:lnTo>
                  <a:pt x="32534" y="16267"/>
                </a:lnTo>
                <a:close/>
                <a:moveTo>
                  <a:pt x="69134" y="89468"/>
                </a:moveTo>
                <a:cubicBezTo>
                  <a:pt x="64635" y="89468"/>
                  <a:pt x="61001" y="93102"/>
                  <a:pt x="61001" y="97601"/>
                </a:cubicBezTo>
                <a:lnTo>
                  <a:pt x="61001" y="117935"/>
                </a:lnTo>
                <a:lnTo>
                  <a:pt x="85401" y="117935"/>
                </a:lnTo>
                <a:lnTo>
                  <a:pt x="85401" y="97601"/>
                </a:lnTo>
                <a:cubicBezTo>
                  <a:pt x="85401" y="93102"/>
                  <a:pt x="81766" y="89468"/>
                  <a:pt x="77268" y="89468"/>
                </a:cubicBezTo>
                <a:lnTo>
                  <a:pt x="69134" y="89468"/>
                </a:lnTo>
                <a:close/>
                <a:moveTo>
                  <a:pt x="32534" y="93534"/>
                </a:moveTo>
                <a:lnTo>
                  <a:pt x="32534" y="85401"/>
                </a:lnTo>
                <a:cubicBezTo>
                  <a:pt x="32534" y="83164"/>
                  <a:pt x="30704" y="81334"/>
                  <a:pt x="28467" y="81334"/>
                </a:cubicBezTo>
                <a:lnTo>
                  <a:pt x="20334" y="81334"/>
                </a:lnTo>
                <a:cubicBezTo>
                  <a:pt x="18097" y="81334"/>
                  <a:pt x="16267" y="83164"/>
                  <a:pt x="16267" y="85401"/>
                </a:cubicBezTo>
                <a:lnTo>
                  <a:pt x="16267" y="93534"/>
                </a:lnTo>
                <a:cubicBezTo>
                  <a:pt x="16267" y="95771"/>
                  <a:pt x="18097" y="97601"/>
                  <a:pt x="20334" y="97601"/>
                </a:cubicBezTo>
                <a:lnTo>
                  <a:pt x="28467" y="97601"/>
                </a:lnTo>
                <a:cubicBezTo>
                  <a:pt x="30704" y="97601"/>
                  <a:pt x="32534" y="95771"/>
                  <a:pt x="32534" y="93534"/>
                </a:cubicBezTo>
                <a:close/>
                <a:moveTo>
                  <a:pt x="28467" y="65067"/>
                </a:moveTo>
                <a:cubicBezTo>
                  <a:pt x="30704" y="65067"/>
                  <a:pt x="32534" y="63237"/>
                  <a:pt x="32534" y="61001"/>
                </a:cubicBezTo>
                <a:lnTo>
                  <a:pt x="32534" y="52867"/>
                </a:lnTo>
                <a:cubicBezTo>
                  <a:pt x="32534" y="50631"/>
                  <a:pt x="30704" y="48801"/>
                  <a:pt x="28467" y="48801"/>
                </a:cubicBezTo>
                <a:lnTo>
                  <a:pt x="20334" y="48801"/>
                </a:lnTo>
                <a:cubicBezTo>
                  <a:pt x="18097" y="48801"/>
                  <a:pt x="16267" y="50631"/>
                  <a:pt x="16267" y="52867"/>
                </a:cubicBezTo>
                <a:lnTo>
                  <a:pt x="16267" y="61001"/>
                </a:lnTo>
                <a:cubicBezTo>
                  <a:pt x="16267" y="63237"/>
                  <a:pt x="18097" y="65067"/>
                  <a:pt x="20334" y="65067"/>
                </a:cubicBezTo>
                <a:lnTo>
                  <a:pt x="28467" y="65067"/>
                </a:lnTo>
                <a:close/>
                <a:moveTo>
                  <a:pt x="130135" y="93534"/>
                </a:moveTo>
                <a:lnTo>
                  <a:pt x="130135" y="85401"/>
                </a:lnTo>
                <a:cubicBezTo>
                  <a:pt x="130135" y="83164"/>
                  <a:pt x="128305" y="81334"/>
                  <a:pt x="126068" y="81334"/>
                </a:cubicBezTo>
                <a:lnTo>
                  <a:pt x="117935" y="81334"/>
                </a:lnTo>
                <a:cubicBezTo>
                  <a:pt x="115698" y="81334"/>
                  <a:pt x="113868" y="83164"/>
                  <a:pt x="113868" y="85401"/>
                </a:cubicBezTo>
                <a:lnTo>
                  <a:pt x="113868" y="93534"/>
                </a:lnTo>
                <a:cubicBezTo>
                  <a:pt x="113868" y="95771"/>
                  <a:pt x="115698" y="97601"/>
                  <a:pt x="117935" y="97601"/>
                </a:cubicBezTo>
                <a:lnTo>
                  <a:pt x="126068" y="97601"/>
                </a:lnTo>
                <a:cubicBezTo>
                  <a:pt x="128305" y="97601"/>
                  <a:pt x="130135" y="95771"/>
                  <a:pt x="130135" y="93534"/>
                </a:cubicBezTo>
                <a:close/>
                <a:moveTo>
                  <a:pt x="126068" y="65067"/>
                </a:moveTo>
                <a:cubicBezTo>
                  <a:pt x="128305" y="65067"/>
                  <a:pt x="130135" y="63237"/>
                  <a:pt x="130135" y="61001"/>
                </a:cubicBezTo>
                <a:lnTo>
                  <a:pt x="130135" y="52867"/>
                </a:lnTo>
                <a:cubicBezTo>
                  <a:pt x="130135" y="50631"/>
                  <a:pt x="128305" y="48801"/>
                  <a:pt x="126068" y="48801"/>
                </a:cubicBezTo>
                <a:lnTo>
                  <a:pt x="117935" y="48801"/>
                </a:lnTo>
                <a:cubicBezTo>
                  <a:pt x="115698" y="48801"/>
                  <a:pt x="113868" y="50631"/>
                  <a:pt x="113868" y="52867"/>
                </a:cubicBezTo>
                <a:lnTo>
                  <a:pt x="113868" y="61001"/>
                </a:lnTo>
                <a:cubicBezTo>
                  <a:pt x="113868" y="63237"/>
                  <a:pt x="115698" y="65067"/>
                  <a:pt x="117935" y="65067"/>
                </a:cubicBezTo>
                <a:lnTo>
                  <a:pt x="126068" y="65067"/>
                </a:lnTo>
                <a:close/>
                <a:moveTo>
                  <a:pt x="67101" y="26434"/>
                </a:moveTo>
                <a:lnTo>
                  <a:pt x="67101" y="34567"/>
                </a:lnTo>
                <a:lnTo>
                  <a:pt x="58967" y="34567"/>
                </a:lnTo>
                <a:cubicBezTo>
                  <a:pt x="56731" y="34567"/>
                  <a:pt x="54901" y="36397"/>
                  <a:pt x="54901" y="38634"/>
                </a:cubicBezTo>
                <a:lnTo>
                  <a:pt x="54901" y="42700"/>
                </a:lnTo>
                <a:cubicBezTo>
                  <a:pt x="54901" y="44937"/>
                  <a:pt x="56731" y="46767"/>
                  <a:pt x="58967" y="46767"/>
                </a:cubicBezTo>
                <a:lnTo>
                  <a:pt x="67101" y="46767"/>
                </a:lnTo>
                <a:lnTo>
                  <a:pt x="67101" y="54901"/>
                </a:lnTo>
                <a:cubicBezTo>
                  <a:pt x="67101" y="57137"/>
                  <a:pt x="68931" y="58967"/>
                  <a:pt x="71167" y="58967"/>
                </a:cubicBezTo>
                <a:lnTo>
                  <a:pt x="75234" y="58967"/>
                </a:lnTo>
                <a:cubicBezTo>
                  <a:pt x="77471" y="58967"/>
                  <a:pt x="79301" y="57137"/>
                  <a:pt x="79301" y="54901"/>
                </a:cubicBezTo>
                <a:lnTo>
                  <a:pt x="79301" y="46767"/>
                </a:lnTo>
                <a:lnTo>
                  <a:pt x="87434" y="46767"/>
                </a:lnTo>
                <a:cubicBezTo>
                  <a:pt x="89671" y="46767"/>
                  <a:pt x="91501" y="44937"/>
                  <a:pt x="91501" y="42700"/>
                </a:cubicBezTo>
                <a:lnTo>
                  <a:pt x="91501" y="38634"/>
                </a:lnTo>
                <a:cubicBezTo>
                  <a:pt x="91501" y="36397"/>
                  <a:pt x="89671" y="34567"/>
                  <a:pt x="87434" y="34567"/>
                </a:cubicBezTo>
                <a:lnTo>
                  <a:pt x="79301" y="34567"/>
                </a:lnTo>
                <a:lnTo>
                  <a:pt x="79301" y="26434"/>
                </a:lnTo>
                <a:cubicBezTo>
                  <a:pt x="79301" y="24197"/>
                  <a:pt x="77471" y="22367"/>
                  <a:pt x="75234" y="22367"/>
                </a:cubicBezTo>
                <a:lnTo>
                  <a:pt x="71167" y="22367"/>
                </a:lnTo>
                <a:cubicBezTo>
                  <a:pt x="68931" y="22367"/>
                  <a:pt x="67101" y="24197"/>
                  <a:pt x="67101" y="2643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6946959" y="2446532"/>
            <a:ext cx="3489238" cy="195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5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Healthcare Utilization (RXTOTY1, OBTOTVY1)</a:t>
            </a:r>
            <a:endParaRPr lang="en-US" sz="1600"/>
          </a:p>
        </p:txBody>
      </p:sp>
      <p:sp>
        <p:nvSpPr>
          <p:cNvPr id="20" name="Text 17"/>
          <p:cNvSpPr/>
          <p:nvPr/>
        </p:nvSpPr>
        <p:spPr>
          <a:xfrm>
            <a:off x="6946959" y="2674268"/>
            <a:ext cx="3481105" cy="16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7" b="1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drivers</a:t>
            </a:r>
            <a:r>
              <a:rPr lang="en-US" sz="897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frequent service use leads to higher future expenditure</a:t>
            </a:r>
            <a:endParaRPr lang="en-US" sz="1600"/>
          </a:p>
        </p:txBody>
      </p:sp>
      <p:sp>
        <p:nvSpPr>
          <p:cNvPr id="21" name="Shape 18"/>
          <p:cNvSpPr/>
          <p:nvPr/>
        </p:nvSpPr>
        <p:spPr>
          <a:xfrm>
            <a:off x="6377620" y="3064672"/>
            <a:ext cx="5319258" cy="650674"/>
          </a:xfrm>
          <a:custGeom>
            <a:avLst/>
            <a:gdLst/>
            <a:ahLst/>
            <a:cxnLst/>
            <a:rect l="l" t="t" r="r" b="b"/>
            <a:pathLst>
              <a:path w="5319258" h="650674">
                <a:moveTo>
                  <a:pt x="32534" y="0"/>
                </a:moveTo>
                <a:lnTo>
                  <a:pt x="5254191" y="0"/>
                </a:lnTo>
                <a:cubicBezTo>
                  <a:pt x="5290102" y="0"/>
                  <a:pt x="5319258" y="29156"/>
                  <a:pt x="5319258" y="65067"/>
                </a:cubicBezTo>
                <a:lnTo>
                  <a:pt x="5319258" y="585606"/>
                </a:lnTo>
                <a:cubicBezTo>
                  <a:pt x="5319258" y="621542"/>
                  <a:pt x="5290127" y="650674"/>
                  <a:pt x="5254191" y="650674"/>
                </a:cubicBezTo>
                <a:lnTo>
                  <a:pt x="32534" y="650674"/>
                </a:lnTo>
                <a:cubicBezTo>
                  <a:pt x="14578" y="650674"/>
                  <a:pt x="0" y="636096"/>
                  <a:pt x="0" y="618140"/>
                </a:cubicBezTo>
                <a:lnTo>
                  <a:pt x="0" y="32534"/>
                </a:lnTo>
                <a:cubicBezTo>
                  <a:pt x="0" y="14566"/>
                  <a:pt x="14566" y="0"/>
                  <a:pt x="32534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6377620" y="3064672"/>
            <a:ext cx="32534" cy="650674"/>
          </a:xfrm>
          <a:custGeom>
            <a:avLst/>
            <a:gdLst/>
            <a:ahLst/>
            <a:cxnLst/>
            <a:rect l="l" t="t" r="r" b="b"/>
            <a:pathLst>
              <a:path w="32534" h="650674">
                <a:moveTo>
                  <a:pt x="32534" y="0"/>
                </a:moveTo>
                <a:lnTo>
                  <a:pt x="32534" y="0"/>
                </a:lnTo>
                <a:lnTo>
                  <a:pt x="32534" y="650674"/>
                </a:lnTo>
                <a:lnTo>
                  <a:pt x="32534" y="650674"/>
                </a:lnTo>
                <a:cubicBezTo>
                  <a:pt x="14578" y="650674"/>
                  <a:pt x="0" y="636096"/>
                  <a:pt x="0" y="618140"/>
                </a:cubicBezTo>
                <a:lnTo>
                  <a:pt x="0" y="32534"/>
                </a:lnTo>
                <a:cubicBezTo>
                  <a:pt x="0" y="14566"/>
                  <a:pt x="14566" y="0"/>
                  <a:pt x="32534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3" name="Shape 20"/>
          <p:cNvSpPr/>
          <p:nvPr/>
        </p:nvSpPr>
        <p:spPr>
          <a:xfrm>
            <a:off x="6524021" y="3194807"/>
            <a:ext cx="325337" cy="325337"/>
          </a:xfrm>
          <a:custGeom>
            <a:avLst/>
            <a:gdLst/>
            <a:ahLst/>
            <a:cxnLst/>
            <a:rect l="l" t="t" r="r" b="b"/>
            <a:pathLst>
              <a:path w="325337" h="325337">
                <a:moveTo>
                  <a:pt x="65067" y="0"/>
                </a:moveTo>
                <a:lnTo>
                  <a:pt x="260270" y="0"/>
                </a:lnTo>
                <a:cubicBezTo>
                  <a:pt x="296181" y="0"/>
                  <a:pt x="325337" y="29156"/>
                  <a:pt x="325337" y="65067"/>
                </a:cubicBezTo>
                <a:lnTo>
                  <a:pt x="325337" y="260270"/>
                </a:lnTo>
                <a:cubicBezTo>
                  <a:pt x="325337" y="296205"/>
                  <a:pt x="296205" y="325337"/>
                  <a:pt x="260270" y="325337"/>
                </a:cubicBezTo>
                <a:lnTo>
                  <a:pt x="65067" y="325337"/>
                </a:lnTo>
                <a:cubicBezTo>
                  <a:pt x="29156" y="325337"/>
                  <a:pt x="0" y="296181"/>
                  <a:pt x="0" y="260270"/>
                </a:cubicBezTo>
                <a:lnTo>
                  <a:pt x="0" y="65067"/>
                </a:lnTo>
                <a:cubicBezTo>
                  <a:pt x="0" y="29132"/>
                  <a:pt x="29132" y="0"/>
                  <a:pt x="65067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4" name="Shape 21"/>
          <p:cNvSpPr/>
          <p:nvPr/>
        </p:nvSpPr>
        <p:spPr>
          <a:xfrm>
            <a:off x="6621622" y="3292408"/>
            <a:ext cx="130135" cy="130135"/>
          </a:xfrm>
          <a:custGeom>
            <a:avLst/>
            <a:gdLst/>
            <a:ahLst/>
            <a:cxnLst/>
            <a:rect l="l" t="t" r="r" b="b"/>
            <a:pathLst>
              <a:path w="130135" h="130135">
                <a:moveTo>
                  <a:pt x="60111" y="7473"/>
                </a:moveTo>
                <a:lnTo>
                  <a:pt x="56934" y="12200"/>
                </a:lnTo>
                <a:cubicBezTo>
                  <a:pt x="51851" y="19825"/>
                  <a:pt x="43310" y="24400"/>
                  <a:pt x="34135" y="24400"/>
                </a:cubicBezTo>
                <a:lnTo>
                  <a:pt x="17284" y="24400"/>
                </a:lnTo>
                <a:cubicBezTo>
                  <a:pt x="7752" y="24400"/>
                  <a:pt x="25" y="32127"/>
                  <a:pt x="25" y="41658"/>
                </a:cubicBezTo>
                <a:cubicBezTo>
                  <a:pt x="25" y="46233"/>
                  <a:pt x="1855" y="50605"/>
                  <a:pt x="5083" y="53833"/>
                </a:cubicBezTo>
                <a:lnTo>
                  <a:pt x="11946" y="60696"/>
                </a:lnTo>
                <a:cubicBezTo>
                  <a:pt x="14742" y="63492"/>
                  <a:pt x="16318" y="67279"/>
                  <a:pt x="16318" y="71244"/>
                </a:cubicBezTo>
                <a:cubicBezTo>
                  <a:pt x="16318" y="75260"/>
                  <a:pt x="14691" y="79098"/>
                  <a:pt x="11819" y="81919"/>
                </a:cubicBezTo>
                <a:lnTo>
                  <a:pt x="8489" y="85172"/>
                </a:lnTo>
                <a:cubicBezTo>
                  <a:pt x="5668" y="87917"/>
                  <a:pt x="4092" y="91704"/>
                  <a:pt x="4092" y="95644"/>
                </a:cubicBezTo>
                <a:cubicBezTo>
                  <a:pt x="4092" y="104997"/>
                  <a:pt x="12759" y="111962"/>
                  <a:pt x="21909" y="109928"/>
                </a:cubicBezTo>
                <a:lnTo>
                  <a:pt x="37744" y="106421"/>
                </a:lnTo>
                <a:cubicBezTo>
                  <a:pt x="39701" y="105989"/>
                  <a:pt x="41735" y="105760"/>
                  <a:pt x="43743" y="105760"/>
                </a:cubicBezTo>
                <a:cubicBezTo>
                  <a:pt x="52079" y="105760"/>
                  <a:pt x="60060" y="109471"/>
                  <a:pt x="65398" y="115876"/>
                </a:cubicBezTo>
                <a:lnTo>
                  <a:pt x="73150" y="125178"/>
                </a:lnTo>
                <a:cubicBezTo>
                  <a:pt x="75793" y="128330"/>
                  <a:pt x="79682" y="130160"/>
                  <a:pt x="83800" y="130160"/>
                </a:cubicBezTo>
                <a:cubicBezTo>
                  <a:pt x="91450" y="130160"/>
                  <a:pt x="97652" y="123958"/>
                  <a:pt x="97652" y="116308"/>
                </a:cubicBezTo>
                <a:lnTo>
                  <a:pt x="97652" y="103294"/>
                </a:lnTo>
                <a:cubicBezTo>
                  <a:pt x="97652" y="92772"/>
                  <a:pt x="104108" y="83342"/>
                  <a:pt x="113919" y="79530"/>
                </a:cubicBezTo>
                <a:lnTo>
                  <a:pt x="119561" y="77344"/>
                </a:lnTo>
                <a:cubicBezTo>
                  <a:pt x="125966" y="74853"/>
                  <a:pt x="130186" y="68677"/>
                  <a:pt x="130186" y="61814"/>
                </a:cubicBezTo>
                <a:cubicBezTo>
                  <a:pt x="130186" y="55104"/>
                  <a:pt x="126144" y="49029"/>
                  <a:pt x="119943" y="46437"/>
                </a:cubicBezTo>
                <a:lnTo>
                  <a:pt x="109039" y="41887"/>
                </a:lnTo>
                <a:cubicBezTo>
                  <a:pt x="100600" y="38354"/>
                  <a:pt x="94399" y="30958"/>
                  <a:pt x="92391" y="22036"/>
                </a:cubicBezTo>
                <a:lnTo>
                  <a:pt x="90383" y="13090"/>
                </a:lnTo>
                <a:cubicBezTo>
                  <a:pt x="88654" y="5439"/>
                  <a:pt x="81868" y="0"/>
                  <a:pt x="74040" y="0"/>
                </a:cubicBezTo>
                <a:cubicBezTo>
                  <a:pt x="68448" y="0"/>
                  <a:pt x="63212" y="2796"/>
                  <a:pt x="60111" y="7473"/>
                </a:cubicBezTo>
                <a:close/>
                <a:moveTo>
                  <a:pt x="40667" y="48801"/>
                </a:moveTo>
                <a:cubicBezTo>
                  <a:pt x="45156" y="48801"/>
                  <a:pt x="48801" y="52445"/>
                  <a:pt x="48801" y="56934"/>
                </a:cubicBezTo>
                <a:cubicBezTo>
                  <a:pt x="48801" y="61423"/>
                  <a:pt x="45156" y="65067"/>
                  <a:pt x="40667" y="65067"/>
                </a:cubicBezTo>
                <a:cubicBezTo>
                  <a:pt x="36178" y="65067"/>
                  <a:pt x="32534" y="61423"/>
                  <a:pt x="32534" y="56934"/>
                </a:cubicBezTo>
                <a:cubicBezTo>
                  <a:pt x="32534" y="52445"/>
                  <a:pt x="36178" y="48801"/>
                  <a:pt x="40667" y="48801"/>
                </a:cubicBezTo>
                <a:close/>
                <a:moveTo>
                  <a:pt x="65067" y="48801"/>
                </a:moveTo>
                <a:cubicBezTo>
                  <a:pt x="65067" y="44312"/>
                  <a:pt x="68712" y="40667"/>
                  <a:pt x="73201" y="40667"/>
                </a:cubicBezTo>
                <a:cubicBezTo>
                  <a:pt x="77690" y="40667"/>
                  <a:pt x="81334" y="44312"/>
                  <a:pt x="81334" y="48801"/>
                </a:cubicBezTo>
                <a:cubicBezTo>
                  <a:pt x="81334" y="53289"/>
                  <a:pt x="77690" y="56934"/>
                  <a:pt x="73201" y="56934"/>
                </a:cubicBezTo>
                <a:cubicBezTo>
                  <a:pt x="68712" y="56934"/>
                  <a:pt x="65067" y="53289"/>
                  <a:pt x="65067" y="48801"/>
                </a:cubicBezTo>
                <a:close/>
                <a:moveTo>
                  <a:pt x="73201" y="73201"/>
                </a:moveTo>
                <a:cubicBezTo>
                  <a:pt x="77690" y="73201"/>
                  <a:pt x="81334" y="76845"/>
                  <a:pt x="81334" y="81334"/>
                </a:cubicBezTo>
                <a:cubicBezTo>
                  <a:pt x="81334" y="85823"/>
                  <a:pt x="77690" y="89468"/>
                  <a:pt x="73201" y="89468"/>
                </a:cubicBezTo>
                <a:cubicBezTo>
                  <a:pt x="68712" y="89468"/>
                  <a:pt x="65067" y="85823"/>
                  <a:pt x="65067" y="81334"/>
                </a:cubicBezTo>
                <a:cubicBezTo>
                  <a:pt x="65067" y="76845"/>
                  <a:pt x="68712" y="73201"/>
                  <a:pt x="73201" y="7320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2"/>
          <p:cNvSpPr/>
          <p:nvPr/>
        </p:nvSpPr>
        <p:spPr>
          <a:xfrm>
            <a:off x="6946959" y="3194807"/>
            <a:ext cx="3416037" cy="195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5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Chronic Disease Burden</a:t>
            </a:r>
            <a:endParaRPr lang="en-US" sz="1600"/>
          </a:p>
        </p:txBody>
      </p:sp>
      <p:sp>
        <p:nvSpPr>
          <p:cNvPr id="26" name="Text 23"/>
          <p:cNvSpPr/>
          <p:nvPr/>
        </p:nvSpPr>
        <p:spPr>
          <a:xfrm>
            <a:off x="6946959" y="3422543"/>
            <a:ext cx="3407904" cy="16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7" b="1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Significant impact</a:t>
            </a:r>
            <a:r>
              <a:rPr lang="en-US" sz="897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increases likelihood of high-cost classification</a:t>
            </a:r>
            <a:endParaRPr lang="en-US" sz="1600"/>
          </a:p>
        </p:txBody>
      </p:sp>
      <p:sp>
        <p:nvSpPr>
          <p:cNvPr id="27" name="Shape 24"/>
          <p:cNvSpPr/>
          <p:nvPr/>
        </p:nvSpPr>
        <p:spPr>
          <a:xfrm>
            <a:off x="6377620" y="3812947"/>
            <a:ext cx="5319258" cy="650674"/>
          </a:xfrm>
          <a:custGeom>
            <a:avLst/>
            <a:gdLst/>
            <a:ahLst/>
            <a:cxnLst/>
            <a:rect l="l" t="t" r="r" b="b"/>
            <a:pathLst>
              <a:path w="5319258" h="650674">
                <a:moveTo>
                  <a:pt x="32534" y="0"/>
                </a:moveTo>
                <a:lnTo>
                  <a:pt x="5254191" y="0"/>
                </a:lnTo>
                <a:cubicBezTo>
                  <a:pt x="5290102" y="0"/>
                  <a:pt x="5319258" y="29156"/>
                  <a:pt x="5319258" y="65067"/>
                </a:cubicBezTo>
                <a:lnTo>
                  <a:pt x="5319258" y="585606"/>
                </a:lnTo>
                <a:cubicBezTo>
                  <a:pt x="5319258" y="621542"/>
                  <a:pt x="5290127" y="650674"/>
                  <a:pt x="5254191" y="650674"/>
                </a:cubicBezTo>
                <a:lnTo>
                  <a:pt x="32534" y="650674"/>
                </a:lnTo>
                <a:cubicBezTo>
                  <a:pt x="14578" y="650674"/>
                  <a:pt x="0" y="636096"/>
                  <a:pt x="0" y="618140"/>
                </a:cubicBezTo>
                <a:lnTo>
                  <a:pt x="0" y="32534"/>
                </a:lnTo>
                <a:cubicBezTo>
                  <a:pt x="0" y="14566"/>
                  <a:pt x="14566" y="0"/>
                  <a:pt x="32534" y="0"/>
                </a:cubicBezTo>
                <a:close/>
              </a:path>
            </a:pathLst>
          </a:custGeom>
          <a:solidFill>
            <a:srgbClr val="86868B">
              <a:alpha val="10196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6377620" y="3812947"/>
            <a:ext cx="32534" cy="650674"/>
          </a:xfrm>
          <a:custGeom>
            <a:avLst/>
            <a:gdLst/>
            <a:ahLst/>
            <a:cxnLst/>
            <a:rect l="l" t="t" r="r" b="b"/>
            <a:pathLst>
              <a:path w="32534" h="650674">
                <a:moveTo>
                  <a:pt x="32534" y="0"/>
                </a:moveTo>
                <a:lnTo>
                  <a:pt x="32534" y="0"/>
                </a:lnTo>
                <a:lnTo>
                  <a:pt x="32534" y="650674"/>
                </a:lnTo>
                <a:lnTo>
                  <a:pt x="32534" y="650674"/>
                </a:lnTo>
                <a:cubicBezTo>
                  <a:pt x="14578" y="650674"/>
                  <a:pt x="0" y="636096"/>
                  <a:pt x="0" y="618140"/>
                </a:cubicBezTo>
                <a:lnTo>
                  <a:pt x="0" y="32534"/>
                </a:lnTo>
                <a:cubicBezTo>
                  <a:pt x="0" y="14566"/>
                  <a:pt x="14566" y="0"/>
                  <a:pt x="32534" y="0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29" name="Shape 26"/>
          <p:cNvSpPr/>
          <p:nvPr/>
        </p:nvSpPr>
        <p:spPr>
          <a:xfrm>
            <a:off x="6524021" y="3943082"/>
            <a:ext cx="325337" cy="325337"/>
          </a:xfrm>
          <a:custGeom>
            <a:avLst/>
            <a:gdLst/>
            <a:ahLst/>
            <a:cxnLst/>
            <a:rect l="l" t="t" r="r" b="b"/>
            <a:pathLst>
              <a:path w="325337" h="325337">
                <a:moveTo>
                  <a:pt x="65067" y="0"/>
                </a:moveTo>
                <a:lnTo>
                  <a:pt x="260270" y="0"/>
                </a:lnTo>
                <a:cubicBezTo>
                  <a:pt x="296181" y="0"/>
                  <a:pt x="325337" y="29156"/>
                  <a:pt x="325337" y="65067"/>
                </a:cubicBezTo>
                <a:lnTo>
                  <a:pt x="325337" y="260270"/>
                </a:lnTo>
                <a:cubicBezTo>
                  <a:pt x="325337" y="296205"/>
                  <a:pt x="296205" y="325337"/>
                  <a:pt x="260270" y="325337"/>
                </a:cubicBezTo>
                <a:lnTo>
                  <a:pt x="65067" y="325337"/>
                </a:lnTo>
                <a:cubicBezTo>
                  <a:pt x="29156" y="325337"/>
                  <a:pt x="0" y="296181"/>
                  <a:pt x="0" y="260270"/>
                </a:cubicBezTo>
                <a:lnTo>
                  <a:pt x="0" y="65067"/>
                </a:lnTo>
                <a:cubicBezTo>
                  <a:pt x="0" y="29132"/>
                  <a:pt x="29132" y="0"/>
                  <a:pt x="65067" y="0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30" name="Shape 27"/>
          <p:cNvSpPr/>
          <p:nvPr/>
        </p:nvSpPr>
        <p:spPr>
          <a:xfrm>
            <a:off x="6629756" y="4040683"/>
            <a:ext cx="113868" cy="130135"/>
          </a:xfrm>
          <a:custGeom>
            <a:avLst/>
            <a:gdLst/>
            <a:ahLst/>
            <a:cxnLst/>
            <a:rect l="l" t="t" r="r" b="b"/>
            <a:pathLst>
              <a:path w="113868" h="130135">
                <a:moveTo>
                  <a:pt x="56934" y="63034"/>
                </a:moveTo>
                <a:cubicBezTo>
                  <a:pt x="73768" y="63034"/>
                  <a:pt x="87434" y="49367"/>
                  <a:pt x="87434" y="32534"/>
                </a:cubicBezTo>
                <a:cubicBezTo>
                  <a:pt x="87434" y="15700"/>
                  <a:pt x="73768" y="2033"/>
                  <a:pt x="56934" y="2033"/>
                </a:cubicBezTo>
                <a:cubicBezTo>
                  <a:pt x="40100" y="2033"/>
                  <a:pt x="26434" y="15700"/>
                  <a:pt x="26434" y="32534"/>
                </a:cubicBezTo>
                <a:cubicBezTo>
                  <a:pt x="26434" y="49367"/>
                  <a:pt x="40100" y="63034"/>
                  <a:pt x="56934" y="63034"/>
                </a:cubicBezTo>
                <a:close/>
                <a:moveTo>
                  <a:pt x="49385" y="77268"/>
                </a:moveTo>
                <a:cubicBezTo>
                  <a:pt x="24349" y="77268"/>
                  <a:pt x="4067" y="97550"/>
                  <a:pt x="4067" y="122586"/>
                </a:cubicBezTo>
                <a:cubicBezTo>
                  <a:pt x="4067" y="126754"/>
                  <a:pt x="7447" y="130135"/>
                  <a:pt x="11616" y="130135"/>
                </a:cubicBezTo>
                <a:lnTo>
                  <a:pt x="102252" y="130135"/>
                </a:lnTo>
                <a:cubicBezTo>
                  <a:pt x="106421" y="130135"/>
                  <a:pt x="109801" y="126754"/>
                  <a:pt x="109801" y="122586"/>
                </a:cubicBezTo>
                <a:cubicBezTo>
                  <a:pt x="109801" y="97550"/>
                  <a:pt x="89518" y="77268"/>
                  <a:pt x="64483" y="77268"/>
                </a:cubicBezTo>
                <a:lnTo>
                  <a:pt x="49385" y="7726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8"/>
          <p:cNvSpPr/>
          <p:nvPr/>
        </p:nvSpPr>
        <p:spPr>
          <a:xfrm>
            <a:off x="6946959" y="3943082"/>
            <a:ext cx="4082978" cy="195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5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Demographic Factors (age, sex)</a:t>
            </a:r>
            <a:endParaRPr lang="en-US" sz="1600"/>
          </a:p>
        </p:txBody>
      </p:sp>
      <p:sp>
        <p:nvSpPr>
          <p:cNvPr id="32" name="Text 29"/>
          <p:cNvSpPr/>
          <p:nvPr/>
        </p:nvSpPr>
        <p:spPr>
          <a:xfrm>
            <a:off x="6946959" y="4170817"/>
            <a:ext cx="4074845" cy="16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7" b="1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Moderate influence</a:t>
            </a:r>
            <a:r>
              <a:rPr lang="en-US" sz="897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older individuals contribute more to higher cost categories</a:t>
            </a:r>
            <a:endParaRPr lang="en-US" sz="1600"/>
          </a:p>
        </p:txBody>
      </p:sp>
      <p:sp>
        <p:nvSpPr>
          <p:cNvPr id="33" name="Shape 30"/>
          <p:cNvSpPr/>
          <p:nvPr/>
        </p:nvSpPr>
        <p:spPr>
          <a:xfrm>
            <a:off x="6377620" y="4561222"/>
            <a:ext cx="5319258" cy="650674"/>
          </a:xfrm>
          <a:custGeom>
            <a:avLst/>
            <a:gdLst/>
            <a:ahLst/>
            <a:cxnLst/>
            <a:rect l="l" t="t" r="r" b="b"/>
            <a:pathLst>
              <a:path w="5319258" h="650674">
                <a:moveTo>
                  <a:pt x="32534" y="0"/>
                </a:moveTo>
                <a:lnTo>
                  <a:pt x="5254191" y="0"/>
                </a:lnTo>
                <a:cubicBezTo>
                  <a:pt x="5290102" y="0"/>
                  <a:pt x="5319258" y="29156"/>
                  <a:pt x="5319258" y="65067"/>
                </a:cubicBezTo>
                <a:lnTo>
                  <a:pt x="5319258" y="585606"/>
                </a:lnTo>
                <a:cubicBezTo>
                  <a:pt x="5319258" y="621542"/>
                  <a:pt x="5290127" y="650674"/>
                  <a:pt x="5254191" y="650674"/>
                </a:cubicBezTo>
                <a:lnTo>
                  <a:pt x="32534" y="650674"/>
                </a:lnTo>
                <a:cubicBezTo>
                  <a:pt x="14578" y="650674"/>
                  <a:pt x="0" y="636096"/>
                  <a:pt x="0" y="618140"/>
                </a:cubicBezTo>
                <a:lnTo>
                  <a:pt x="0" y="32534"/>
                </a:lnTo>
                <a:cubicBezTo>
                  <a:pt x="0" y="14566"/>
                  <a:pt x="14566" y="0"/>
                  <a:pt x="32534" y="0"/>
                </a:cubicBezTo>
                <a:close/>
              </a:path>
            </a:pathLst>
          </a:custGeom>
          <a:solidFill>
            <a:srgbClr val="86868B">
              <a:alpha val="10196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6377620" y="4561222"/>
            <a:ext cx="32534" cy="650674"/>
          </a:xfrm>
          <a:custGeom>
            <a:avLst/>
            <a:gdLst/>
            <a:ahLst/>
            <a:cxnLst/>
            <a:rect l="l" t="t" r="r" b="b"/>
            <a:pathLst>
              <a:path w="32534" h="650674">
                <a:moveTo>
                  <a:pt x="32534" y="0"/>
                </a:moveTo>
                <a:lnTo>
                  <a:pt x="32534" y="0"/>
                </a:lnTo>
                <a:lnTo>
                  <a:pt x="32534" y="650674"/>
                </a:lnTo>
                <a:lnTo>
                  <a:pt x="32534" y="650674"/>
                </a:lnTo>
                <a:cubicBezTo>
                  <a:pt x="14578" y="650674"/>
                  <a:pt x="0" y="636096"/>
                  <a:pt x="0" y="618140"/>
                </a:cubicBezTo>
                <a:lnTo>
                  <a:pt x="0" y="32534"/>
                </a:lnTo>
                <a:cubicBezTo>
                  <a:pt x="0" y="14566"/>
                  <a:pt x="14566" y="0"/>
                  <a:pt x="32534" y="0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35" name="Shape 32"/>
          <p:cNvSpPr/>
          <p:nvPr/>
        </p:nvSpPr>
        <p:spPr>
          <a:xfrm>
            <a:off x="6524021" y="4691356"/>
            <a:ext cx="325337" cy="325337"/>
          </a:xfrm>
          <a:custGeom>
            <a:avLst/>
            <a:gdLst/>
            <a:ahLst/>
            <a:cxnLst/>
            <a:rect l="l" t="t" r="r" b="b"/>
            <a:pathLst>
              <a:path w="325337" h="325337">
                <a:moveTo>
                  <a:pt x="65067" y="0"/>
                </a:moveTo>
                <a:lnTo>
                  <a:pt x="260270" y="0"/>
                </a:lnTo>
                <a:cubicBezTo>
                  <a:pt x="296181" y="0"/>
                  <a:pt x="325337" y="29156"/>
                  <a:pt x="325337" y="65067"/>
                </a:cubicBezTo>
                <a:lnTo>
                  <a:pt x="325337" y="260270"/>
                </a:lnTo>
                <a:cubicBezTo>
                  <a:pt x="325337" y="296205"/>
                  <a:pt x="296205" y="325337"/>
                  <a:pt x="260270" y="325337"/>
                </a:cubicBezTo>
                <a:lnTo>
                  <a:pt x="65067" y="325337"/>
                </a:lnTo>
                <a:cubicBezTo>
                  <a:pt x="29156" y="325337"/>
                  <a:pt x="0" y="296181"/>
                  <a:pt x="0" y="260270"/>
                </a:cubicBezTo>
                <a:lnTo>
                  <a:pt x="0" y="65067"/>
                </a:lnTo>
                <a:cubicBezTo>
                  <a:pt x="0" y="29132"/>
                  <a:pt x="29132" y="0"/>
                  <a:pt x="65067" y="0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36" name="Shape 33"/>
          <p:cNvSpPr/>
          <p:nvPr/>
        </p:nvSpPr>
        <p:spPr>
          <a:xfrm>
            <a:off x="6613489" y="4788957"/>
            <a:ext cx="146402" cy="130135"/>
          </a:xfrm>
          <a:custGeom>
            <a:avLst/>
            <a:gdLst/>
            <a:ahLst/>
            <a:cxnLst/>
            <a:rect l="l" t="t" r="r" b="b"/>
            <a:pathLst>
              <a:path w="146402" h="130135">
                <a:moveTo>
                  <a:pt x="8133" y="12200"/>
                </a:moveTo>
                <a:cubicBezTo>
                  <a:pt x="8133" y="5465"/>
                  <a:pt x="13598" y="0"/>
                  <a:pt x="20334" y="0"/>
                </a:cubicBezTo>
                <a:lnTo>
                  <a:pt x="32534" y="0"/>
                </a:lnTo>
                <a:cubicBezTo>
                  <a:pt x="37032" y="0"/>
                  <a:pt x="40667" y="3635"/>
                  <a:pt x="40667" y="8133"/>
                </a:cubicBezTo>
                <a:cubicBezTo>
                  <a:pt x="40667" y="12632"/>
                  <a:pt x="37032" y="16267"/>
                  <a:pt x="32534" y="16267"/>
                </a:cubicBezTo>
                <a:lnTo>
                  <a:pt x="24400" y="16267"/>
                </a:lnTo>
                <a:lnTo>
                  <a:pt x="24400" y="48801"/>
                </a:lnTo>
                <a:cubicBezTo>
                  <a:pt x="24400" y="62272"/>
                  <a:pt x="35330" y="73201"/>
                  <a:pt x="48801" y="73201"/>
                </a:cubicBezTo>
                <a:cubicBezTo>
                  <a:pt x="62272" y="73201"/>
                  <a:pt x="73201" y="62272"/>
                  <a:pt x="73201" y="48801"/>
                </a:cubicBezTo>
                <a:lnTo>
                  <a:pt x="73201" y="16267"/>
                </a:lnTo>
                <a:lnTo>
                  <a:pt x="65067" y="16267"/>
                </a:lnTo>
                <a:cubicBezTo>
                  <a:pt x="60569" y="16267"/>
                  <a:pt x="56934" y="12632"/>
                  <a:pt x="56934" y="8133"/>
                </a:cubicBezTo>
                <a:cubicBezTo>
                  <a:pt x="56934" y="3635"/>
                  <a:pt x="60569" y="0"/>
                  <a:pt x="65067" y="0"/>
                </a:cubicBezTo>
                <a:lnTo>
                  <a:pt x="77268" y="0"/>
                </a:lnTo>
                <a:cubicBezTo>
                  <a:pt x="84003" y="0"/>
                  <a:pt x="89468" y="5465"/>
                  <a:pt x="89468" y="12200"/>
                </a:cubicBezTo>
                <a:lnTo>
                  <a:pt x="89468" y="48801"/>
                </a:lnTo>
                <a:cubicBezTo>
                  <a:pt x="89468" y="68473"/>
                  <a:pt x="75488" y="84893"/>
                  <a:pt x="56934" y="88654"/>
                </a:cubicBezTo>
                <a:lnTo>
                  <a:pt x="56934" y="93534"/>
                </a:lnTo>
                <a:cubicBezTo>
                  <a:pt x="56934" y="109267"/>
                  <a:pt x="69668" y="122001"/>
                  <a:pt x="85401" y="122001"/>
                </a:cubicBezTo>
                <a:cubicBezTo>
                  <a:pt x="101134" y="122001"/>
                  <a:pt x="113868" y="109267"/>
                  <a:pt x="113868" y="93534"/>
                </a:cubicBezTo>
                <a:lnTo>
                  <a:pt x="113868" y="71803"/>
                </a:lnTo>
                <a:cubicBezTo>
                  <a:pt x="104387" y="68448"/>
                  <a:pt x="97601" y="59425"/>
                  <a:pt x="97601" y="48801"/>
                </a:cubicBezTo>
                <a:cubicBezTo>
                  <a:pt x="97601" y="35330"/>
                  <a:pt x="108530" y="24400"/>
                  <a:pt x="122001" y="24400"/>
                </a:cubicBezTo>
                <a:cubicBezTo>
                  <a:pt x="135472" y="24400"/>
                  <a:pt x="146402" y="35330"/>
                  <a:pt x="146402" y="48801"/>
                </a:cubicBezTo>
                <a:cubicBezTo>
                  <a:pt x="146402" y="59425"/>
                  <a:pt x="139615" y="68473"/>
                  <a:pt x="130135" y="71803"/>
                </a:cubicBezTo>
                <a:lnTo>
                  <a:pt x="130135" y="93534"/>
                </a:lnTo>
                <a:cubicBezTo>
                  <a:pt x="130135" y="118240"/>
                  <a:pt x="110106" y="138268"/>
                  <a:pt x="85401" y="138268"/>
                </a:cubicBezTo>
                <a:cubicBezTo>
                  <a:pt x="60696" y="138268"/>
                  <a:pt x="40667" y="118240"/>
                  <a:pt x="40667" y="93534"/>
                </a:cubicBezTo>
                <a:lnTo>
                  <a:pt x="40667" y="88654"/>
                </a:lnTo>
                <a:cubicBezTo>
                  <a:pt x="22113" y="84893"/>
                  <a:pt x="8133" y="68473"/>
                  <a:pt x="8133" y="48801"/>
                </a:cubicBezTo>
                <a:lnTo>
                  <a:pt x="8133" y="12200"/>
                </a:lnTo>
                <a:close/>
                <a:moveTo>
                  <a:pt x="122001" y="56934"/>
                </a:moveTo>
                <a:cubicBezTo>
                  <a:pt x="126490" y="56934"/>
                  <a:pt x="130135" y="53289"/>
                  <a:pt x="130135" y="48801"/>
                </a:cubicBezTo>
                <a:cubicBezTo>
                  <a:pt x="130135" y="44312"/>
                  <a:pt x="126490" y="40667"/>
                  <a:pt x="122001" y="40667"/>
                </a:cubicBezTo>
                <a:cubicBezTo>
                  <a:pt x="117512" y="40667"/>
                  <a:pt x="113868" y="44312"/>
                  <a:pt x="113868" y="48801"/>
                </a:cubicBezTo>
                <a:cubicBezTo>
                  <a:pt x="113868" y="53289"/>
                  <a:pt x="117512" y="56934"/>
                  <a:pt x="122001" y="5693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Text 34"/>
          <p:cNvSpPr/>
          <p:nvPr/>
        </p:nvSpPr>
        <p:spPr>
          <a:xfrm>
            <a:off x="6946959" y="4691356"/>
            <a:ext cx="4432715" cy="195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5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Clinical Indicators</a:t>
            </a:r>
            <a:endParaRPr lang="en-US" sz="1600"/>
          </a:p>
        </p:txBody>
      </p:sp>
      <p:sp>
        <p:nvSpPr>
          <p:cNvPr id="38" name="Text 35"/>
          <p:cNvSpPr/>
          <p:nvPr/>
        </p:nvSpPr>
        <p:spPr>
          <a:xfrm>
            <a:off x="6946959" y="4919092"/>
            <a:ext cx="4424582" cy="16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7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Joint pain, vision, hearing issues help identify individuals with elevated healthcare needs</a:t>
            </a:r>
            <a:endParaRPr lang="en-US" sz="1600"/>
          </a:p>
        </p:txBody>
      </p:sp>
      <p:sp>
        <p:nvSpPr>
          <p:cNvPr id="39" name="Shape 36"/>
          <p:cNvSpPr/>
          <p:nvPr/>
        </p:nvSpPr>
        <p:spPr>
          <a:xfrm>
            <a:off x="6195431" y="5514465"/>
            <a:ext cx="5667369" cy="852383"/>
          </a:xfrm>
          <a:custGeom>
            <a:avLst/>
            <a:gdLst/>
            <a:ahLst/>
            <a:cxnLst/>
            <a:rect l="l" t="t" r="r" b="b"/>
            <a:pathLst>
              <a:path w="5667369" h="852383">
                <a:moveTo>
                  <a:pt x="97598" y="0"/>
                </a:moveTo>
                <a:lnTo>
                  <a:pt x="5569771" y="0"/>
                </a:lnTo>
                <a:cubicBezTo>
                  <a:pt x="5623673" y="0"/>
                  <a:pt x="5667369" y="43696"/>
                  <a:pt x="5667369" y="97598"/>
                </a:cubicBezTo>
                <a:lnTo>
                  <a:pt x="5667369" y="754785"/>
                </a:lnTo>
                <a:cubicBezTo>
                  <a:pt x="5667369" y="808687"/>
                  <a:pt x="5623673" y="852383"/>
                  <a:pt x="5569771" y="852383"/>
                </a:cubicBezTo>
                <a:lnTo>
                  <a:pt x="97598" y="852383"/>
                </a:lnTo>
                <a:cubicBezTo>
                  <a:pt x="43696" y="852383"/>
                  <a:pt x="0" y="808687"/>
                  <a:pt x="0" y="754785"/>
                </a:cubicBezTo>
                <a:lnTo>
                  <a:pt x="0" y="97598"/>
                </a:lnTo>
                <a:cubicBezTo>
                  <a:pt x="0" y="43732"/>
                  <a:pt x="43732" y="0"/>
                  <a:pt x="97598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 w="10160">
            <a:solidFill>
              <a:srgbClr val="0071E3">
                <a:alpha val="2000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361353" y="5673880"/>
            <a:ext cx="97601" cy="130135"/>
          </a:xfrm>
          <a:custGeom>
            <a:avLst/>
            <a:gdLst/>
            <a:ahLst/>
            <a:cxnLst/>
            <a:rect l="l" t="t" r="r" b="b"/>
            <a:pathLst>
              <a:path w="97601" h="130135">
                <a:moveTo>
                  <a:pt x="74446" y="97601"/>
                </a:moveTo>
                <a:cubicBezTo>
                  <a:pt x="76302" y="91933"/>
                  <a:pt x="80013" y="86799"/>
                  <a:pt x="84206" y="82376"/>
                </a:cubicBezTo>
                <a:cubicBezTo>
                  <a:pt x="92518" y="73633"/>
                  <a:pt x="97601" y="61814"/>
                  <a:pt x="97601" y="48801"/>
                </a:cubicBezTo>
                <a:cubicBezTo>
                  <a:pt x="97601" y="21859"/>
                  <a:pt x="75742" y="0"/>
                  <a:pt x="48801" y="0"/>
                </a:cubicBezTo>
                <a:cubicBezTo>
                  <a:pt x="21859" y="0"/>
                  <a:pt x="0" y="21859"/>
                  <a:pt x="0" y="48801"/>
                </a:cubicBezTo>
                <a:cubicBezTo>
                  <a:pt x="0" y="61814"/>
                  <a:pt x="5083" y="73633"/>
                  <a:pt x="13395" y="82376"/>
                </a:cubicBezTo>
                <a:cubicBezTo>
                  <a:pt x="17589" y="86799"/>
                  <a:pt x="21325" y="91933"/>
                  <a:pt x="23155" y="97601"/>
                </a:cubicBezTo>
                <a:lnTo>
                  <a:pt x="74421" y="97601"/>
                </a:lnTo>
                <a:close/>
                <a:moveTo>
                  <a:pt x="73201" y="109801"/>
                </a:moveTo>
                <a:lnTo>
                  <a:pt x="24400" y="109801"/>
                </a:lnTo>
                <a:lnTo>
                  <a:pt x="24400" y="113868"/>
                </a:lnTo>
                <a:cubicBezTo>
                  <a:pt x="24400" y="125102"/>
                  <a:pt x="33500" y="134201"/>
                  <a:pt x="44734" y="134201"/>
                </a:cubicBezTo>
                <a:lnTo>
                  <a:pt x="52867" y="134201"/>
                </a:lnTo>
                <a:cubicBezTo>
                  <a:pt x="64102" y="134201"/>
                  <a:pt x="73201" y="125102"/>
                  <a:pt x="73201" y="113868"/>
                </a:cubicBezTo>
                <a:lnTo>
                  <a:pt x="73201" y="109801"/>
                </a:lnTo>
                <a:close/>
                <a:moveTo>
                  <a:pt x="46767" y="28467"/>
                </a:moveTo>
                <a:cubicBezTo>
                  <a:pt x="36651" y="28467"/>
                  <a:pt x="28467" y="36651"/>
                  <a:pt x="28467" y="46767"/>
                </a:cubicBezTo>
                <a:cubicBezTo>
                  <a:pt x="28467" y="50148"/>
                  <a:pt x="25747" y="52867"/>
                  <a:pt x="22367" y="52867"/>
                </a:cubicBezTo>
                <a:cubicBezTo>
                  <a:pt x="18986" y="52867"/>
                  <a:pt x="16267" y="50148"/>
                  <a:pt x="16267" y="46767"/>
                </a:cubicBezTo>
                <a:cubicBezTo>
                  <a:pt x="16267" y="29916"/>
                  <a:pt x="29916" y="16267"/>
                  <a:pt x="46767" y="16267"/>
                </a:cubicBezTo>
                <a:cubicBezTo>
                  <a:pt x="50148" y="16267"/>
                  <a:pt x="52867" y="18986"/>
                  <a:pt x="52867" y="22367"/>
                </a:cubicBezTo>
                <a:cubicBezTo>
                  <a:pt x="52867" y="25747"/>
                  <a:pt x="50148" y="28467"/>
                  <a:pt x="46767" y="28467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1" name="Text 38"/>
          <p:cNvSpPr/>
          <p:nvPr/>
        </p:nvSpPr>
        <p:spPr>
          <a:xfrm>
            <a:off x="6533159" y="5647852"/>
            <a:ext cx="5261320" cy="585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5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Overall Insight:</a:t>
            </a:r>
            <a:r>
              <a:rPr lang="en-US" sz="1025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model relies more on </a:t>
            </a:r>
            <a:r>
              <a:rPr lang="en-US" sz="1025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historical spending and utilization patterns</a:t>
            </a:r>
            <a:r>
              <a:rPr lang="en-US" sz="1025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than demographic or socioeconomic factors, suggesting that past behavior is the strongest predictor of future healthcare costs.</a:t>
            </a:r>
            <a:endParaRPr lang="en-US" sz="160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Limitations &amp; Future Work</a:t>
            </a:r>
            <a:endParaRPr lang="en-US" sz="160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Study Limitations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400050" y="1219200"/>
            <a:ext cx="3667125" cy="2514600"/>
          </a:xfrm>
          <a:custGeom>
            <a:avLst/>
            <a:gdLst/>
            <a:ahLst/>
            <a:cxnLst/>
            <a:rect l="l" t="t" r="r" b="b"/>
            <a:pathLst>
              <a:path w="3667125" h="2514600">
                <a:moveTo>
                  <a:pt x="38100" y="0"/>
                </a:moveTo>
                <a:lnTo>
                  <a:pt x="3552836" y="0"/>
                </a:lnTo>
                <a:cubicBezTo>
                  <a:pt x="3615914" y="0"/>
                  <a:pt x="3667125" y="51211"/>
                  <a:pt x="3667125" y="114289"/>
                </a:cubicBezTo>
                <a:lnTo>
                  <a:pt x="3667125" y="2400311"/>
                </a:lnTo>
                <a:cubicBezTo>
                  <a:pt x="3667125" y="2463431"/>
                  <a:pt x="3615956" y="2514600"/>
                  <a:pt x="3552836" y="2514600"/>
                </a:cubicBezTo>
                <a:lnTo>
                  <a:pt x="38100" y="2514600"/>
                </a:lnTo>
                <a:cubicBezTo>
                  <a:pt x="17072" y="2514600"/>
                  <a:pt x="0" y="2497528"/>
                  <a:pt x="0" y="2476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219200"/>
            <a:ext cx="38100" cy="2514600"/>
          </a:xfrm>
          <a:custGeom>
            <a:avLst/>
            <a:gdLst/>
            <a:ahLst/>
            <a:cxnLst/>
            <a:rect l="l" t="t" r="r" b="b"/>
            <a:pathLst>
              <a:path w="38100" h="2514600">
                <a:moveTo>
                  <a:pt x="38100" y="0"/>
                </a:moveTo>
                <a:lnTo>
                  <a:pt x="38100" y="0"/>
                </a:lnTo>
                <a:lnTo>
                  <a:pt x="38100" y="2514600"/>
                </a:lnTo>
                <a:lnTo>
                  <a:pt x="38100" y="2514600"/>
                </a:lnTo>
                <a:cubicBezTo>
                  <a:pt x="17072" y="2514600"/>
                  <a:pt x="0" y="2497528"/>
                  <a:pt x="0" y="2476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409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6868B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42950" y="15430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8" name="Text 6"/>
          <p:cNvSpPr/>
          <p:nvPr/>
        </p:nvSpPr>
        <p:spPr>
          <a:xfrm>
            <a:off x="1181100" y="1409700"/>
            <a:ext cx="1838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Moderate Performance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609600" y="1981200"/>
            <a:ext cx="33432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F1 = 0.46 for high-cost class</a:t>
            </a:r>
            <a:r>
              <a:rPr lang="en-US" sz="120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indicates room for improvement in detecting the most critical patient segment.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609600" y="2838450"/>
            <a:ext cx="333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While this represents a 44% improvement over baseline, further enhancement is needed for clinical deployment.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4273510" y="1219200"/>
            <a:ext cx="3667125" cy="2514600"/>
          </a:xfrm>
          <a:custGeom>
            <a:avLst/>
            <a:gdLst/>
            <a:ahLst/>
            <a:cxnLst/>
            <a:rect l="l" t="t" r="r" b="b"/>
            <a:pathLst>
              <a:path w="3667125" h="2514600">
                <a:moveTo>
                  <a:pt x="38100" y="0"/>
                </a:moveTo>
                <a:lnTo>
                  <a:pt x="3552836" y="0"/>
                </a:lnTo>
                <a:cubicBezTo>
                  <a:pt x="3615914" y="0"/>
                  <a:pt x="3667125" y="51211"/>
                  <a:pt x="3667125" y="114289"/>
                </a:cubicBezTo>
                <a:lnTo>
                  <a:pt x="3667125" y="2400311"/>
                </a:lnTo>
                <a:cubicBezTo>
                  <a:pt x="3667125" y="2463431"/>
                  <a:pt x="3615956" y="2514600"/>
                  <a:pt x="3552836" y="2514600"/>
                </a:cubicBezTo>
                <a:lnTo>
                  <a:pt x="38100" y="2514600"/>
                </a:lnTo>
                <a:cubicBezTo>
                  <a:pt x="17072" y="2514600"/>
                  <a:pt x="0" y="2497528"/>
                  <a:pt x="0" y="2476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273510" y="1219200"/>
            <a:ext cx="38100" cy="2514600"/>
          </a:xfrm>
          <a:custGeom>
            <a:avLst/>
            <a:gdLst/>
            <a:ahLst/>
            <a:cxnLst/>
            <a:rect l="l" t="t" r="r" b="b"/>
            <a:pathLst>
              <a:path w="38100" h="2514600">
                <a:moveTo>
                  <a:pt x="38100" y="0"/>
                </a:moveTo>
                <a:lnTo>
                  <a:pt x="38100" y="0"/>
                </a:lnTo>
                <a:lnTo>
                  <a:pt x="38100" y="2514600"/>
                </a:lnTo>
                <a:lnTo>
                  <a:pt x="38100" y="2514600"/>
                </a:lnTo>
                <a:cubicBezTo>
                  <a:pt x="17072" y="2514600"/>
                  <a:pt x="0" y="2497528"/>
                  <a:pt x="0" y="2476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13" name="Shape 11"/>
          <p:cNvSpPr/>
          <p:nvPr/>
        </p:nvSpPr>
        <p:spPr>
          <a:xfrm>
            <a:off x="4483060" y="1409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6868B">
              <a:alpha val="1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616410" y="15430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4519" y="85018"/>
                </a:moveTo>
                <a:cubicBezTo>
                  <a:pt x="29468" y="50416"/>
                  <a:pt x="59271" y="23812"/>
                  <a:pt x="95250" y="23812"/>
                </a:cubicBezTo>
                <a:cubicBezTo>
                  <a:pt x="114970" y="23812"/>
                  <a:pt x="132829" y="31812"/>
                  <a:pt x="145777" y="44723"/>
                </a:cubicBezTo>
                <a:cubicBezTo>
                  <a:pt x="145852" y="44797"/>
                  <a:pt x="145926" y="44872"/>
                  <a:pt x="146000" y="44946"/>
                </a:cubicBezTo>
                <a:lnTo>
                  <a:pt x="148828" y="47625"/>
                </a:lnTo>
                <a:lnTo>
                  <a:pt x="131006" y="47625"/>
                </a:lnTo>
                <a:cubicBezTo>
                  <a:pt x="124420" y="47625"/>
                  <a:pt x="119100" y="52946"/>
                  <a:pt x="119100" y="59531"/>
                </a:cubicBezTo>
                <a:cubicBezTo>
                  <a:pt x="119100" y="66117"/>
                  <a:pt x="124420" y="71438"/>
                  <a:pt x="131006" y="71438"/>
                </a:cubicBezTo>
                <a:lnTo>
                  <a:pt x="178631" y="71438"/>
                </a:lnTo>
                <a:cubicBezTo>
                  <a:pt x="185217" y="71438"/>
                  <a:pt x="190537" y="66117"/>
                  <a:pt x="190537" y="59531"/>
                </a:cubicBezTo>
                <a:lnTo>
                  <a:pt x="190537" y="11906"/>
                </a:lnTo>
                <a:cubicBezTo>
                  <a:pt x="190537" y="5321"/>
                  <a:pt x="185217" y="0"/>
                  <a:pt x="178631" y="0"/>
                </a:cubicBezTo>
                <a:cubicBezTo>
                  <a:pt x="172045" y="0"/>
                  <a:pt x="166725" y="5321"/>
                  <a:pt x="166725" y="11906"/>
                </a:cubicBezTo>
                <a:lnTo>
                  <a:pt x="166725" y="31775"/>
                </a:lnTo>
                <a:lnTo>
                  <a:pt x="162520" y="27794"/>
                </a:lnTo>
                <a:cubicBezTo>
                  <a:pt x="145293" y="10641"/>
                  <a:pt x="121481" y="0"/>
                  <a:pt x="95250" y="0"/>
                </a:cubicBezTo>
                <a:cubicBezTo>
                  <a:pt x="47253" y="0"/>
                  <a:pt x="7553" y="35496"/>
                  <a:pt x="967" y="81669"/>
                </a:cubicBezTo>
                <a:cubicBezTo>
                  <a:pt x="37" y="88181"/>
                  <a:pt x="4539" y="94208"/>
                  <a:pt x="11050" y="95138"/>
                </a:cubicBezTo>
                <a:cubicBezTo>
                  <a:pt x="17562" y="96069"/>
                  <a:pt x="23589" y="91529"/>
                  <a:pt x="24519" y="85055"/>
                </a:cubicBezTo>
                <a:close/>
                <a:moveTo>
                  <a:pt x="189533" y="108831"/>
                </a:moveTo>
                <a:cubicBezTo>
                  <a:pt x="190463" y="102319"/>
                  <a:pt x="185924" y="96292"/>
                  <a:pt x="179450" y="95362"/>
                </a:cubicBezTo>
                <a:cubicBezTo>
                  <a:pt x="172975" y="94431"/>
                  <a:pt x="166911" y="98971"/>
                  <a:pt x="165981" y="105445"/>
                </a:cubicBezTo>
                <a:cubicBezTo>
                  <a:pt x="161032" y="140047"/>
                  <a:pt x="131229" y="166650"/>
                  <a:pt x="95250" y="166650"/>
                </a:cubicBezTo>
                <a:cubicBezTo>
                  <a:pt x="75530" y="166650"/>
                  <a:pt x="57671" y="158651"/>
                  <a:pt x="44723" y="145740"/>
                </a:cubicBezTo>
                <a:cubicBezTo>
                  <a:pt x="44648" y="145666"/>
                  <a:pt x="44574" y="145591"/>
                  <a:pt x="44500" y="145517"/>
                </a:cubicBezTo>
                <a:lnTo>
                  <a:pt x="41672" y="142838"/>
                </a:lnTo>
                <a:lnTo>
                  <a:pt x="59494" y="142838"/>
                </a:lnTo>
                <a:cubicBezTo>
                  <a:pt x="66080" y="142838"/>
                  <a:pt x="71400" y="137517"/>
                  <a:pt x="71400" y="130932"/>
                </a:cubicBezTo>
                <a:cubicBezTo>
                  <a:pt x="71400" y="124346"/>
                  <a:pt x="66080" y="119025"/>
                  <a:pt x="59494" y="119025"/>
                </a:cubicBezTo>
                <a:lnTo>
                  <a:pt x="11906" y="119063"/>
                </a:lnTo>
                <a:cubicBezTo>
                  <a:pt x="8744" y="119063"/>
                  <a:pt x="5693" y="120328"/>
                  <a:pt x="3460" y="122597"/>
                </a:cubicBezTo>
                <a:cubicBezTo>
                  <a:pt x="1228" y="124867"/>
                  <a:pt x="-37" y="127881"/>
                  <a:pt x="0" y="131080"/>
                </a:cubicBezTo>
                <a:lnTo>
                  <a:pt x="372" y="178333"/>
                </a:lnTo>
                <a:cubicBezTo>
                  <a:pt x="409" y="184919"/>
                  <a:pt x="5804" y="190202"/>
                  <a:pt x="12390" y="190128"/>
                </a:cubicBezTo>
                <a:cubicBezTo>
                  <a:pt x="18976" y="190054"/>
                  <a:pt x="24259" y="184696"/>
                  <a:pt x="24185" y="178110"/>
                </a:cubicBezTo>
                <a:lnTo>
                  <a:pt x="24036" y="158948"/>
                </a:lnTo>
                <a:lnTo>
                  <a:pt x="28017" y="162706"/>
                </a:lnTo>
                <a:cubicBezTo>
                  <a:pt x="45244" y="179859"/>
                  <a:pt x="69019" y="190500"/>
                  <a:pt x="95250" y="190500"/>
                </a:cubicBezTo>
                <a:cubicBezTo>
                  <a:pt x="143247" y="190500"/>
                  <a:pt x="182947" y="155004"/>
                  <a:pt x="189533" y="108831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15" name="Text 13"/>
          <p:cNvSpPr/>
          <p:nvPr/>
        </p:nvSpPr>
        <p:spPr>
          <a:xfrm>
            <a:off x="5054561" y="1409700"/>
            <a:ext cx="160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Skewed Distribution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4483060" y="1981200"/>
            <a:ext cx="33432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Healthcare expenditure is highly skewed</a:t>
            </a:r>
            <a:r>
              <a:rPr lang="en-US" sz="120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inherently difficult to predict due to extreme outliers and zero-inflation.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4483060" y="2838450"/>
            <a:ext cx="333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long-tail distribution of costs presents fundamental challenges for predictive modeling.</a:t>
            </a:r>
            <a:endParaRPr lang="en-US" sz="1600"/>
          </a:p>
        </p:txBody>
      </p:sp>
      <p:sp>
        <p:nvSpPr>
          <p:cNvPr id="18" name="Shape 16"/>
          <p:cNvSpPr/>
          <p:nvPr/>
        </p:nvSpPr>
        <p:spPr>
          <a:xfrm>
            <a:off x="8146971" y="1219200"/>
            <a:ext cx="3667125" cy="2514600"/>
          </a:xfrm>
          <a:custGeom>
            <a:avLst/>
            <a:gdLst/>
            <a:ahLst/>
            <a:cxnLst/>
            <a:rect l="l" t="t" r="r" b="b"/>
            <a:pathLst>
              <a:path w="3667125" h="2514600">
                <a:moveTo>
                  <a:pt x="38100" y="0"/>
                </a:moveTo>
                <a:lnTo>
                  <a:pt x="3552836" y="0"/>
                </a:lnTo>
                <a:cubicBezTo>
                  <a:pt x="3615914" y="0"/>
                  <a:pt x="3667125" y="51211"/>
                  <a:pt x="3667125" y="114289"/>
                </a:cubicBezTo>
                <a:lnTo>
                  <a:pt x="3667125" y="2400311"/>
                </a:lnTo>
                <a:cubicBezTo>
                  <a:pt x="3667125" y="2463431"/>
                  <a:pt x="3615956" y="2514600"/>
                  <a:pt x="3552836" y="2514600"/>
                </a:cubicBezTo>
                <a:lnTo>
                  <a:pt x="38100" y="2514600"/>
                </a:lnTo>
                <a:cubicBezTo>
                  <a:pt x="17072" y="2514600"/>
                  <a:pt x="0" y="2497528"/>
                  <a:pt x="0" y="2476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8146971" y="1219200"/>
            <a:ext cx="38100" cy="2514600"/>
          </a:xfrm>
          <a:custGeom>
            <a:avLst/>
            <a:gdLst/>
            <a:ahLst/>
            <a:cxnLst/>
            <a:rect l="l" t="t" r="r" b="b"/>
            <a:pathLst>
              <a:path w="38100" h="2514600">
                <a:moveTo>
                  <a:pt x="38100" y="0"/>
                </a:moveTo>
                <a:lnTo>
                  <a:pt x="38100" y="0"/>
                </a:lnTo>
                <a:lnTo>
                  <a:pt x="38100" y="2514600"/>
                </a:lnTo>
                <a:lnTo>
                  <a:pt x="38100" y="2514600"/>
                </a:lnTo>
                <a:cubicBezTo>
                  <a:pt x="17072" y="2514600"/>
                  <a:pt x="0" y="2497528"/>
                  <a:pt x="0" y="2476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20" name="Shape 18"/>
          <p:cNvSpPr/>
          <p:nvPr/>
        </p:nvSpPr>
        <p:spPr>
          <a:xfrm>
            <a:off x="8356521" y="1409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6868B">
              <a:alpha val="1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477964" y="15430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42875" y="53578"/>
                </a:moveTo>
                <a:cubicBezTo>
                  <a:pt x="142875" y="89743"/>
                  <a:pt x="110877" y="119063"/>
                  <a:pt x="71438" y="119063"/>
                </a:cubicBezTo>
                <a:cubicBezTo>
                  <a:pt x="61503" y="119063"/>
                  <a:pt x="52053" y="117202"/>
                  <a:pt x="43458" y="113854"/>
                </a:cubicBezTo>
                <a:lnTo>
                  <a:pt x="13097" y="129927"/>
                </a:lnTo>
                <a:cubicBezTo>
                  <a:pt x="9637" y="131750"/>
                  <a:pt x="5395" y="131118"/>
                  <a:pt x="2604" y="128364"/>
                </a:cubicBezTo>
                <a:cubicBezTo>
                  <a:pt x="-186" y="125611"/>
                  <a:pt x="-819" y="121332"/>
                  <a:pt x="1042" y="117872"/>
                </a:cubicBezTo>
                <a:lnTo>
                  <a:pt x="14288" y="92869"/>
                </a:lnTo>
                <a:cubicBezTo>
                  <a:pt x="5321" y="81930"/>
                  <a:pt x="0" y="68312"/>
                  <a:pt x="0" y="53578"/>
                </a:cubicBezTo>
                <a:cubicBezTo>
                  <a:pt x="0" y="17413"/>
                  <a:pt x="31998" y="-11906"/>
                  <a:pt x="71438" y="-11906"/>
                </a:cubicBezTo>
                <a:cubicBezTo>
                  <a:pt x="110877" y="-11906"/>
                  <a:pt x="142875" y="17413"/>
                  <a:pt x="142875" y="53578"/>
                </a:cubicBezTo>
                <a:close/>
                <a:moveTo>
                  <a:pt x="142875" y="190500"/>
                </a:moveTo>
                <a:cubicBezTo>
                  <a:pt x="107863" y="190500"/>
                  <a:pt x="78730" y="167394"/>
                  <a:pt x="72628" y="136922"/>
                </a:cubicBezTo>
                <a:cubicBezTo>
                  <a:pt x="117277" y="136364"/>
                  <a:pt x="156083" y="104589"/>
                  <a:pt x="160362" y="61503"/>
                </a:cubicBezTo>
                <a:cubicBezTo>
                  <a:pt x="191356" y="68647"/>
                  <a:pt x="214313" y="94357"/>
                  <a:pt x="214313" y="125016"/>
                </a:cubicBezTo>
                <a:cubicBezTo>
                  <a:pt x="214313" y="139750"/>
                  <a:pt x="208992" y="153367"/>
                  <a:pt x="200025" y="164306"/>
                </a:cubicBezTo>
                <a:lnTo>
                  <a:pt x="213271" y="189309"/>
                </a:lnTo>
                <a:cubicBezTo>
                  <a:pt x="215094" y="192770"/>
                  <a:pt x="214461" y="197011"/>
                  <a:pt x="211708" y="199802"/>
                </a:cubicBezTo>
                <a:cubicBezTo>
                  <a:pt x="208955" y="202592"/>
                  <a:pt x="204676" y="203225"/>
                  <a:pt x="201216" y="201364"/>
                </a:cubicBezTo>
                <a:lnTo>
                  <a:pt x="170855" y="185291"/>
                </a:lnTo>
                <a:cubicBezTo>
                  <a:pt x="162260" y="188640"/>
                  <a:pt x="152809" y="190500"/>
                  <a:pt x="142875" y="190500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22" name="Text 20"/>
          <p:cNvSpPr/>
          <p:nvPr/>
        </p:nvSpPr>
        <p:spPr>
          <a:xfrm>
            <a:off x="8928021" y="1409700"/>
            <a:ext cx="1543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Self-Reported Data</a:t>
            </a:r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8356521" y="1981200"/>
            <a:ext cx="33432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MEPS data is self-reported</a:t>
            </a:r>
            <a:r>
              <a:rPr lang="en-US" sz="120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introducing potential bias in health conditions, utilization, and expenditure reporting.</a:t>
            </a:r>
            <a:endParaRPr lang="en-US" sz="1600"/>
          </a:p>
        </p:txBody>
      </p:sp>
      <p:sp>
        <p:nvSpPr>
          <p:cNvPr id="24" name="Text 22"/>
          <p:cNvSpPr/>
          <p:nvPr/>
        </p:nvSpPr>
        <p:spPr>
          <a:xfrm>
            <a:off x="8356521" y="2838450"/>
            <a:ext cx="333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Recall bias and social desirability may affect the accuracy of reported information.</a:t>
            </a:r>
            <a:endParaRPr lang="en-US" sz="1600"/>
          </a:p>
        </p:txBody>
      </p:sp>
      <p:sp>
        <p:nvSpPr>
          <p:cNvPr id="25" name="Shape 23"/>
          <p:cNvSpPr/>
          <p:nvPr/>
        </p:nvSpPr>
        <p:spPr>
          <a:xfrm>
            <a:off x="400050" y="3926207"/>
            <a:ext cx="3667125" cy="2552700"/>
          </a:xfrm>
          <a:custGeom>
            <a:avLst/>
            <a:gdLst/>
            <a:ahLst/>
            <a:cxnLst/>
            <a:rect l="l" t="t" r="r" b="b"/>
            <a:pathLst>
              <a:path w="3667125" h="2552700">
                <a:moveTo>
                  <a:pt x="38100" y="0"/>
                </a:moveTo>
                <a:lnTo>
                  <a:pt x="3552815" y="0"/>
                </a:lnTo>
                <a:cubicBezTo>
                  <a:pt x="3615947" y="0"/>
                  <a:pt x="3667125" y="51178"/>
                  <a:pt x="3667125" y="114310"/>
                </a:cubicBezTo>
                <a:lnTo>
                  <a:pt x="3667125" y="2438390"/>
                </a:lnTo>
                <a:cubicBezTo>
                  <a:pt x="3667125" y="2501522"/>
                  <a:pt x="3615947" y="2552700"/>
                  <a:pt x="3552815" y="2552700"/>
                </a:cubicBezTo>
                <a:lnTo>
                  <a:pt x="38100" y="2552700"/>
                </a:lnTo>
                <a:cubicBezTo>
                  <a:pt x="17072" y="2552700"/>
                  <a:pt x="0" y="2535628"/>
                  <a:pt x="0" y="2514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400050" y="3926207"/>
            <a:ext cx="38100" cy="2552700"/>
          </a:xfrm>
          <a:custGeom>
            <a:avLst/>
            <a:gdLst/>
            <a:ahLst/>
            <a:cxnLst/>
            <a:rect l="l" t="t" r="r" b="b"/>
            <a:pathLst>
              <a:path w="38100" h="2552700">
                <a:moveTo>
                  <a:pt x="38100" y="0"/>
                </a:moveTo>
                <a:lnTo>
                  <a:pt x="38100" y="0"/>
                </a:lnTo>
                <a:lnTo>
                  <a:pt x="38100" y="2552700"/>
                </a:lnTo>
                <a:lnTo>
                  <a:pt x="38100" y="2552700"/>
                </a:lnTo>
                <a:cubicBezTo>
                  <a:pt x="17072" y="2552700"/>
                  <a:pt x="0" y="2535628"/>
                  <a:pt x="0" y="2514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27" name="Shape 25"/>
          <p:cNvSpPr/>
          <p:nvPr/>
        </p:nvSpPr>
        <p:spPr>
          <a:xfrm>
            <a:off x="609600" y="411670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6868B">
              <a:alpha val="1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42950" y="425005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29" name="Text 27"/>
          <p:cNvSpPr/>
          <p:nvPr/>
        </p:nvSpPr>
        <p:spPr>
          <a:xfrm>
            <a:off x="1181100" y="4116707"/>
            <a:ext cx="1685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Temporal Limitations</a:t>
            </a:r>
            <a:endParaRPr lang="en-US" sz="1600"/>
          </a:p>
        </p:txBody>
      </p:sp>
      <p:sp>
        <p:nvSpPr>
          <p:cNvPr id="30" name="Text 28"/>
          <p:cNvSpPr/>
          <p:nvPr/>
        </p:nvSpPr>
        <p:spPr>
          <a:xfrm>
            <a:off x="609600" y="4688207"/>
            <a:ext cx="33432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uses Year-1 features only</a:t>
            </a:r>
            <a:r>
              <a:rPr lang="en-US" sz="120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missing temporal dynamics and longitudinal patterns that could improve predictions.</a:t>
            </a:r>
            <a:endParaRPr lang="en-US" sz="1600"/>
          </a:p>
        </p:txBody>
      </p:sp>
      <p:sp>
        <p:nvSpPr>
          <p:cNvPr id="31" name="Text 29"/>
          <p:cNvSpPr/>
          <p:nvPr/>
        </p:nvSpPr>
        <p:spPr>
          <a:xfrm>
            <a:off x="609600" y="5545457"/>
            <a:ext cx="333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Changes over time within Year-1 are not captured in the current framework.</a:t>
            </a:r>
            <a:endParaRPr lang="en-US" sz="1600"/>
          </a:p>
        </p:txBody>
      </p:sp>
      <p:sp>
        <p:nvSpPr>
          <p:cNvPr id="32" name="Shape 30"/>
          <p:cNvSpPr/>
          <p:nvPr/>
        </p:nvSpPr>
        <p:spPr>
          <a:xfrm>
            <a:off x="4273510" y="3926207"/>
            <a:ext cx="3667125" cy="2552700"/>
          </a:xfrm>
          <a:custGeom>
            <a:avLst/>
            <a:gdLst/>
            <a:ahLst/>
            <a:cxnLst/>
            <a:rect l="l" t="t" r="r" b="b"/>
            <a:pathLst>
              <a:path w="3667125" h="2552700">
                <a:moveTo>
                  <a:pt x="38100" y="0"/>
                </a:moveTo>
                <a:lnTo>
                  <a:pt x="3552815" y="0"/>
                </a:lnTo>
                <a:cubicBezTo>
                  <a:pt x="3615947" y="0"/>
                  <a:pt x="3667125" y="51178"/>
                  <a:pt x="3667125" y="114310"/>
                </a:cubicBezTo>
                <a:lnTo>
                  <a:pt x="3667125" y="2438390"/>
                </a:lnTo>
                <a:cubicBezTo>
                  <a:pt x="3667125" y="2501522"/>
                  <a:pt x="3615947" y="2552700"/>
                  <a:pt x="3552815" y="2552700"/>
                </a:cubicBezTo>
                <a:lnTo>
                  <a:pt x="38100" y="2552700"/>
                </a:lnTo>
                <a:cubicBezTo>
                  <a:pt x="17072" y="2552700"/>
                  <a:pt x="0" y="2535628"/>
                  <a:pt x="0" y="2514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4273510" y="3926207"/>
            <a:ext cx="38100" cy="2552700"/>
          </a:xfrm>
          <a:custGeom>
            <a:avLst/>
            <a:gdLst/>
            <a:ahLst/>
            <a:cxnLst/>
            <a:rect l="l" t="t" r="r" b="b"/>
            <a:pathLst>
              <a:path w="38100" h="2552700">
                <a:moveTo>
                  <a:pt x="38100" y="0"/>
                </a:moveTo>
                <a:lnTo>
                  <a:pt x="38100" y="0"/>
                </a:lnTo>
                <a:lnTo>
                  <a:pt x="38100" y="2552700"/>
                </a:lnTo>
                <a:lnTo>
                  <a:pt x="38100" y="2552700"/>
                </a:lnTo>
                <a:cubicBezTo>
                  <a:pt x="17072" y="2552700"/>
                  <a:pt x="0" y="2535628"/>
                  <a:pt x="0" y="2514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34" name="Shape 32"/>
          <p:cNvSpPr/>
          <p:nvPr/>
        </p:nvSpPr>
        <p:spPr>
          <a:xfrm>
            <a:off x="4483060" y="411670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6868B">
              <a:alpha val="1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592598" y="4250057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43979" y="23217"/>
                </a:moveTo>
                <a:cubicBezTo>
                  <a:pt x="37765" y="21134"/>
                  <a:pt x="34379" y="14362"/>
                  <a:pt x="36463" y="8148"/>
                </a:cubicBezTo>
                <a:cubicBezTo>
                  <a:pt x="38546" y="1935"/>
                  <a:pt x="45281" y="-1451"/>
                  <a:pt x="51532" y="595"/>
                </a:cubicBezTo>
                <a:lnTo>
                  <a:pt x="93576" y="14622"/>
                </a:lnTo>
                <a:cubicBezTo>
                  <a:pt x="98747" y="5879"/>
                  <a:pt x="108310" y="0"/>
                  <a:pt x="119211" y="0"/>
                </a:cubicBezTo>
                <a:cubicBezTo>
                  <a:pt x="135657" y="0"/>
                  <a:pt x="148977" y="13320"/>
                  <a:pt x="148977" y="29766"/>
                </a:cubicBezTo>
                <a:cubicBezTo>
                  <a:pt x="148977" y="30882"/>
                  <a:pt x="148903" y="31961"/>
                  <a:pt x="148791" y="33040"/>
                </a:cubicBezTo>
                <a:lnTo>
                  <a:pt x="194407" y="48258"/>
                </a:lnTo>
                <a:cubicBezTo>
                  <a:pt x="200658" y="50341"/>
                  <a:pt x="204006" y="57076"/>
                  <a:pt x="201923" y="63326"/>
                </a:cubicBezTo>
                <a:cubicBezTo>
                  <a:pt x="199839" y="69577"/>
                  <a:pt x="193104" y="72926"/>
                  <a:pt x="186854" y="70842"/>
                </a:cubicBezTo>
                <a:lnTo>
                  <a:pt x="136438" y="54025"/>
                </a:lnTo>
                <a:cubicBezTo>
                  <a:pt x="134764" y="55215"/>
                  <a:pt x="132978" y="56220"/>
                  <a:pt x="131080" y="57076"/>
                </a:cubicBezTo>
                <a:lnTo>
                  <a:pt x="131080" y="178631"/>
                </a:lnTo>
                <a:cubicBezTo>
                  <a:pt x="131080" y="185217"/>
                  <a:pt x="125760" y="190537"/>
                  <a:pt x="119174" y="190537"/>
                </a:cubicBezTo>
                <a:lnTo>
                  <a:pt x="47737" y="190537"/>
                </a:lnTo>
                <a:cubicBezTo>
                  <a:pt x="41151" y="190537"/>
                  <a:pt x="35830" y="185217"/>
                  <a:pt x="35830" y="178631"/>
                </a:cubicBezTo>
                <a:cubicBezTo>
                  <a:pt x="35830" y="172045"/>
                  <a:pt x="41151" y="166725"/>
                  <a:pt x="47737" y="166725"/>
                </a:cubicBezTo>
                <a:lnTo>
                  <a:pt x="107268" y="166725"/>
                </a:lnTo>
                <a:lnTo>
                  <a:pt x="107268" y="57076"/>
                </a:lnTo>
                <a:cubicBezTo>
                  <a:pt x="99454" y="53653"/>
                  <a:pt x="93427" y="47030"/>
                  <a:pt x="90822" y="38844"/>
                </a:cubicBezTo>
                <a:lnTo>
                  <a:pt x="43979" y="23217"/>
                </a:lnTo>
                <a:close/>
                <a:moveTo>
                  <a:pt x="74712" y="107156"/>
                </a:moveTo>
                <a:lnTo>
                  <a:pt x="47737" y="60945"/>
                </a:lnTo>
                <a:lnTo>
                  <a:pt x="20799" y="107156"/>
                </a:lnTo>
                <a:lnTo>
                  <a:pt x="74712" y="107156"/>
                </a:lnTo>
                <a:close/>
                <a:moveTo>
                  <a:pt x="47774" y="142875"/>
                </a:moveTo>
                <a:cubicBezTo>
                  <a:pt x="24371" y="142875"/>
                  <a:pt x="4911" y="130225"/>
                  <a:pt x="893" y="113519"/>
                </a:cubicBezTo>
                <a:cubicBezTo>
                  <a:pt x="-74" y="109426"/>
                  <a:pt x="1265" y="105221"/>
                  <a:pt x="3386" y="101575"/>
                </a:cubicBezTo>
                <a:lnTo>
                  <a:pt x="38807" y="40853"/>
                </a:lnTo>
                <a:cubicBezTo>
                  <a:pt x="40667" y="37654"/>
                  <a:pt x="44090" y="35719"/>
                  <a:pt x="47774" y="35719"/>
                </a:cubicBezTo>
                <a:cubicBezTo>
                  <a:pt x="51457" y="35719"/>
                  <a:pt x="54880" y="37691"/>
                  <a:pt x="56741" y="40853"/>
                </a:cubicBezTo>
                <a:lnTo>
                  <a:pt x="92162" y="101575"/>
                </a:lnTo>
                <a:cubicBezTo>
                  <a:pt x="94283" y="105221"/>
                  <a:pt x="95622" y="109426"/>
                  <a:pt x="94655" y="113519"/>
                </a:cubicBezTo>
                <a:cubicBezTo>
                  <a:pt x="90636" y="130187"/>
                  <a:pt x="71177" y="142875"/>
                  <a:pt x="47774" y="142875"/>
                </a:cubicBezTo>
                <a:close/>
                <a:moveTo>
                  <a:pt x="190202" y="108570"/>
                </a:moveTo>
                <a:lnTo>
                  <a:pt x="163264" y="154781"/>
                </a:lnTo>
                <a:lnTo>
                  <a:pt x="217177" y="154781"/>
                </a:lnTo>
                <a:lnTo>
                  <a:pt x="190240" y="108570"/>
                </a:lnTo>
                <a:close/>
                <a:moveTo>
                  <a:pt x="237083" y="161144"/>
                </a:moveTo>
                <a:cubicBezTo>
                  <a:pt x="233065" y="177850"/>
                  <a:pt x="213606" y="190500"/>
                  <a:pt x="190202" y="190500"/>
                </a:cubicBezTo>
                <a:cubicBezTo>
                  <a:pt x="166799" y="190500"/>
                  <a:pt x="147340" y="177850"/>
                  <a:pt x="143321" y="161144"/>
                </a:cubicBezTo>
                <a:cubicBezTo>
                  <a:pt x="142354" y="157051"/>
                  <a:pt x="143694" y="152846"/>
                  <a:pt x="145814" y="149200"/>
                </a:cubicBezTo>
                <a:lnTo>
                  <a:pt x="181235" y="88478"/>
                </a:lnTo>
                <a:cubicBezTo>
                  <a:pt x="183096" y="85279"/>
                  <a:pt x="186519" y="83344"/>
                  <a:pt x="190202" y="83344"/>
                </a:cubicBezTo>
                <a:cubicBezTo>
                  <a:pt x="193886" y="83344"/>
                  <a:pt x="197309" y="85316"/>
                  <a:pt x="199169" y="88478"/>
                </a:cubicBezTo>
                <a:lnTo>
                  <a:pt x="234590" y="149200"/>
                </a:lnTo>
                <a:cubicBezTo>
                  <a:pt x="236711" y="152846"/>
                  <a:pt x="238051" y="157051"/>
                  <a:pt x="237083" y="161144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36" name="Text 34"/>
          <p:cNvSpPr/>
          <p:nvPr/>
        </p:nvSpPr>
        <p:spPr>
          <a:xfrm>
            <a:off x="5054561" y="4116707"/>
            <a:ext cx="1314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Imbalance</a:t>
            </a:r>
            <a:endParaRPr lang="en-US" sz="1600"/>
          </a:p>
        </p:txBody>
      </p:sp>
      <p:sp>
        <p:nvSpPr>
          <p:cNvPr id="37" name="Text 35"/>
          <p:cNvSpPr/>
          <p:nvPr/>
        </p:nvSpPr>
        <p:spPr>
          <a:xfrm>
            <a:off x="4483060" y="4688207"/>
            <a:ext cx="33432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imbalance leads to trade-offs</a:t>
            </a:r>
            <a:r>
              <a:rPr lang="en-US" sz="120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model performance between overall accuracy and minority class detection.</a:t>
            </a:r>
            <a:endParaRPr lang="en-US" sz="1600"/>
          </a:p>
        </p:txBody>
      </p:sp>
      <p:sp>
        <p:nvSpPr>
          <p:cNvPr id="38" name="Text 36"/>
          <p:cNvSpPr/>
          <p:nvPr/>
        </p:nvSpPr>
        <p:spPr>
          <a:xfrm>
            <a:off x="4483060" y="5545457"/>
            <a:ext cx="333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10% high-cost group is difficult to identify without sacrificing performance on majority classes.</a:t>
            </a:r>
            <a:endParaRPr lang="en-US" sz="1600"/>
          </a:p>
        </p:txBody>
      </p:sp>
      <p:sp>
        <p:nvSpPr>
          <p:cNvPr id="39" name="Shape 37"/>
          <p:cNvSpPr/>
          <p:nvPr/>
        </p:nvSpPr>
        <p:spPr>
          <a:xfrm>
            <a:off x="8131731" y="3930017"/>
            <a:ext cx="3674745" cy="2541270"/>
          </a:xfrm>
          <a:custGeom>
            <a:avLst/>
            <a:gdLst/>
            <a:ahLst/>
            <a:cxnLst/>
            <a:rect l="l" t="t" r="r" b="b"/>
            <a:pathLst>
              <a:path w="3674745" h="2541270">
                <a:moveTo>
                  <a:pt x="114306" y="0"/>
                </a:moveTo>
                <a:lnTo>
                  <a:pt x="3560439" y="0"/>
                </a:lnTo>
                <a:cubicBezTo>
                  <a:pt x="3623568" y="0"/>
                  <a:pt x="3674745" y="51177"/>
                  <a:pt x="3674745" y="114306"/>
                </a:cubicBezTo>
                <a:lnTo>
                  <a:pt x="3674745" y="2426964"/>
                </a:lnTo>
                <a:cubicBezTo>
                  <a:pt x="3674745" y="2490093"/>
                  <a:pt x="3623568" y="2541270"/>
                  <a:pt x="3560439" y="2541270"/>
                </a:cubicBezTo>
                <a:lnTo>
                  <a:pt x="114306" y="2541270"/>
                </a:lnTo>
                <a:cubicBezTo>
                  <a:pt x="51177" y="2541270"/>
                  <a:pt x="0" y="2490093"/>
                  <a:pt x="0" y="2426964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 w="10160">
            <a:solidFill>
              <a:srgbClr val="0071E3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828966" y="419195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25016" y="89297"/>
                </a:moveTo>
                <a:cubicBezTo>
                  <a:pt x="125016" y="79440"/>
                  <a:pt x="133018" y="71438"/>
                  <a:pt x="142875" y="71438"/>
                </a:cubicBezTo>
                <a:cubicBezTo>
                  <a:pt x="152732" y="71438"/>
                  <a:pt x="160734" y="79440"/>
                  <a:pt x="160734" y="89297"/>
                </a:cubicBezTo>
                <a:cubicBezTo>
                  <a:pt x="160734" y="99154"/>
                  <a:pt x="152732" y="107156"/>
                  <a:pt x="142875" y="107156"/>
                </a:cubicBezTo>
                <a:cubicBezTo>
                  <a:pt x="133018" y="107156"/>
                  <a:pt x="125016" y="99154"/>
                  <a:pt x="125016" y="89297"/>
                </a:cubicBezTo>
                <a:close/>
                <a:moveTo>
                  <a:pt x="120551" y="125016"/>
                </a:moveTo>
                <a:lnTo>
                  <a:pt x="147340" y="125016"/>
                </a:lnTo>
                <a:cubicBezTo>
                  <a:pt x="154763" y="125016"/>
                  <a:pt x="160734" y="130987"/>
                  <a:pt x="160734" y="138410"/>
                </a:cubicBezTo>
                <a:lnTo>
                  <a:pt x="160734" y="187523"/>
                </a:lnTo>
                <a:lnTo>
                  <a:pt x="165199" y="187523"/>
                </a:lnTo>
                <a:cubicBezTo>
                  <a:pt x="172622" y="187523"/>
                  <a:pt x="178594" y="193495"/>
                  <a:pt x="178594" y="200918"/>
                </a:cubicBezTo>
                <a:cubicBezTo>
                  <a:pt x="178594" y="208341"/>
                  <a:pt x="172622" y="214313"/>
                  <a:pt x="165199" y="214313"/>
                </a:cubicBezTo>
                <a:lnTo>
                  <a:pt x="120551" y="214313"/>
                </a:lnTo>
                <a:cubicBezTo>
                  <a:pt x="113128" y="214313"/>
                  <a:pt x="107156" y="208341"/>
                  <a:pt x="107156" y="200918"/>
                </a:cubicBezTo>
                <a:cubicBezTo>
                  <a:pt x="107156" y="193495"/>
                  <a:pt x="113128" y="187523"/>
                  <a:pt x="120551" y="187523"/>
                </a:cubicBezTo>
                <a:lnTo>
                  <a:pt x="133945" y="187523"/>
                </a:lnTo>
                <a:lnTo>
                  <a:pt x="133945" y="151805"/>
                </a:lnTo>
                <a:lnTo>
                  <a:pt x="120551" y="151805"/>
                </a:lnTo>
                <a:cubicBezTo>
                  <a:pt x="113128" y="151805"/>
                  <a:pt x="107156" y="145833"/>
                  <a:pt x="107156" y="138410"/>
                </a:cubicBezTo>
                <a:cubicBezTo>
                  <a:pt x="107156" y="130987"/>
                  <a:pt x="113128" y="125016"/>
                  <a:pt x="120551" y="125016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1" name="Text 39"/>
          <p:cNvSpPr/>
          <p:nvPr/>
        </p:nvSpPr>
        <p:spPr>
          <a:xfrm>
            <a:off x="8283178" y="4592008"/>
            <a:ext cx="3371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Transparent Reporting</a:t>
            </a:r>
            <a:endParaRPr lang="en-US" sz="1600"/>
          </a:p>
        </p:txBody>
      </p:sp>
      <p:sp>
        <p:nvSpPr>
          <p:cNvPr id="42" name="Text 40"/>
          <p:cNvSpPr/>
          <p:nvPr/>
        </p:nvSpPr>
        <p:spPr>
          <a:xfrm>
            <a:off x="8287941" y="4973008"/>
            <a:ext cx="33623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These limitations are acknowledged to provide context for interpreting results and guide future research directions. The study provides a robust foundation while identifying areas for improvement.</a:t>
            </a:r>
            <a:endParaRPr lang="en-US" sz="160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3940" y="363940"/>
            <a:ext cx="11527809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b="1" kern="0" spc="5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Limitations &amp; Future Work</a:t>
            </a:r>
            <a:endParaRPr lang="en-US" sz="1600"/>
          </a:p>
        </p:txBody>
      </p:sp>
      <p:sp>
        <p:nvSpPr>
          <p:cNvPr id="3" name="Text 1"/>
          <p:cNvSpPr/>
          <p:nvPr/>
        </p:nvSpPr>
        <p:spPr>
          <a:xfrm>
            <a:off x="363940" y="618699"/>
            <a:ext cx="11627893" cy="363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79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Research Directions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382137" y="1164609"/>
            <a:ext cx="5604681" cy="1601337"/>
          </a:xfrm>
          <a:custGeom>
            <a:avLst/>
            <a:gdLst/>
            <a:ahLst/>
            <a:cxnLst/>
            <a:rect l="l" t="t" r="r" b="b"/>
            <a:pathLst>
              <a:path w="5604681" h="1601337">
                <a:moveTo>
                  <a:pt x="36394" y="0"/>
                </a:moveTo>
                <a:lnTo>
                  <a:pt x="5495501" y="0"/>
                </a:lnTo>
                <a:cubicBezTo>
                  <a:pt x="5555799" y="0"/>
                  <a:pt x="5604681" y="48881"/>
                  <a:pt x="5604681" y="109179"/>
                </a:cubicBezTo>
                <a:lnTo>
                  <a:pt x="5604681" y="1492158"/>
                </a:lnTo>
                <a:cubicBezTo>
                  <a:pt x="5604681" y="1552456"/>
                  <a:pt x="5555799" y="1601337"/>
                  <a:pt x="5495501" y="1601337"/>
                </a:cubicBezTo>
                <a:lnTo>
                  <a:pt x="36394" y="1601337"/>
                </a:lnTo>
                <a:cubicBezTo>
                  <a:pt x="16294" y="1601337"/>
                  <a:pt x="0" y="1585043"/>
                  <a:pt x="0" y="1564943"/>
                </a:cubicBezTo>
                <a:lnTo>
                  <a:pt x="0" y="36394"/>
                </a:lnTo>
                <a:cubicBezTo>
                  <a:pt x="0" y="16308"/>
                  <a:pt x="16308" y="0"/>
                  <a:pt x="36394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382137" y="1164609"/>
            <a:ext cx="36394" cy="1601337"/>
          </a:xfrm>
          <a:custGeom>
            <a:avLst/>
            <a:gdLst/>
            <a:ahLst/>
            <a:cxnLst/>
            <a:rect l="l" t="t" r="r" b="b"/>
            <a:pathLst>
              <a:path w="36394" h="1601337">
                <a:moveTo>
                  <a:pt x="36394" y="0"/>
                </a:moveTo>
                <a:lnTo>
                  <a:pt x="36394" y="0"/>
                </a:lnTo>
                <a:lnTo>
                  <a:pt x="36394" y="1601337"/>
                </a:lnTo>
                <a:lnTo>
                  <a:pt x="36394" y="1601337"/>
                </a:lnTo>
                <a:cubicBezTo>
                  <a:pt x="16294" y="1601337"/>
                  <a:pt x="0" y="1585043"/>
                  <a:pt x="0" y="1564943"/>
                </a:cubicBezTo>
                <a:lnTo>
                  <a:pt x="0" y="36394"/>
                </a:lnTo>
                <a:cubicBezTo>
                  <a:pt x="0" y="16308"/>
                  <a:pt x="16308" y="0"/>
                  <a:pt x="36394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" name="Shape 4"/>
          <p:cNvSpPr/>
          <p:nvPr/>
        </p:nvSpPr>
        <p:spPr>
          <a:xfrm>
            <a:off x="582304" y="1346579"/>
            <a:ext cx="436728" cy="436728"/>
          </a:xfrm>
          <a:custGeom>
            <a:avLst/>
            <a:gdLst/>
            <a:ahLst/>
            <a:cxnLst/>
            <a:rect l="l" t="t" r="r" b="b"/>
            <a:pathLst>
              <a:path w="436728" h="436728">
                <a:moveTo>
                  <a:pt x="109182" y="0"/>
                </a:moveTo>
                <a:lnTo>
                  <a:pt x="327546" y="0"/>
                </a:lnTo>
                <a:cubicBezTo>
                  <a:pt x="387806" y="0"/>
                  <a:pt x="436728" y="48923"/>
                  <a:pt x="436728" y="109182"/>
                </a:cubicBezTo>
                <a:lnTo>
                  <a:pt x="436728" y="327546"/>
                </a:lnTo>
                <a:cubicBezTo>
                  <a:pt x="436728" y="387806"/>
                  <a:pt x="387806" y="436728"/>
                  <a:pt x="327546" y="436728"/>
                </a:cubicBezTo>
                <a:lnTo>
                  <a:pt x="109182" y="436728"/>
                </a:lnTo>
                <a:cubicBezTo>
                  <a:pt x="48923" y="436728"/>
                  <a:pt x="0" y="387806"/>
                  <a:pt x="0" y="327546"/>
                </a:cubicBezTo>
                <a:lnTo>
                  <a:pt x="0" y="109182"/>
                </a:lnTo>
                <a:cubicBezTo>
                  <a:pt x="0" y="48923"/>
                  <a:pt x="48923" y="0"/>
                  <a:pt x="109182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09684" y="1473958"/>
            <a:ext cx="181970" cy="181970"/>
          </a:xfrm>
          <a:custGeom>
            <a:avLst/>
            <a:gdLst/>
            <a:ahLst/>
            <a:cxnLst/>
            <a:rect l="l" t="t" r="r" b="b"/>
            <a:pathLst>
              <a:path w="181970" h="181970">
                <a:moveTo>
                  <a:pt x="143515" y="12226"/>
                </a:moveTo>
                <a:cubicBezTo>
                  <a:pt x="147780" y="10449"/>
                  <a:pt x="152649" y="11444"/>
                  <a:pt x="155919" y="14678"/>
                </a:cubicBezTo>
                <a:lnTo>
                  <a:pt x="178665" y="37425"/>
                </a:lnTo>
                <a:cubicBezTo>
                  <a:pt x="180797" y="39557"/>
                  <a:pt x="182006" y="42436"/>
                  <a:pt x="182006" y="45457"/>
                </a:cubicBezTo>
                <a:cubicBezTo>
                  <a:pt x="182006" y="48478"/>
                  <a:pt x="180797" y="51357"/>
                  <a:pt x="178665" y="53489"/>
                </a:cubicBezTo>
                <a:lnTo>
                  <a:pt x="155919" y="76236"/>
                </a:lnTo>
                <a:cubicBezTo>
                  <a:pt x="152649" y="79505"/>
                  <a:pt x="147780" y="80465"/>
                  <a:pt x="143515" y="78688"/>
                </a:cubicBezTo>
                <a:cubicBezTo>
                  <a:pt x="139250" y="76911"/>
                  <a:pt x="136478" y="72824"/>
                  <a:pt x="136478" y="68239"/>
                </a:cubicBezTo>
                <a:lnTo>
                  <a:pt x="136478" y="56866"/>
                </a:lnTo>
                <a:lnTo>
                  <a:pt x="125104" y="56866"/>
                </a:lnTo>
                <a:cubicBezTo>
                  <a:pt x="121515" y="56866"/>
                  <a:pt x="118138" y="58536"/>
                  <a:pt x="116006" y="61415"/>
                </a:cubicBezTo>
                <a:lnTo>
                  <a:pt x="104491" y="76769"/>
                </a:lnTo>
                <a:lnTo>
                  <a:pt x="90274" y="57825"/>
                </a:lnTo>
                <a:lnTo>
                  <a:pt x="97809" y="47767"/>
                </a:lnTo>
                <a:cubicBezTo>
                  <a:pt x="104242" y="39166"/>
                  <a:pt x="114371" y="34119"/>
                  <a:pt x="125104" y="34119"/>
                </a:cubicBezTo>
                <a:lnTo>
                  <a:pt x="136478" y="34119"/>
                </a:lnTo>
                <a:lnTo>
                  <a:pt x="136478" y="22746"/>
                </a:lnTo>
                <a:cubicBezTo>
                  <a:pt x="136478" y="18161"/>
                  <a:pt x="139250" y="14003"/>
                  <a:pt x="143515" y="12226"/>
                </a:cubicBezTo>
                <a:close/>
                <a:moveTo>
                  <a:pt x="54733" y="105201"/>
                </a:moveTo>
                <a:lnTo>
                  <a:pt x="68950" y="124145"/>
                </a:lnTo>
                <a:lnTo>
                  <a:pt x="61415" y="134203"/>
                </a:lnTo>
                <a:cubicBezTo>
                  <a:pt x="54982" y="142804"/>
                  <a:pt x="44853" y="147851"/>
                  <a:pt x="34119" y="147851"/>
                </a:cubicBezTo>
                <a:lnTo>
                  <a:pt x="11373" y="147851"/>
                </a:lnTo>
                <a:cubicBezTo>
                  <a:pt x="5082" y="147851"/>
                  <a:pt x="0" y="142768"/>
                  <a:pt x="0" y="136478"/>
                </a:cubicBezTo>
                <a:cubicBezTo>
                  <a:pt x="0" y="130187"/>
                  <a:pt x="5082" y="125104"/>
                  <a:pt x="11373" y="125104"/>
                </a:cubicBezTo>
                <a:lnTo>
                  <a:pt x="34119" y="125104"/>
                </a:lnTo>
                <a:cubicBezTo>
                  <a:pt x="37709" y="125104"/>
                  <a:pt x="41085" y="123434"/>
                  <a:pt x="43218" y="120555"/>
                </a:cubicBezTo>
                <a:lnTo>
                  <a:pt x="54733" y="105201"/>
                </a:lnTo>
                <a:close/>
                <a:moveTo>
                  <a:pt x="155883" y="167256"/>
                </a:moveTo>
                <a:cubicBezTo>
                  <a:pt x="152613" y="170526"/>
                  <a:pt x="147744" y="171486"/>
                  <a:pt x="143479" y="169708"/>
                </a:cubicBezTo>
                <a:cubicBezTo>
                  <a:pt x="139214" y="167931"/>
                  <a:pt x="136478" y="163809"/>
                  <a:pt x="136478" y="159224"/>
                </a:cubicBezTo>
                <a:lnTo>
                  <a:pt x="136478" y="147851"/>
                </a:lnTo>
                <a:lnTo>
                  <a:pt x="125104" y="147851"/>
                </a:lnTo>
                <a:cubicBezTo>
                  <a:pt x="114371" y="147851"/>
                  <a:pt x="104242" y="142804"/>
                  <a:pt x="97809" y="134203"/>
                </a:cubicBezTo>
                <a:lnTo>
                  <a:pt x="43218" y="61415"/>
                </a:lnTo>
                <a:cubicBezTo>
                  <a:pt x="41085" y="58536"/>
                  <a:pt x="37709" y="56866"/>
                  <a:pt x="34119" y="56866"/>
                </a:cubicBezTo>
                <a:lnTo>
                  <a:pt x="11373" y="56866"/>
                </a:lnTo>
                <a:cubicBezTo>
                  <a:pt x="5082" y="56866"/>
                  <a:pt x="0" y="51783"/>
                  <a:pt x="0" y="45493"/>
                </a:cubicBezTo>
                <a:cubicBezTo>
                  <a:pt x="0" y="39202"/>
                  <a:pt x="5082" y="34119"/>
                  <a:pt x="11373" y="34119"/>
                </a:cubicBezTo>
                <a:lnTo>
                  <a:pt x="34119" y="34119"/>
                </a:lnTo>
                <a:cubicBezTo>
                  <a:pt x="44853" y="34119"/>
                  <a:pt x="54982" y="39166"/>
                  <a:pt x="61415" y="47767"/>
                </a:cubicBezTo>
                <a:lnTo>
                  <a:pt x="116006" y="120555"/>
                </a:lnTo>
                <a:cubicBezTo>
                  <a:pt x="118138" y="123434"/>
                  <a:pt x="121515" y="125104"/>
                  <a:pt x="125104" y="125104"/>
                </a:cubicBezTo>
                <a:lnTo>
                  <a:pt x="136478" y="125104"/>
                </a:lnTo>
                <a:lnTo>
                  <a:pt x="136478" y="113731"/>
                </a:lnTo>
                <a:cubicBezTo>
                  <a:pt x="136478" y="109147"/>
                  <a:pt x="139250" y="104988"/>
                  <a:pt x="143515" y="103211"/>
                </a:cubicBezTo>
                <a:cubicBezTo>
                  <a:pt x="147780" y="101434"/>
                  <a:pt x="152649" y="102429"/>
                  <a:pt x="155919" y="105664"/>
                </a:cubicBezTo>
                <a:lnTo>
                  <a:pt x="178665" y="128410"/>
                </a:lnTo>
                <a:cubicBezTo>
                  <a:pt x="180797" y="130542"/>
                  <a:pt x="182006" y="133421"/>
                  <a:pt x="182006" y="136442"/>
                </a:cubicBezTo>
                <a:cubicBezTo>
                  <a:pt x="182006" y="139463"/>
                  <a:pt x="180797" y="142342"/>
                  <a:pt x="178665" y="144474"/>
                </a:cubicBezTo>
                <a:lnTo>
                  <a:pt x="155919" y="167221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8" name="Text 6"/>
          <p:cNvSpPr/>
          <p:nvPr/>
        </p:nvSpPr>
        <p:spPr>
          <a:xfrm>
            <a:off x="1128215" y="1346579"/>
            <a:ext cx="4758519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Resampling Techniques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1128215" y="1674125"/>
            <a:ext cx="4749421" cy="473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6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Apply SMOTE and advanced resampling</a:t>
            </a:r>
            <a:r>
              <a:rPr lang="en-US" sz="1146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improve minority class detection and address class imbalance more effectively.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1128215" y="2220036"/>
            <a:ext cx="4740322" cy="363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Synthetic oversampling could generate more representative high-cost cases for training.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382137" y="2911522"/>
            <a:ext cx="5604681" cy="1601337"/>
          </a:xfrm>
          <a:custGeom>
            <a:avLst/>
            <a:gdLst/>
            <a:ahLst/>
            <a:cxnLst/>
            <a:rect l="l" t="t" r="r" b="b"/>
            <a:pathLst>
              <a:path w="5604681" h="1601337">
                <a:moveTo>
                  <a:pt x="36394" y="0"/>
                </a:moveTo>
                <a:lnTo>
                  <a:pt x="5495501" y="0"/>
                </a:lnTo>
                <a:cubicBezTo>
                  <a:pt x="5555799" y="0"/>
                  <a:pt x="5604681" y="48881"/>
                  <a:pt x="5604681" y="109179"/>
                </a:cubicBezTo>
                <a:lnTo>
                  <a:pt x="5604681" y="1492158"/>
                </a:lnTo>
                <a:cubicBezTo>
                  <a:pt x="5604681" y="1552456"/>
                  <a:pt x="5555799" y="1601337"/>
                  <a:pt x="5495501" y="1601337"/>
                </a:cubicBezTo>
                <a:lnTo>
                  <a:pt x="36394" y="1601337"/>
                </a:lnTo>
                <a:cubicBezTo>
                  <a:pt x="16294" y="1601337"/>
                  <a:pt x="0" y="1585043"/>
                  <a:pt x="0" y="1564943"/>
                </a:cubicBezTo>
                <a:lnTo>
                  <a:pt x="0" y="36394"/>
                </a:lnTo>
                <a:cubicBezTo>
                  <a:pt x="0" y="16308"/>
                  <a:pt x="16308" y="0"/>
                  <a:pt x="36394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382137" y="2911522"/>
            <a:ext cx="36394" cy="1601337"/>
          </a:xfrm>
          <a:custGeom>
            <a:avLst/>
            <a:gdLst/>
            <a:ahLst/>
            <a:cxnLst/>
            <a:rect l="l" t="t" r="r" b="b"/>
            <a:pathLst>
              <a:path w="36394" h="1601337">
                <a:moveTo>
                  <a:pt x="36394" y="0"/>
                </a:moveTo>
                <a:lnTo>
                  <a:pt x="36394" y="0"/>
                </a:lnTo>
                <a:lnTo>
                  <a:pt x="36394" y="1601337"/>
                </a:lnTo>
                <a:lnTo>
                  <a:pt x="36394" y="1601337"/>
                </a:lnTo>
                <a:cubicBezTo>
                  <a:pt x="16294" y="1601337"/>
                  <a:pt x="0" y="1585043"/>
                  <a:pt x="0" y="1564943"/>
                </a:cubicBezTo>
                <a:lnTo>
                  <a:pt x="0" y="36394"/>
                </a:lnTo>
                <a:cubicBezTo>
                  <a:pt x="0" y="16308"/>
                  <a:pt x="16308" y="0"/>
                  <a:pt x="36394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3" name="Shape 11"/>
          <p:cNvSpPr/>
          <p:nvPr/>
        </p:nvSpPr>
        <p:spPr>
          <a:xfrm>
            <a:off x="582304" y="3093493"/>
            <a:ext cx="436728" cy="436728"/>
          </a:xfrm>
          <a:custGeom>
            <a:avLst/>
            <a:gdLst/>
            <a:ahLst/>
            <a:cxnLst/>
            <a:rect l="l" t="t" r="r" b="b"/>
            <a:pathLst>
              <a:path w="436728" h="436728">
                <a:moveTo>
                  <a:pt x="109182" y="0"/>
                </a:moveTo>
                <a:lnTo>
                  <a:pt x="327546" y="0"/>
                </a:lnTo>
                <a:cubicBezTo>
                  <a:pt x="387806" y="0"/>
                  <a:pt x="436728" y="48923"/>
                  <a:pt x="436728" y="109182"/>
                </a:cubicBezTo>
                <a:lnTo>
                  <a:pt x="436728" y="327546"/>
                </a:lnTo>
                <a:cubicBezTo>
                  <a:pt x="436728" y="387806"/>
                  <a:pt x="387806" y="436728"/>
                  <a:pt x="327546" y="436728"/>
                </a:cubicBezTo>
                <a:lnTo>
                  <a:pt x="109182" y="436728"/>
                </a:lnTo>
                <a:cubicBezTo>
                  <a:pt x="48923" y="436728"/>
                  <a:pt x="0" y="387806"/>
                  <a:pt x="0" y="327546"/>
                </a:cubicBezTo>
                <a:lnTo>
                  <a:pt x="0" y="109182"/>
                </a:lnTo>
                <a:cubicBezTo>
                  <a:pt x="0" y="48923"/>
                  <a:pt x="48923" y="0"/>
                  <a:pt x="109182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09684" y="3220872"/>
            <a:ext cx="181970" cy="181970"/>
          </a:xfrm>
          <a:custGeom>
            <a:avLst/>
            <a:gdLst/>
            <a:ahLst/>
            <a:cxnLst/>
            <a:rect l="l" t="t" r="r" b="b"/>
            <a:pathLst>
              <a:path w="181970" h="181970">
                <a:moveTo>
                  <a:pt x="82633" y="1848"/>
                </a:moveTo>
                <a:cubicBezTo>
                  <a:pt x="87929" y="-604"/>
                  <a:pt x="94042" y="-604"/>
                  <a:pt x="99337" y="1848"/>
                </a:cubicBezTo>
                <a:lnTo>
                  <a:pt x="177030" y="37745"/>
                </a:lnTo>
                <a:cubicBezTo>
                  <a:pt x="180051" y="39131"/>
                  <a:pt x="181970" y="42152"/>
                  <a:pt x="181970" y="45493"/>
                </a:cubicBezTo>
                <a:cubicBezTo>
                  <a:pt x="181970" y="48833"/>
                  <a:pt x="180051" y="51854"/>
                  <a:pt x="177030" y="53240"/>
                </a:cubicBezTo>
                <a:lnTo>
                  <a:pt x="99337" y="89137"/>
                </a:lnTo>
                <a:cubicBezTo>
                  <a:pt x="94042" y="91589"/>
                  <a:pt x="87929" y="91589"/>
                  <a:pt x="82633" y="89137"/>
                </a:cubicBezTo>
                <a:lnTo>
                  <a:pt x="4940" y="53240"/>
                </a:lnTo>
                <a:cubicBezTo>
                  <a:pt x="1919" y="51819"/>
                  <a:pt x="0" y="48798"/>
                  <a:pt x="0" y="45493"/>
                </a:cubicBezTo>
                <a:cubicBezTo>
                  <a:pt x="0" y="42187"/>
                  <a:pt x="1919" y="39131"/>
                  <a:pt x="4940" y="37745"/>
                </a:cubicBezTo>
                <a:lnTo>
                  <a:pt x="82633" y="1848"/>
                </a:lnTo>
                <a:close/>
                <a:moveTo>
                  <a:pt x="17095" y="77622"/>
                </a:moveTo>
                <a:lnTo>
                  <a:pt x="75489" y="104597"/>
                </a:lnTo>
                <a:cubicBezTo>
                  <a:pt x="85334" y="109147"/>
                  <a:pt x="96672" y="109147"/>
                  <a:pt x="106517" y="104597"/>
                </a:cubicBezTo>
                <a:lnTo>
                  <a:pt x="164910" y="77622"/>
                </a:lnTo>
                <a:lnTo>
                  <a:pt x="177030" y="83237"/>
                </a:lnTo>
                <a:cubicBezTo>
                  <a:pt x="180051" y="84623"/>
                  <a:pt x="181970" y="87644"/>
                  <a:pt x="181970" y="90985"/>
                </a:cubicBezTo>
                <a:cubicBezTo>
                  <a:pt x="181970" y="94326"/>
                  <a:pt x="180051" y="97347"/>
                  <a:pt x="177030" y="98733"/>
                </a:cubicBezTo>
                <a:lnTo>
                  <a:pt x="99337" y="134629"/>
                </a:lnTo>
                <a:cubicBezTo>
                  <a:pt x="94042" y="137082"/>
                  <a:pt x="87929" y="137082"/>
                  <a:pt x="82633" y="134629"/>
                </a:cubicBezTo>
                <a:lnTo>
                  <a:pt x="4940" y="98733"/>
                </a:lnTo>
                <a:cubicBezTo>
                  <a:pt x="1919" y="97311"/>
                  <a:pt x="0" y="94290"/>
                  <a:pt x="0" y="90985"/>
                </a:cubicBezTo>
                <a:cubicBezTo>
                  <a:pt x="0" y="87680"/>
                  <a:pt x="1919" y="84623"/>
                  <a:pt x="4940" y="83237"/>
                </a:cubicBezTo>
                <a:lnTo>
                  <a:pt x="17060" y="77622"/>
                </a:lnTo>
                <a:close/>
                <a:moveTo>
                  <a:pt x="4940" y="128730"/>
                </a:moveTo>
                <a:lnTo>
                  <a:pt x="17060" y="123114"/>
                </a:lnTo>
                <a:lnTo>
                  <a:pt x="75454" y="150090"/>
                </a:lnTo>
                <a:cubicBezTo>
                  <a:pt x="85299" y="154639"/>
                  <a:pt x="96636" y="154639"/>
                  <a:pt x="106481" y="150090"/>
                </a:cubicBezTo>
                <a:lnTo>
                  <a:pt x="164875" y="123114"/>
                </a:lnTo>
                <a:lnTo>
                  <a:pt x="176994" y="128730"/>
                </a:lnTo>
                <a:cubicBezTo>
                  <a:pt x="180015" y="130116"/>
                  <a:pt x="181935" y="133137"/>
                  <a:pt x="181935" y="136478"/>
                </a:cubicBezTo>
                <a:cubicBezTo>
                  <a:pt x="181935" y="139818"/>
                  <a:pt x="180015" y="142839"/>
                  <a:pt x="176994" y="144226"/>
                </a:cubicBezTo>
                <a:lnTo>
                  <a:pt x="99302" y="180122"/>
                </a:lnTo>
                <a:cubicBezTo>
                  <a:pt x="94006" y="182574"/>
                  <a:pt x="87893" y="182574"/>
                  <a:pt x="82597" y="180122"/>
                </a:cubicBezTo>
                <a:lnTo>
                  <a:pt x="4940" y="144226"/>
                </a:lnTo>
                <a:cubicBezTo>
                  <a:pt x="1919" y="142804"/>
                  <a:pt x="0" y="139783"/>
                  <a:pt x="0" y="136478"/>
                </a:cubicBezTo>
                <a:cubicBezTo>
                  <a:pt x="0" y="133172"/>
                  <a:pt x="1919" y="130116"/>
                  <a:pt x="4940" y="12873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5" name="Text 13"/>
          <p:cNvSpPr/>
          <p:nvPr/>
        </p:nvSpPr>
        <p:spPr>
          <a:xfrm>
            <a:off x="1128215" y="3093493"/>
            <a:ext cx="4758519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Two-Part (Hurdle) Models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1128215" y="3421039"/>
            <a:ext cx="4749421" cy="473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6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 two-part models</a:t>
            </a:r>
            <a:r>
              <a:rPr lang="en-US" sz="1146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better cost modeling of zero-inflated and highly skewed expenditure distributions.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1128215" y="3966949"/>
            <a:ext cx="4740322" cy="363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Separate models for utilization decision and expenditure amount could improve accuracy.</a:t>
            </a:r>
            <a:endParaRPr lang="en-US" sz="1600"/>
          </a:p>
        </p:txBody>
      </p:sp>
      <p:sp>
        <p:nvSpPr>
          <p:cNvPr id="18" name="Shape 16"/>
          <p:cNvSpPr/>
          <p:nvPr/>
        </p:nvSpPr>
        <p:spPr>
          <a:xfrm>
            <a:off x="382137" y="4658436"/>
            <a:ext cx="5604681" cy="1419367"/>
          </a:xfrm>
          <a:custGeom>
            <a:avLst/>
            <a:gdLst/>
            <a:ahLst/>
            <a:cxnLst/>
            <a:rect l="l" t="t" r="r" b="b"/>
            <a:pathLst>
              <a:path w="5604681" h="1419367">
                <a:moveTo>
                  <a:pt x="36394" y="0"/>
                </a:moveTo>
                <a:lnTo>
                  <a:pt x="5495503" y="0"/>
                </a:lnTo>
                <a:cubicBezTo>
                  <a:pt x="5555800" y="0"/>
                  <a:pt x="5604681" y="48881"/>
                  <a:pt x="5604681" y="109178"/>
                </a:cubicBezTo>
                <a:lnTo>
                  <a:pt x="5604681" y="1310189"/>
                </a:lnTo>
                <a:cubicBezTo>
                  <a:pt x="5604681" y="1370487"/>
                  <a:pt x="5555800" y="1419367"/>
                  <a:pt x="5495503" y="1419367"/>
                </a:cubicBezTo>
                <a:lnTo>
                  <a:pt x="36394" y="1419367"/>
                </a:lnTo>
                <a:cubicBezTo>
                  <a:pt x="16294" y="1419367"/>
                  <a:pt x="0" y="1403073"/>
                  <a:pt x="0" y="1382973"/>
                </a:cubicBezTo>
                <a:lnTo>
                  <a:pt x="0" y="36394"/>
                </a:lnTo>
                <a:cubicBezTo>
                  <a:pt x="0" y="16308"/>
                  <a:pt x="16308" y="0"/>
                  <a:pt x="36394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382137" y="4658436"/>
            <a:ext cx="36394" cy="1419367"/>
          </a:xfrm>
          <a:custGeom>
            <a:avLst/>
            <a:gdLst/>
            <a:ahLst/>
            <a:cxnLst/>
            <a:rect l="l" t="t" r="r" b="b"/>
            <a:pathLst>
              <a:path w="36394" h="1419367">
                <a:moveTo>
                  <a:pt x="36394" y="0"/>
                </a:moveTo>
                <a:lnTo>
                  <a:pt x="36394" y="0"/>
                </a:lnTo>
                <a:lnTo>
                  <a:pt x="36394" y="1419367"/>
                </a:lnTo>
                <a:lnTo>
                  <a:pt x="36394" y="1419367"/>
                </a:lnTo>
                <a:cubicBezTo>
                  <a:pt x="16294" y="1419367"/>
                  <a:pt x="0" y="1403073"/>
                  <a:pt x="0" y="1382973"/>
                </a:cubicBezTo>
                <a:lnTo>
                  <a:pt x="0" y="36394"/>
                </a:lnTo>
                <a:cubicBezTo>
                  <a:pt x="0" y="16308"/>
                  <a:pt x="16308" y="0"/>
                  <a:pt x="36394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0" name="Shape 18"/>
          <p:cNvSpPr/>
          <p:nvPr/>
        </p:nvSpPr>
        <p:spPr>
          <a:xfrm>
            <a:off x="582304" y="4840406"/>
            <a:ext cx="436728" cy="436728"/>
          </a:xfrm>
          <a:custGeom>
            <a:avLst/>
            <a:gdLst/>
            <a:ahLst/>
            <a:cxnLst/>
            <a:rect l="l" t="t" r="r" b="b"/>
            <a:pathLst>
              <a:path w="436728" h="436728">
                <a:moveTo>
                  <a:pt x="109182" y="0"/>
                </a:moveTo>
                <a:lnTo>
                  <a:pt x="327546" y="0"/>
                </a:lnTo>
                <a:cubicBezTo>
                  <a:pt x="387806" y="0"/>
                  <a:pt x="436728" y="48923"/>
                  <a:pt x="436728" y="109182"/>
                </a:cubicBezTo>
                <a:lnTo>
                  <a:pt x="436728" y="327546"/>
                </a:lnTo>
                <a:cubicBezTo>
                  <a:pt x="436728" y="387806"/>
                  <a:pt x="387806" y="436728"/>
                  <a:pt x="327546" y="436728"/>
                </a:cubicBezTo>
                <a:lnTo>
                  <a:pt x="109182" y="436728"/>
                </a:lnTo>
                <a:cubicBezTo>
                  <a:pt x="48923" y="436728"/>
                  <a:pt x="0" y="387806"/>
                  <a:pt x="0" y="327546"/>
                </a:cubicBezTo>
                <a:lnTo>
                  <a:pt x="0" y="109182"/>
                </a:lnTo>
                <a:cubicBezTo>
                  <a:pt x="0" y="48923"/>
                  <a:pt x="48923" y="0"/>
                  <a:pt x="109182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09684" y="4967785"/>
            <a:ext cx="181970" cy="181970"/>
          </a:xfrm>
          <a:custGeom>
            <a:avLst/>
            <a:gdLst/>
            <a:ahLst/>
            <a:cxnLst/>
            <a:rect l="l" t="t" r="r" b="b"/>
            <a:pathLst>
              <a:path w="181970" h="181970">
                <a:moveTo>
                  <a:pt x="42649" y="19903"/>
                </a:moveTo>
                <a:cubicBezTo>
                  <a:pt x="42649" y="8921"/>
                  <a:pt x="51570" y="0"/>
                  <a:pt x="62552" y="0"/>
                </a:cubicBezTo>
                <a:lnTo>
                  <a:pt x="71082" y="0"/>
                </a:lnTo>
                <a:cubicBezTo>
                  <a:pt x="77373" y="0"/>
                  <a:pt x="82455" y="5082"/>
                  <a:pt x="82455" y="11373"/>
                </a:cubicBezTo>
                <a:lnTo>
                  <a:pt x="82455" y="170597"/>
                </a:lnTo>
                <a:cubicBezTo>
                  <a:pt x="82455" y="176888"/>
                  <a:pt x="77373" y="181970"/>
                  <a:pt x="71082" y="181970"/>
                </a:cubicBezTo>
                <a:lnTo>
                  <a:pt x="59709" y="181970"/>
                </a:lnTo>
                <a:cubicBezTo>
                  <a:pt x="49118" y="181970"/>
                  <a:pt x="40197" y="174720"/>
                  <a:pt x="37674" y="164910"/>
                </a:cubicBezTo>
                <a:cubicBezTo>
                  <a:pt x="37425" y="164910"/>
                  <a:pt x="37211" y="164910"/>
                  <a:pt x="36963" y="164910"/>
                </a:cubicBezTo>
                <a:cubicBezTo>
                  <a:pt x="21254" y="164910"/>
                  <a:pt x="8530" y="152187"/>
                  <a:pt x="8530" y="136478"/>
                </a:cubicBezTo>
                <a:cubicBezTo>
                  <a:pt x="8530" y="130080"/>
                  <a:pt x="10662" y="124180"/>
                  <a:pt x="14216" y="119418"/>
                </a:cubicBezTo>
                <a:cubicBezTo>
                  <a:pt x="7321" y="114229"/>
                  <a:pt x="2843" y="105983"/>
                  <a:pt x="2843" y="96672"/>
                </a:cubicBezTo>
                <a:cubicBezTo>
                  <a:pt x="2843" y="85689"/>
                  <a:pt x="9099" y="76129"/>
                  <a:pt x="18197" y="71402"/>
                </a:cubicBezTo>
                <a:cubicBezTo>
                  <a:pt x="15674" y="67137"/>
                  <a:pt x="14216" y="62161"/>
                  <a:pt x="14216" y="56866"/>
                </a:cubicBezTo>
                <a:cubicBezTo>
                  <a:pt x="14216" y="41157"/>
                  <a:pt x="26940" y="28433"/>
                  <a:pt x="42649" y="28433"/>
                </a:cubicBezTo>
                <a:lnTo>
                  <a:pt x="42649" y="19903"/>
                </a:lnTo>
                <a:close/>
                <a:moveTo>
                  <a:pt x="139321" y="19903"/>
                </a:moveTo>
                <a:lnTo>
                  <a:pt x="139321" y="28433"/>
                </a:lnTo>
                <a:cubicBezTo>
                  <a:pt x="155030" y="28433"/>
                  <a:pt x="167754" y="41157"/>
                  <a:pt x="167754" y="56866"/>
                </a:cubicBezTo>
                <a:cubicBezTo>
                  <a:pt x="167754" y="62197"/>
                  <a:pt x="166297" y="67173"/>
                  <a:pt x="163773" y="71402"/>
                </a:cubicBezTo>
                <a:cubicBezTo>
                  <a:pt x="172907" y="76129"/>
                  <a:pt x="179127" y="85654"/>
                  <a:pt x="179127" y="96672"/>
                </a:cubicBezTo>
                <a:cubicBezTo>
                  <a:pt x="179127" y="105983"/>
                  <a:pt x="174649" y="114229"/>
                  <a:pt x="167754" y="119418"/>
                </a:cubicBezTo>
                <a:cubicBezTo>
                  <a:pt x="171308" y="124180"/>
                  <a:pt x="173440" y="130080"/>
                  <a:pt x="173440" y="136478"/>
                </a:cubicBezTo>
                <a:cubicBezTo>
                  <a:pt x="173440" y="152187"/>
                  <a:pt x="160717" y="164910"/>
                  <a:pt x="145007" y="164910"/>
                </a:cubicBezTo>
                <a:cubicBezTo>
                  <a:pt x="144759" y="164910"/>
                  <a:pt x="144545" y="164910"/>
                  <a:pt x="144297" y="164910"/>
                </a:cubicBezTo>
                <a:cubicBezTo>
                  <a:pt x="141773" y="174720"/>
                  <a:pt x="132852" y="181970"/>
                  <a:pt x="122261" y="181970"/>
                </a:cubicBezTo>
                <a:lnTo>
                  <a:pt x="110888" y="181970"/>
                </a:lnTo>
                <a:cubicBezTo>
                  <a:pt x="104597" y="181970"/>
                  <a:pt x="99515" y="176888"/>
                  <a:pt x="99515" y="170597"/>
                </a:cubicBezTo>
                <a:lnTo>
                  <a:pt x="99515" y="11373"/>
                </a:lnTo>
                <a:cubicBezTo>
                  <a:pt x="99515" y="5082"/>
                  <a:pt x="104597" y="0"/>
                  <a:pt x="110888" y="0"/>
                </a:cubicBezTo>
                <a:lnTo>
                  <a:pt x="119418" y="0"/>
                </a:lnTo>
                <a:cubicBezTo>
                  <a:pt x="130400" y="0"/>
                  <a:pt x="139321" y="8921"/>
                  <a:pt x="139321" y="1990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2" name="Text 20"/>
          <p:cNvSpPr/>
          <p:nvPr/>
        </p:nvSpPr>
        <p:spPr>
          <a:xfrm>
            <a:off x="1128215" y="4840406"/>
            <a:ext cx="4758519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SHAP Analysis</a:t>
            </a:r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1128215" y="5167952"/>
            <a:ext cx="4749421" cy="473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6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SHAP (SHapley Additive exPlanations)</a:t>
            </a:r>
            <a:r>
              <a:rPr lang="en-US" sz="1146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enhanced model interpretability and explainability at individual prediction level.</a:t>
            </a:r>
            <a:endParaRPr lang="en-US" sz="1600"/>
          </a:p>
        </p:txBody>
      </p:sp>
      <p:sp>
        <p:nvSpPr>
          <p:cNvPr id="24" name="Text 22"/>
          <p:cNvSpPr/>
          <p:nvPr/>
        </p:nvSpPr>
        <p:spPr>
          <a:xfrm>
            <a:off x="1128215" y="5713863"/>
            <a:ext cx="4740322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SHAP values would provide insights into feature contributions for each prediction.</a:t>
            </a:r>
            <a:endParaRPr lang="en-US" sz="1600"/>
          </a:p>
        </p:txBody>
      </p:sp>
      <p:sp>
        <p:nvSpPr>
          <p:cNvPr id="25" name="Shape 23"/>
          <p:cNvSpPr/>
          <p:nvPr/>
        </p:nvSpPr>
        <p:spPr>
          <a:xfrm>
            <a:off x="6225313" y="1164609"/>
            <a:ext cx="5604681" cy="1601337"/>
          </a:xfrm>
          <a:custGeom>
            <a:avLst/>
            <a:gdLst/>
            <a:ahLst/>
            <a:cxnLst/>
            <a:rect l="l" t="t" r="r" b="b"/>
            <a:pathLst>
              <a:path w="5604681" h="1601337">
                <a:moveTo>
                  <a:pt x="36394" y="0"/>
                </a:moveTo>
                <a:lnTo>
                  <a:pt x="5495501" y="0"/>
                </a:lnTo>
                <a:cubicBezTo>
                  <a:pt x="5555799" y="0"/>
                  <a:pt x="5604681" y="48881"/>
                  <a:pt x="5604681" y="109179"/>
                </a:cubicBezTo>
                <a:lnTo>
                  <a:pt x="5604681" y="1492158"/>
                </a:lnTo>
                <a:cubicBezTo>
                  <a:pt x="5604681" y="1552456"/>
                  <a:pt x="5555799" y="1601337"/>
                  <a:pt x="5495501" y="1601337"/>
                </a:cubicBezTo>
                <a:lnTo>
                  <a:pt x="36394" y="1601337"/>
                </a:lnTo>
                <a:cubicBezTo>
                  <a:pt x="16294" y="1601337"/>
                  <a:pt x="0" y="1585043"/>
                  <a:pt x="0" y="1564943"/>
                </a:cubicBezTo>
                <a:lnTo>
                  <a:pt x="0" y="36394"/>
                </a:lnTo>
                <a:cubicBezTo>
                  <a:pt x="0" y="16308"/>
                  <a:pt x="16308" y="0"/>
                  <a:pt x="36394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6225313" y="1164609"/>
            <a:ext cx="36394" cy="1601337"/>
          </a:xfrm>
          <a:custGeom>
            <a:avLst/>
            <a:gdLst/>
            <a:ahLst/>
            <a:cxnLst/>
            <a:rect l="l" t="t" r="r" b="b"/>
            <a:pathLst>
              <a:path w="36394" h="1601337">
                <a:moveTo>
                  <a:pt x="36394" y="0"/>
                </a:moveTo>
                <a:lnTo>
                  <a:pt x="36394" y="0"/>
                </a:lnTo>
                <a:lnTo>
                  <a:pt x="36394" y="1601337"/>
                </a:lnTo>
                <a:lnTo>
                  <a:pt x="36394" y="1601337"/>
                </a:lnTo>
                <a:cubicBezTo>
                  <a:pt x="16294" y="1601337"/>
                  <a:pt x="0" y="1585043"/>
                  <a:pt x="0" y="1564943"/>
                </a:cubicBezTo>
                <a:lnTo>
                  <a:pt x="0" y="36394"/>
                </a:lnTo>
                <a:cubicBezTo>
                  <a:pt x="0" y="16308"/>
                  <a:pt x="16308" y="0"/>
                  <a:pt x="36394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7" name="Shape 25"/>
          <p:cNvSpPr/>
          <p:nvPr/>
        </p:nvSpPr>
        <p:spPr>
          <a:xfrm>
            <a:off x="6425480" y="1346579"/>
            <a:ext cx="436728" cy="436728"/>
          </a:xfrm>
          <a:custGeom>
            <a:avLst/>
            <a:gdLst/>
            <a:ahLst/>
            <a:cxnLst/>
            <a:rect l="l" t="t" r="r" b="b"/>
            <a:pathLst>
              <a:path w="436728" h="436728">
                <a:moveTo>
                  <a:pt x="109182" y="0"/>
                </a:moveTo>
                <a:lnTo>
                  <a:pt x="327546" y="0"/>
                </a:lnTo>
                <a:cubicBezTo>
                  <a:pt x="387806" y="0"/>
                  <a:pt x="436728" y="48923"/>
                  <a:pt x="436728" y="109182"/>
                </a:cubicBezTo>
                <a:lnTo>
                  <a:pt x="436728" y="327546"/>
                </a:lnTo>
                <a:cubicBezTo>
                  <a:pt x="436728" y="387806"/>
                  <a:pt x="387806" y="436728"/>
                  <a:pt x="327546" y="436728"/>
                </a:cubicBezTo>
                <a:lnTo>
                  <a:pt x="109182" y="436728"/>
                </a:lnTo>
                <a:cubicBezTo>
                  <a:pt x="48923" y="436728"/>
                  <a:pt x="0" y="387806"/>
                  <a:pt x="0" y="327546"/>
                </a:cubicBezTo>
                <a:lnTo>
                  <a:pt x="0" y="109182"/>
                </a:lnTo>
                <a:cubicBezTo>
                  <a:pt x="0" y="48923"/>
                  <a:pt x="48923" y="0"/>
                  <a:pt x="109182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552859" y="1473958"/>
            <a:ext cx="181970" cy="181970"/>
          </a:xfrm>
          <a:custGeom>
            <a:avLst/>
            <a:gdLst/>
            <a:ahLst/>
            <a:cxnLst/>
            <a:rect l="l" t="t" r="r" b="b"/>
            <a:pathLst>
              <a:path w="181970" h="181970">
                <a:moveTo>
                  <a:pt x="45493" y="34119"/>
                </a:moveTo>
                <a:lnTo>
                  <a:pt x="45493" y="28433"/>
                </a:lnTo>
                <a:cubicBezTo>
                  <a:pt x="45493" y="12724"/>
                  <a:pt x="76058" y="0"/>
                  <a:pt x="113731" y="0"/>
                </a:cubicBezTo>
                <a:cubicBezTo>
                  <a:pt x="151405" y="0"/>
                  <a:pt x="181970" y="12724"/>
                  <a:pt x="181970" y="28433"/>
                </a:cubicBezTo>
                <a:lnTo>
                  <a:pt x="181970" y="34119"/>
                </a:lnTo>
                <a:cubicBezTo>
                  <a:pt x="181970" y="44995"/>
                  <a:pt x="167292" y="54449"/>
                  <a:pt x="145718" y="59247"/>
                </a:cubicBezTo>
                <a:cubicBezTo>
                  <a:pt x="144865" y="58252"/>
                  <a:pt x="143977" y="57292"/>
                  <a:pt x="143088" y="56404"/>
                </a:cubicBezTo>
                <a:cubicBezTo>
                  <a:pt x="137579" y="50966"/>
                  <a:pt x="130471" y="46843"/>
                  <a:pt x="123043" y="43787"/>
                </a:cubicBezTo>
                <a:cubicBezTo>
                  <a:pt x="108151" y="37567"/>
                  <a:pt x="88746" y="34155"/>
                  <a:pt x="68239" y="34155"/>
                </a:cubicBezTo>
                <a:cubicBezTo>
                  <a:pt x="60455" y="34155"/>
                  <a:pt x="52850" y="34653"/>
                  <a:pt x="45564" y="35612"/>
                </a:cubicBezTo>
                <a:cubicBezTo>
                  <a:pt x="45493" y="35150"/>
                  <a:pt x="45493" y="34653"/>
                  <a:pt x="45493" y="34155"/>
                </a:cubicBezTo>
                <a:close/>
                <a:moveTo>
                  <a:pt x="153537" y="125460"/>
                </a:moveTo>
                <a:lnTo>
                  <a:pt x="153537" y="109040"/>
                </a:lnTo>
                <a:cubicBezTo>
                  <a:pt x="158904" y="107654"/>
                  <a:pt x="163951" y="106019"/>
                  <a:pt x="168536" y="104100"/>
                </a:cubicBezTo>
                <a:cubicBezTo>
                  <a:pt x="173227" y="102145"/>
                  <a:pt x="177812" y="99764"/>
                  <a:pt x="181970" y="96885"/>
                </a:cubicBezTo>
                <a:lnTo>
                  <a:pt x="181970" y="102358"/>
                </a:lnTo>
                <a:cubicBezTo>
                  <a:pt x="181970" y="111883"/>
                  <a:pt x="170775" y="120306"/>
                  <a:pt x="153537" y="125460"/>
                </a:cubicBezTo>
                <a:close/>
                <a:moveTo>
                  <a:pt x="153537" y="91340"/>
                </a:moveTo>
                <a:lnTo>
                  <a:pt x="153537" y="79612"/>
                </a:lnTo>
                <a:cubicBezTo>
                  <a:pt x="153537" y="78013"/>
                  <a:pt x="153395" y="76484"/>
                  <a:pt x="153182" y="74992"/>
                </a:cubicBezTo>
                <a:cubicBezTo>
                  <a:pt x="158691" y="73606"/>
                  <a:pt x="163844" y="71935"/>
                  <a:pt x="168536" y="69945"/>
                </a:cubicBezTo>
                <a:cubicBezTo>
                  <a:pt x="173227" y="67954"/>
                  <a:pt x="177812" y="65609"/>
                  <a:pt x="181970" y="62730"/>
                </a:cubicBezTo>
                <a:lnTo>
                  <a:pt x="181970" y="68203"/>
                </a:lnTo>
                <a:cubicBezTo>
                  <a:pt x="181970" y="77728"/>
                  <a:pt x="170775" y="86151"/>
                  <a:pt x="153537" y="91305"/>
                </a:cubicBezTo>
                <a:close/>
                <a:moveTo>
                  <a:pt x="0" y="85299"/>
                </a:moveTo>
                <a:lnTo>
                  <a:pt x="0" y="79612"/>
                </a:lnTo>
                <a:cubicBezTo>
                  <a:pt x="0" y="63903"/>
                  <a:pt x="30565" y="51179"/>
                  <a:pt x="68239" y="51179"/>
                </a:cubicBezTo>
                <a:cubicBezTo>
                  <a:pt x="105912" y="51179"/>
                  <a:pt x="136478" y="63903"/>
                  <a:pt x="136478" y="79612"/>
                </a:cubicBezTo>
                <a:lnTo>
                  <a:pt x="136478" y="85299"/>
                </a:lnTo>
                <a:cubicBezTo>
                  <a:pt x="136478" y="101008"/>
                  <a:pt x="105912" y="113731"/>
                  <a:pt x="68239" y="113731"/>
                </a:cubicBezTo>
                <a:cubicBezTo>
                  <a:pt x="30565" y="113731"/>
                  <a:pt x="0" y="101008"/>
                  <a:pt x="0" y="85299"/>
                </a:cubicBezTo>
                <a:close/>
                <a:moveTo>
                  <a:pt x="136478" y="119418"/>
                </a:moveTo>
                <a:cubicBezTo>
                  <a:pt x="136478" y="135127"/>
                  <a:pt x="105912" y="147851"/>
                  <a:pt x="68239" y="147851"/>
                </a:cubicBezTo>
                <a:cubicBezTo>
                  <a:pt x="30565" y="147851"/>
                  <a:pt x="0" y="135127"/>
                  <a:pt x="0" y="119418"/>
                </a:cubicBezTo>
                <a:lnTo>
                  <a:pt x="0" y="113945"/>
                </a:lnTo>
                <a:cubicBezTo>
                  <a:pt x="4123" y="116823"/>
                  <a:pt x="8708" y="119169"/>
                  <a:pt x="13435" y="121159"/>
                </a:cubicBezTo>
                <a:cubicBezTo>
                  <a:pt x="28326" y="127379"/>
                  <a:pt x="47732" y="130791"/>
                  <a:pt x="68239" y="130791"/>
                </a:cubicBezTo>
                <a:cubicBezTo>
                  <a:pt x="88746" y="130791"/>
                  <a:pt x="108151" y="127344"/>
                  <a:pt x="123043" y="121159"/>
                </a:cubicBezTo>
                <a:cubicBezTo>
                  <a:pt x="127735" y="119205"/>
                  <a:pt x="132319" y="116823"/>
                  <a:pt x="136478" y="113945"/>
                </a:cubicBezTo>
                <a:lnTo>
                  <a:pt x="136478" y="119418"/>
                </a:lnTo>
                <a:close/>
                <a:moveTo>
                  <a:pt x="136478" y="148064"/>
                </a:moveTo>
                <a:lnTo>
                  <a:pt x="136478" y="153537"/>
                </a:lnTo>
                <a:cubicBezTo>
                  <a:pt x="136478" y="169246"/>
                  <a:pt x="105912" y="181970"/>
                  <a:pt x="68239" y="181970"/>
                </a:cubicBezTo>
                <a:cubicBezTo>
                  <a:pt x="30565" y="181970"/>
                  <a:pt x="0" y="169246"/>
                  <a:pt x="0" y="153537"/>
                </a:cubicBezTo>
                <a:lnTo>
                  <a:pt x="0" y="148064"/>
                </a:lnTo>
                <a:cubicBezTo>
                  <a:pt x="4123" y="150943"/>
                  <a:pt x="8708" y="153289"/>
                  <a:pt x="13435" y="155279"/>
                </a:cubicBezTo>
                <a:cubicBezTo>
                  <a:pt x="28326" y="161499"/>
                  <a:pt x="47732" y="164910"/>
                  <a:pt x="68239" y="164910"/>
                </a:cubicBezTo>
                <a:cubicBezTo>
                  <a:pt x="88746" y="164910"/>
                  <a:pt x="108151" y="161463"/>
                  <a:pt x="123043" y="155279"/>
                </a:cubicBezTo>
                <a:cubicBezTo>
                  <a:pt x="127735" y="153324"/>
                  <a:pt x="132319" y="150943"/>
                  <a:pt x="136478" y="148064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9" name="Text 27"/>
          <p:cNvSpPr/>
          <p:nvPr/>
        </p:nvSpPr>
        <p:spPr>
          <a:xfrm>
            <a:off x="6971390" y="1346579"/>
            <a:ext cx="4758519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Cost-Sensitive Learning</a:t>
            </a:r>
            <a:endParaRPr lang="en-US" sz="1600"/>
          </a:p>
        </p:txBody>
      </p:sp>
      <p:sp>
        <p:nvSpPr>
          <p:cNvPr id="30" name="Text 28"/>
          <p:cNvSpPr/>
          <p:nvPr/>
        </p:nvSpPr>
        <p:spPr>
          <a:xfrm>
            <a:off x="6971390" y="1674125"/>
            <a:ext cx="4749421" cy="473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6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Experiment with cost-sensitive learning</a:t>
            </a:r>
            <a:r>
              <a:rPr lang="en-US" sz="1146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hybrid modeling approaches that explicitly account for misclassification costs.</a:t>
            </a:r>
            <a:endParaRPr lang="en-US" sz="1600"/>
          </a:p>
        </p:txBody>
      </p:sp>
      <p:sp>
        <p:nvSpPr>
          <p:cNvPr id="31" name="Text 29"/>
          <p:cNvSpPr/>
          <p:nvPr/>
        </p:nvSpPr>
        <p:spPr>
          <a:xfrm>
            <a:off x="6971390" y="2220036"/>
            <a:ext cx="4740322" cy="363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Different costs for false negatives vs. false positives could better align with business objectives.</a:t>
            </a:r>
            <a:endParaRPr lang="en-US" sz="1600"/>
          </a:p>
        </p:txBody>
      </p:sp>
      <p:sp>
        <p:nvSpPr>
          <p:cNvPr id="32" name="Shape 30"/>
          <p:cNvSpPr/>
          <p:nvPr/>
        </p:nvSpPr>
        <p:spPr>
          <a:xfrm>
            <a:off x="6225313" y="2911522"/>
            <a:ext cx="5604681" cy="1419367"/>
          </a:xfrm>
          <a:custGeom>
            <a:avLst/>
            <a:gdLst/>
            <a:ahLst/>
            <a:cxnLst/>
            <a:rect l="l" t="t" r="r" b="b"/>
            <a:pathLst>
              <a:path w="5604681" h="1419367">
                <a:moveTo>
                  <a:pt x="36394" y="0"/>
                </a:moveTo>
                <a:lnTo>
                  <a:pt x="5495503" y="0"/>
                </a:lnTo>
                <a:cubicBezTo>
                  <a:pt x="5555800" y="0"/>
                  <a:pt x="5604681" y="48881"/>
                  <a:pt x="5604681" y="109178"/>
                </a:cubicBezTo>
                <a:lnTo>
                  <a:pt x="5604681" y="1310189"/>
                </a:lnTo>
                <a:cubicBezTo>
                  <a:pt x="5604681" y="1370487"/>
                  <a:pt x="5555800" y="1419367"/>
                  <a:pt x="5495503" y="1419367"/>
                </a:cubicBezTo>
                <a:lnTo>
                  <a:pt x="36394" y="1419367"/>
                </a:lnTo>
                <a:cubicBezTo>
                  <a:pt x="16294" y="1419367"/>
                  <a:pt x="0" y="1403073"/>
                  <a:pt x="0" y="1382973"/>
                </a:cubicBezTo>
                <a:lnTo>
                  <a:pt x="0" y="36394"/>
                </a:lnTo>
                <a:cubicBezTo>
                  <a:pt x="0" y="16308"/>
                  <a:pt x="16308" y="0"/>
                  <a:pt x="36394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6225313" y="2911522"/>
            <a:ext cx="36394" cy="1419367"/>
          </a:xfrm>
          <a:custGeom>
            <a:avLst/>
            <a:gdLst/>
            <a:ahLst/>
            <a:cxnLst/>
            <a:rect l="l" t="t" r="r" b="b"/>
            <a:pathLst>
              <a:path w="36394" h="1419367">
                <a:moveTo>
                  <a:pt x="36394" y="0"/>
                </a:moveTo>
                <a:lnTo>
                  <a:pt x="36394" y="0"/>
                </a:lnTo>
                <a:lnTo>
                  <a:pt x="36394" y="1419367"/>
                </a:lnTo>
                <a:lnTo>
                  <a:pt x="36394" y="1419367"/>
                </a:lnTo>
                <a:cubicBezTo>
                  <a:pt x="16294" y="1419367"/>
                  <a:pt x="0" y="1403073"/>
                  <a:pt x="0" y="1382973"/>
                </a:cubicBezTo>
                <a:lnTo>
                  <a:pt x="0" y="36394"/>
                </a:lnTo>
                <a:cubicBezTo>
                  <a:pt x="0" y="16308"/>
                  <a:pt x="16308" y="0"/>
                  <a:pt x="36394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4" name="Shape 32"/>
          <p:cNvSpPr/>
          <p:nvPr/>
        </p:nvSpPr>
        <p:spPr>
          <a:xfrm>
            <a:off x="6425480" y="3093493"/>
            <a:ext cx="436728" cy="436728"/>
          </a:xfrm>
          <a:custGeom>
            <a:avLst/>
            <a:gdLst/>
            <a:ahLst/>
            <a:cxnLst/>
            <a:rect l="l" t="t" r="r" b="b"/>
            <a:pathLst>
              <a:path w="436728" h="436728">
                <a:moveTo>
                  <a:pt x="109182" y="0"/>
                </a:moveTo>
                <a:lnTo>
                  <a:pt x="327546" y="0"/>
                </a:lnTo>
                <a:cubicBezTo>
                  <a:pt x="387806" y="0"/>
                  <a:pt x="436728" y="48923"/>
                  <a:pt x="436728" y="109182"/>
                </a:cubicBezTo>
                <a:lnTo>
                  <a:pt x="436728" y="327546"/>
                </a:lnTo>
                <a:cubicBezTo>
                  <a:pt x="436728" y="387806"/>
                  <a:pt x="387806" y="436728"/>
                  <a:pt x="327546" y="436728"/>
                </a:cubicBezTo>
                <a:lnTo>
                  <a:pt x="109182" y="436728"/>
                </a:lnTo>
                <a:cubicBezTo>
                  <a:pt x="48923" y="436728"/>
                  <a:pt x="0" y="387806"/>
                  <a:pt x="0" y="327546"/>
                </a:cubicBezTo>
                <a:lnTo>
                  <a:pt x="0" y="109182"/>
                </a:lnTo>
                <a:cubicBezTo>
                  <a:pt x="0" y="48923"/>
                  <a:pt x="48923" y="0"/>
                  <a:pt x="109182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64232" y="3220872"/>
            <a:ext cx="159224" cy="181970"/>
          </a:xfrm>
          <a:custGeom>
            <a:avLst/>
            <a:gdLst/>
            <a:ahLst/>
            <a:cxnLst/>
            <a:rect l="l" t="t" r="r" b="b"/>
            <a:pathLst>
              <a:path w="159224" h="181970">
                <a:moveTo>
                  <a:pt x="45493" y="0"/>
                </a:moveTo>
                <a:cubicBezTo>
                  <a:pt x="51783" y="0"/>
                  <a:pt x="56866" y="5082"/>
                  <a:pt x="56866" y="11373"/>
                </a:cubicBezTo>
                <a:lnTo>
                  <a:pt x="56866" y="22746"/>
                </a:lnTo>
                <a:lnTo>
                  <a:pt x="102358" y="22746"/>
                </a:lnTo>
                <a:lnTo>
                  <a:pt x="102358" y="11373"/>
                </a:lnTo>
                <a:cubicBezTo>
                  <a:pt x="102358" y="5082"/>
                  <a:pt x="107441" y="0"/>
                  <a:pt x="113731" y="0"/>
                </a:cubicBezTo>
                <a:cubicBezTo>
                  <a:pt x="120022" y="0"/>
                  <a:pt x="125104" y="5082"/>
                  <a:pt x="125104" y="11373"/>
                </a:cubicBezTo>
                <a:lnTo>
                  <a:pt x="125104" y="22746"/>
                </a:lnTo>
                <a:lnTo>
                  <a:pt x="136478" y="22746"/>
                </a:lnTo>
                <a:cubicBezTo>
                  <a:pt x="149024" y="22746"/>
                  <a:pt x="159224" y="32947"/>
                  <a:pt x="159224" y="45493"/>
                </a:cubicBezTo>
                <a:lnTo>
                  <a:pt x="159224" y="147851"/>
                </a:lnTo>
                <a:cubicBezTo>
                  <a:pt x="159224" y="160397"/>
                  <a:pt x="149024" y="170597"/>
                  <a:pt x="136478" y="170597"/>
                </a:cubicBezTo>
                <a:lnTo>
                  <a:pt x="22746" y="170597"/>
                </a:lnTo>
                <a:cubicBezTo>
                  <a:pt x="10200" y="170597"/>
                  <a:pt x="0" y="160397"/>
                  <a:pt x="0" y="147851"/>
                </a:cubicBezTo>
                <a:lnTo>
                  <a:pt x="0" y="45493"/>
                </a:lnTo>
                <a:cubicBezTo>
                  <a:pt x="0" y="32947"/>
                  <a:pt x="10200" y="22746"/>
                  <a:pt x="22746" y="22746"/>
                </a:cubicBezTo>
                <a:lnTo>
                  <a:pt x="34119" y="22746"/>
                </a:lnTo>
                <a:lnTo>
                  <a:pt x="34119" y="11373"/>
                </a:lnTo>
                <a:cubicBezTo>
                  <a:pt x="34119" y="5082"/>
                  <a:pt x="39202" y="0"/>
                  <a:pt x="45493" y="0"/>
                </a:cubicBezTo>
                <a:close/>
                <a:moveTo>
                  <a:pt x="22746" y="85299"/>
                </a:moveTo>
                <a:lnTo>
                  <a:pt x="22746" y="96672"/>
                </a:lnTo>
                <a:cubicBezTo>
                  <a:pt x="22746" y="99799"/>
                  <a:pt x="25305" y="102358"/>
                  <a:pt x="28433" y="102358"/>
                </a:cubicBezTo>
                <a:lnTo>
                  <a:pt x="39806" y="102358"/>
                </a:lnTo>
                <a:cubicBezTo>
                  <a:pt x="42934" y="102358"/>
                  <a:pt x="45493" y="99799"/>
                  <a:pt x="45493" y="96672"/>
                </a:cubicBezTo>
                <a:lnTo>
                  <a:pt x="45493" y="85299"/>
                </a:lnTo>
                <a:cubicBezTo>
                  <a:pt x="45493" y="82171"/>
                  <a:pt x="42934" y="79612"/>
                  <a:pt x="39806" y="79612"/>
                </a:cubicBezTo>
                <a:lnTo>
                  <a:pt x="28433" y="79612"/>
                </a:lnTo>
                <a:cubicBezTo>
                  <a:pt x="25305" y="79612"/>
                  <a:pt x="22746" y="82171"/>
                  <a:pt x="22746" y="85299"/>
                </a:cubicBezTo>
                <a:close/>
                <a:moveTo>
                  <a:pt x="68239" y="85299"/>
                </a:moveTo>
                <a:lnTo>
                  <a:pt x="68239" y="96672"/>
                </a:lnTo>
                <a:cubicBezTo>
                  <a:pt x="68239" y="99799"/>
                  <a:pt x="70798" y="102358"/>
                  <a:pt x="73925" y="102358"/>
                </a:cubicBezTo>
                <a:lnTo>
                  <a:pt x="85299" y="102358"/>
                </a:lnTo>
                <a:cubicBezTo>
                  <a:pt x="88426" y="102358"/>
                  <a:pt x="90985" y="99799"/>
                  <a:pt x="90985" y="96672"/>
                </a:cubicBezTo>
                <a:lnTo>
                  <a:pt x="90985" y="85299"/>
                </a:lnTo>
                <a:cubicBezTo>
                  <a:pt x="90985" y="82171"/>
                  <a:pt x="88426" y="79612"/>
                  <a:pt x="85299" y="79612"/>
                </a:cubicBezTo>
                <a:lnTo>
                  <a:pt x="73925" y="79612"/>
                </a:lnTo>
                <a:cubicBezTo>
                  <a:pt x="70798" y="79612"/>
                  <a:pt x="68239" y="82171"/>
                  <a:pt x="68239" y="85299"/>
                </a:cubicBezTo>
                <a:close/>
                <a:moveTo>
                  <a:pt x="119418" y="79612"/>
                </a:moveTo>
                <a:cubicBezTo>
                  <a:pt x="116290" y="79612"/>
                  <a:pt x="113731" y="82171"/>
                  <a:pt x="113731" y="85299"/>
                </a:cubicBezTo>
                <a:lnTo>
                  <a:pt x="113731" y="96672"/>
                </a:lnTo>
                <a:cubicBezTo>
                  <a:pt x="113731" y="99799"/>
                  <a:pt x="116290" y="102358"/>
                  <a:pt x="119418" y="102358"/>
                </a:cubicBezTo>
                <a:lnTo>
                  <a:pt x="130791" y="102358"/>
                </a:lnTo>
                <a:cubicBezTo>
                  <a:pt x="133919" y="102358"/>
                  <a:pt x="136478" y="99799"/>
                  <a:pt x="136478" y="96672"/>
                </a:cubicBezTo>
                <a:lnTo>
                  <a:pt x="136478" y="85299"/>
                </a:lnTo>
                <a:cubicBezTo>
                  <a:pt x="136478" y="82171"/>
                  <a:pt x="133919" y="79612"/>
                  <a:pt x="130791" y="79612"/>
                </a:cubicBezTo>
                <a:lnTo>
                  <a:pt x="119418" y="79612"/>
                </a:lnTo>
                <a:close/>
                <a:moveTo>
                  <a:pt x="22746" y="130791"/>
                </a:moveTo>
                <a:lnTo>
                  <a:pt x="22746" y="142164"/>
                </a:lnTo>
                <a:cubicBezTo>
                  <a:pt x="22746" y="145292"/>
                  <a:pt x="25305" y="147851"/>
                  <a:pt x="28433" y="147851"/>
                </a:cubicBezTo>
                <a:lnTo>
                  <a:pt x="39806" y="147851"/>
                </a:lnTo>
                <a:cubicBezTo>
                  <a:pt x="42934" y="147851"/>
                  <a:pt x="45493" y="145292"/>
                  <a:pt x="45493" y="142164"/>
                </a:cubicBezTo>
                <a:lnTo>
                  <a:pt x="45493" y="130791"/>
                </a:lnTo>
                <a:cubicBezTo>
                  <a:pt x="45493" y="127663"/>
                  <a:pt x="42934" y="125104"/>
                  <a:pt x="39806" y="125104"/>
                </a:cubicBezTo>
                <a:lnTo>
                  <a:pt x="28433" y="125104"/>
                </a:lnTo>
                <a:cubicBezTo>
                  <a:pt x="25305" y="125104"/>
                  <a:pt x="22746" y="127663"/>
                  <a:pt x="22746" y="130791"/>
                </a:cubicBezTo>
                <a:close/>
                <a:moveTo>
                  <a:pt x="73925" y="125104"/>
                </a:moveTo>
                <a:cubicBezTo>
                  <a:pt x="70798" y="125104"/>
                  <a:pt x="68239" y="127663"/>
                  <a:pt x="68239" y="130791"/>
                </a:cubicBezTo>
                <a:lnTo>
                  <a:pt x="68239" y="142164"/>
                </a:lnTo>
                <a:cubicBezTo>
                  <a:pt x="68239" y="145292"/>
                  <a:pt x="70798" y="147851"/>
                  <a:pt x="73925" y="147851"/>
                </a:cubicBezTo>
                <a:lnTo>
                  <a:pt x="85299" y="147851"/>
                </a:lnTo>
                <a:cubicBezTo>
                  <a:pt x="88426" y="147851"/>
                  <a:pt x="90985" y="145292"/>
                  <a:pt x="90985" y="142164"/>
                </a:cubicBezTo>
                <a:lnTo>
                  <a:pt x="90985" y="130791"/>
                </a:lnTo>
                <a:cubicBezTo>
                  <a:pt x="90985" y="127663"/>
                  <a:pt x="88426" y="125104"/>
                  <a:pt x="85299" y="125104"/>
                </a:cubicBezTo>
                <a:lnTo>
                  <a:pt x="73925" y="125104"/>
                </a:lnTo>
                <a:close/>
                <a:moveTo>
                  <a:pt x="113731" y="130791"/>
                </a:moveTo>
                <a:lnTo>
                  <a:pt x="113731" y="142164"/>
                </a:lnTo>
                <a:cubicBezTo>
                  <a:pt x="113731" y="145292"/>
                  <a:pt x="116290" y="147851"/>
                  <a:pt x="119418" y="147851"/>
                </a:cubicBezTo>
                <a:lnTo>
                  <a:pt x="130791" y="147851"/>
                </a:lnTo>
                <a:cubicBezTo>
                  <a:pt x="133919" y="147851"/>
                  <a:pt x="136478" y="145292"/>
                  <a:pt x="136478" y="142164"/>
                </a:cubicBezTo>
                <a:lnTo>
                  <a:pt x="136478" y="130791"/>
                </a:lnTo>
                <a:cubicBezTo>
                  <a:pt x="136478" y="127663"/>
                  <a:pt x="133919" y="125104"/>
                  <a:pt x="130791" y="125104"/>
                </a:cubicBezTo>
                <a:lnTo>
                  <a:pt x="119418" y="125104"/>
                </a:lnTo>
                <a:cubicBezTo>
                  <a:pt x="116290" y="125104"/>
                  <a:pt x="113731" y="127663"/>
                  <a:pt x="113731" y="130791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6" name="Text 34"/>
          <p:cNvSpPr/>
          <p:nvPr/>
        </p:nvSpPr>
        <p:spPr>
          <a:xfrm>
            <a:off x="6971390" y="3093493"/>
            <a:ext cx="4758519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Temporal Dynamics</a:t>
            </a:r>
            <a:endParaRPr lang="en-US" sz="1600"/>
          </a:p>
        </p:txBody>
      </p:sp>
      <p:sp>
        <p:nvSpPr>
          <p:cNvPr id="37" name="Text 35"/>
          <p:cNvSpPr/>
          <p:nvPr/>
        </p:nvSpPr>
        <p:spPr>
          <a:xfrm>
            <a:off x="6971390" y="3421039"/>
            <a:ext cx="4749421" cy="473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6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Incorporate temporal dynamics</a:t>
            </a:r>
            <a:r>
              <a:rPr lang="en-US" sz="1146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longitudinal feature engineering to capture changes within and across years.</a:t>
            </a:r>
            <a:endParaRPr lang="en-US" sz="1600"/>
          </a:p>
        </p:txBody>
      </p:sp>
      <p:sp>
        <p:nvSpPr>
          <p:cNvPr id="38" name="Text 36"/>
          <p:cNvSpPr/>
          <p:nvPr/>
        </p:nvSpPr>
        <p:spPr>
          <a:xfrm>
            <a:off x="6971390" y="3966949"/>
            <a:ext cx="4740322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Time-series features and trend analysis could reveal important patterns.</a:t>
            </a:r>
            <a:endParaRPr lang="en-US" sz="1600"/>
          </a:p>
        </p:txBody>
      </p:sp>
      <p:sp>
        <p:nvSpPr>
          <p:cNvPr id="39" name="Shape 37"/>
          <p:cNvSpPr/>
          <p:nvPr/>
        </p:nvSpPr>
        <p:spPr>
          <a:xfrm>
            <a:off x="6196956" y="4506946"/>
            <a:ext cx="5663518" cy="2150129"/>
          </a:xfrm>
          <a:custGeom>
            <a:avLst/>
            <a:gdLst/>
            <a:ahLst/>
            <a:cxnLst/>
            <a:rect l="l" t="t" r="r" b="b"/>
            <a:pathLst>
              <a:path w="5622878" h="2383809">
                <a:moveTo>
                  <a:pt x="109178" y="0"/>
                </a:moveTo>
                <a:lnTo>
                  <a:pt x="5513699" y="0"/>
                </a:lnTo>
                <a:cubicBezTo>
                  <a:pt x="5573997" y="0"/>
                  <a:pt x="5622878" y="48881"/>
                  <a:pt x="5622878" y="109178"/>
                </a:cubicBezTo>
                <a:lnTo>
                  <a:pt x="5622878" y="2274631"/>
                </a:lnTo>
                <a:cubicBezTo>
                  <a:pt x="5622878" y="2334928"/>
                  <a:pt x="5573997" y="2383809"/>
                  <a:pt x="5513699" y="2383809"/>
                </a:cubicBezTo>
                <a:lnTo>
                  <a:pt x="109178" y="2383809"/>
                </a:lnTo>
                <a:cubicBezTo>
                  <a:pt x="48881" y="2383809"/>
                  <a:pt x="0" y="2334928"/>
                  <a:pt x="0" y="2274631"/>
                </a:cubicBezTo>
                <a:lnTo>
                  <a:pt x="0" y="109178"/>
                </a:lnTo>
                <a:cubicBezTo>
                  <a:pt x="0" y="48921"/>
                  <a:pt x="48921" y="0"/>
                  <a:pt x="109178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0" name="Text 38"/>
          <p:cNvSpPr/>
          <p:nvPr/>
        </p:nvSpPr>
        <p:spPr>
          <a:xfrm>
            <a:off x="6425480" y="4603390"/>
            <a:ext cx="5277134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b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Impact</a:t>
            </a:r>
            <a:endParaRPr lang="en-US" sz="1600"/>
          </a:p>
        </p:txBody>
      </p:sp>
      <p:sp>
        <p:nvSpPr>
          <p:cNvPr id="41" name="Text 39"/>
          <p:cNvSpPr/>
          <p:nvPr/>
        </p:nvSpPr>
        <p:spPr>
          <a:xfrm>
            <a:off x="6425480" y="4922444"/>
            <a:ext cx="5258937" cy="709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6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These future directions aim to address current limitations while building on the solid foundation established in this study. Each enhancement targets specific challenges identified in the modeling process.</a:t>
            </a:r>
            <a:endParaRPr lang="en-US" sz="1600"/>
          </a:p>
        </p:txBody>
      </p:sp>
      <p:sp>
        <p:nvSpPr>
          <p:cNvPr id="42" name="Shape 40"/>
          <p:cNvSpPr/>
          <p:nvPr/>
        </p:nvSpPr>
        <p:spPr>
          <a:xfrm>
            <a:off x="6443677" y="5804999"/>
            <a:ext cx="127379" cy="127379"/>
          </a:xfrm>
          <a:custGeom>
            <a:avLst/>
            <a:gdLst/>
            <a:ahLst/>
            <a:cxnLst/>
            <a:rect l="l" t="t" r="r" b="b"/>
            <a:pathLst>
              <a:path w="127379" h="127379">
                <a:moveTo>
                  <a:pt x="63690" y="127379"/>
                </a:moveTo>
                <a:cubicBezTo>
                  <a:pt x="98841" y="127379"/>
                  <a:pt x="127379" y="98841"/>
                  <a:pt x="127379" y="63690"/>
                </a:cubicBezTo>
                <a:cubicBezTo>
                  <a:pt x="127379" y="28538"/>
                  <a:pt x="98841" y="0"/>
                  <a:pt x="63690" y="0"/>
                </a:cubicBezTo>
                <a:cubicBezTo>
                  <a:pt x="28538" y="0"/>
                  <a:pt x="0" y="28538"/>
                  <a:pt x="0" y="63690"/>
                </a:cubicBezTo>
                <a:cubicBezTo>
                  <a:pt x="0" y="98841"/>
                  <a:pt x="28538" y="127379"/>
                  <a:pt x="63690" y="127379"/>
                </a:cubicBezTo>
                <a:close/>
                <a:moveTo>
                  <a:pt x="84687" y="52917"/>
                </a:moveTo>
                <a:lnTo>
                  <a:pt x="64784" y="84762"/>
                </a:lnTo>
                <a:cubicBezTo>
                  <a:pt x="63739" y="86429"/>
                  <a:pt x="61948" y="87474"/>
                  <a:pt x="59983" y="87573"/>
                </a:cubicBezTo>
                <a:cubicBezTo>
                  <a:pt x="58017" y="87673"/>
                  <a:pt x="56126" y="86777"/>
                  <a:pt x="54957" y="85185"/>
                </a:cubicBezTo>
                <a:lnTo>
                  <a:pt x="43015" y="69262"/>
                </a:lnTo>
                <a:cubicBezTo>
                  <a:pt x="41025" y="66625"/>
                  <a:pt x="41572" y="62893"/>
                  <a:pt x="44210" y="60903"/>
                </a:cubicBezTo>
                <a:cubicBezTo>
                  <a:pt x="46847" y="58913"/>
                  <a:pt x="50578" y="59460"/>
                  <a:pt x="52569" y="62097"/>
                </a:cubicBezTo>
                <a:lnTo>
                  <a:pt x="59286" y="71054"/>
                </a:lnTo>
                <a:lnTo>
                  <a:pt x="74562" y="46598"/>
                </a:lnTo>
                <a:cubicBezTo>
                  <a:pt x="76303" y="43811"/>
                  <a:pt x="79985" y="42941"/>
                  <a:pt x="82796" y="44707"/>
                </a:cubicBezTo>
                <a:cubicBezTo>
                  <a:pt x="85608" y="46473"/>
                  <a:pt x="86454" y="50131"/>
                  <a:pt x="84687" y="5294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6657492" y="5777704"/>
            <a:ext cx="2138149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Improved high-cost patient detection</a:t>
            </a:r>
            <a:endParaRPr lang="en-US" sz="1600"/>
          </a:p>
        </p:txBody>
      </p:sp>
      <p:sp>
        <p:nvSpPr>
          <p:cNvPr id="44" name="Shape 42"/>
          <p:cNvSpPr/>
          <p:nvPr/>
        </p:nvSpPr>
        <p:spPr>
          <a:xfrm>
            <a:off x="6443677" y="6059758"/>
            <a:ext cx="127379" cy="127379"/>
          </a:xfrm>
          <a:custGeom>
            <a:avLst/>
            <a:gdLst/>
            <a:ahLst/>
            <a:cxnLst/>
            <a:rect l="l" t="t" r="r" b="b"/>
            <a:pathLst>
              <a:path w="127379" h="127379">
                <a:moveTo>
                  <a:pt x="63690" y="127379"/>
                </a:moveTo>
                <a:cubicBezTo>
                  <a:pt x="98841" y="127379"/>
                  <a:pt x="127379" y="98841"/>
                  <a:pt x="127379" y="63690"/>
                </a:cubicBezTo>
                <a:cubicBezTo>
                  <a:pt x="127379" y="28538"/>
                  <a:pt x="98841" y="0"/>
                  <a:pt x="63690" y="0"/>
                </a:cubicBezTo>
                <a:cubicBezTo>
                  <a:pt x="28538" y="0"/>
                  <a:pt x="0" y="28538"/>
                  <a:pt x="0" y="63690"/>
                </a:cubicBezTo>
                <a:cubicBezTo>
                  <a:pt x="0" y="98841"/>
                  <a:pt x="28538" y="127379"/>
                  <a:pt x="63690" y="127379"/>
                </a:cubicBezTo>
                <a:close/>
                <a:moveTo>
                  <a:pt x="84687" y="52917"/>
                </a:moveTo>
                <a:lnTo>
                  <a:pt x="64784" y="84762"/>
                </a:lnTo>
                <a:cubicBezTo>
                  <a:pt x="63739" y="86429"/>
                  <a:pt x="61948" y="87474"/>
                  <a:pt x="59983" y="87573"/>
                </a:cubicBezTo>
                <a:cubicBezTo>
                  <a:pt x="58017" y="87673"/>
                  <a:pt x="56126" y="86777"/>
                  <a:pt x="54957" y="85185"/>
                </a:cubicBezTo>
                <a:lnTo>
                  <a:pt x="43015" y="69262"/>
                </a:lnTo>
                <a:cubicBezTo>
                  <a:pt x="41025" y="66625"/>
                  <a:pt x="41572" y="62893"/>
                  <a:pt x="44210" y="60903"/>
                </a:cubicBezTo>
                <a:cubicBezTo>
                  <a:pt x="46847" y="58913"/>
                  <a:pt x="50578" y="59460"/>
                  <a:pt x="52569" y="62097"/>
                </a:cubicBezTo>
                <a:lnTo>
                  <a:pt x="59286" y="71054"/>
                </a:lnTo>
                <a:lnTo>
                  <a:pt x="74562" y="46598"/>
                </a:lnTo>
                <a:cubicBezTo>
                  <a:pt x="76303" y="43811"/>
                  <a:pt x="79985" y="42941"/>
                  <a:pt x="82796" y="44707"/>
                </a:cubicBezTo>
                <a:cubicBezTo>
                  <a:pt x="85608" y="46473"/>
                  <a:pt x="86454" y="50131"/>
                  <a:pt x="84687" y="5294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6657492" y="6032462"/>
            <a:ext cx="1846997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Enhanced model interpretability</a:t>
            </a:r>
            <a:endParaRPr lang="en-US" sz="1600"/>
          </a:p>
        </p:txBody>
      </p:sp>
      <p:sp>
        <p:nvSpPr>
          <p:cNvPr id="46" name="Shape 44"/>
          <p:cNvSpPr/>
          <p:nvPr/>
        </p:nvSpPr>
        <p:spPr>
          <a:xfrm>
            <a:off x="6443677" y="6314516"/>
            <a:ext cx="127379" cy="127379"/>
          </a:xfrm>
          <a:custGeom>
            <a:avLst/>
            <a:gdLst/>
            <a:ahLst/>
            <a:cxnLst/>
            <a:rect l="l" t="t" r="r" b="b"/>
            <a:pathLst>
              <a:path w="127379" h="127379">
                <a:moveTo>
                  <a:pt x="63690" y="127379"/>
                </a:moveTo>
                <a:cubicBezTo>
                  <a:pt x="98841" y="127379"/>
                  <a:pt x="127379" y="98841"/>
                  <a:pt x="127379" y="63690"/>
                </a:cubicBezTo>
                <a:cubicBezTo>
                  <a:pt x="127379" y="28538"/>
                  <a:pt x="98841" y="0"/>
                  <a:pt x="63690" y="0"/>
                </a:cubicBezTo>
                <a:cubicBezTo>
                  <a:pt x="28538" y="0"/>
                  <a:pt x="0" y="28538"/>
                  <a:pt x="0" y="63690"/>
                </a:cubicBezTo>
                <a:cubicBezTo>
                  <a:pt x="0" y="98841"/>
                  <a:pt x="28538" y="127379"/>
                  <a:pt x="63690" y="127379"/>
                </a:cubicBezTo>
                <a:close/>
                <a:moveTo>
                  <a:pt x="84687" y="52917"/>
                </a:moveTo>
                <a:lnTo>
                  <a:pt x="64784" y="84762"/>
                </a:lnTo>
                <a:cubicBezTo>
                  <a:pt x="63739" y="86429"/>
                  <a:pt x="61948" y="87474"/>
                  <a:pt x="59983" y="87573"/>
                </a:cubicBezTo>
                <a:cubicBezTo>
                  <a:pt x="58017" y="87673"/>
                  <a:pt x="56126" y="86777"/>
                  <a:pt x="54957" y="85185"/>
                </a:cubicBezTo>
                <a:lnTo>
                  <a:pt x="43015" y="69262"/>
                </a:lnTo>
                <a:cubicBezTo>
                  <a:pt x="41025" y="66625"/>
                  <a:pt x="41572" y="62893"/>
                  <a:pt x="44210" y="60903"/>
                </a:cubicBezTo>
                <a:cubicBezTo>
                  <a:pt x="46847" y="58913"/>
                  <a:pt x="50578" y="59460"/>
                  <a:pt x="52569" y="62097"/>
                </a:cubicBezTo>
                <a:lnTo>
                  <a:pt x="59286" y="71054"/>
                </a:lnTo>
                <a:lnTo>
                  <a:pt x="74562" y="46598"/>
                </a:lnTo>
                <a:cubicBezTo>
                  <a:pt x="76303" y="43811"/>
                  <a:pt x="79985" y="42941"/>
                  <a:pt x="82796" y="44707"/>
                </a:cubicBezTo>
                <a:cubicBezTo>
                  <a:pt x="85608" y="46473"/>
                  <a:pt x="86454" y="50131"/>
                  <a:pt x="84687" y="5294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6657492" y="6287220"/>
            <a:ext cx="2047164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Better alignment with clinical needs</a:t>
            </a:r>
            <a:endParaRPr lang="en-US" sz="160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Findings</a:t>
            </a:r>
            <a:endParaRPr lang="en-US" sz="160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 Summary: EDA Findings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400050" y="1219200"/>
            <a:ext cx="5600700" cy="762000"/>
          </a:xfrm>
          <a:custGeom>
            <a:avLst/>
            <a:gdLst/>
            <a:ahLst/>
            <a:cxnLst/>
            <a:rect l="l" t="t" r="r" b="b"/>
            <a:pathLst>
              <a:path w="5600700" h="762000">
                <a:moveTo>
                  <a:pt x="38100" y="0"/>
                </a:moveTo>
                <a:lnTo>
                  <a:pt x="5486400" y="0"/>
                </a:lnTo>
                <a:cubicBezTo>
                  <a:pt x="5549484" y="0"/>
                  <a:pt x="5600700" y="51216"/>
                  <a:pt x="5600700" y="114300"/>
                </a:cubicBezTo>
                <a:lnTo>
                  <a:pt x="5600700" y="647700"/>
                </a:lnTo>
                <a:cubicBezTo>
                  <a:pt x="5600700" y="710784"/>
                  <a:pt x="5549484" y="762000"/>
                  <a:pt x="548640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21920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1371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76275" y="14859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52519" y="71438"/>
                </a:moveTo>
                <a:lnTo>
                  <a:pt x="100132" y="71438"/>
                </a:lnTo>
                <a:cubicBezTo>
                  <a:pt x="94863" y="71438"/>
                  <a:pt x="90607" y="67181"/>
                  <a:pt x="90607" y="61912"/>
                </a:cubicBezTo>
                <a:lnTo>
                  <a:pt x="90607" y="9525"/>
                </a:lnTo>
                <a:cubicBezTo>
                  <a:pt x="90607" y="4256"/>
                  <a:pt x="94893" y="-60"/>
                  <a:pt x="100102" y="625"/>
                </a:cubicBezTo>
                <a:cubicBezTo>
                  <a:pt x="131951" y="4852"/>
                  <a:pt x="157192" y="30093"/>
                  <a:pt x="161419" y="61942"/>
                </a:cubicBezTo>
                <a:cubicBezTo>
                  <a:pt x="162104" y="67151"/>
                  <a:pt x="157788" y="71438"/>
                  <a:pt x="152519" y="71438"/>
                </a:cubicBezTo>
                <a:close/>
                <a:moveTo>
                  <a:pt x="66258" y="11073"/>
                </a:moveTo>
                <a:cubicBezTo>
                  <a:pt x="71646" y="9942"/>
                  <a:pt x="76319" y="14347"/>
                  <a:pt x="76319" y="19854"/>
                </a:cubicBezTo>
                <a:lnTo>
                  <a:pt x="76319" y="78581"/>
                </a:lnTo>
                <a:cubicBezTo>
                  <a:pt x="76319" y="80248"/>
                  <a:pt x="76914" y="81855"/>
                  <a:pt x="77956" y="83135"/>
                </a:cubicBezTo>
                <a:lnTo>
                  <a:pt x="117277" y="130582"/>
                </a:lnTo>
                <a:cubicBezTo>
                  <a:pt x="120759" y="134779"/>
                  <a:pt x="120015" y="141119"/>
                  <a:pt x="115223" y="143708"/>
                </a:cubicBezTo>
                <a:cubicBezTo>
                  <a:pt x="105073" y="149245"/>
                  <a:pt x="93434" y="152400"/>
                  <a:pt x="81082" y="152400"/>
                </a:cubicBezTo>
                <a:cubicBezTo>
                  <a:pt x="41642" y="152400"/>
                  <a:pt x="9644" y="120402"/>
                  <a:pt x="9644" y="80962"/>
                </a:cubicBezTo>
                <a:cubicBezTo>
                  <a:pt x="9644" y="46583"/>
                  <a:pt x="33903" y="17889"/>
                  <a:pt x="66258" y="11073"/>
                </a:cubicBezTo>
                <a:close/>
                <a:moveTo>
                  <a:pt x="142220" y="85725"/>
                </a:moveTo>
                <a:lnTo>
                  <a:pt x="161270" y="85725"/>
                </a:lnTo>
                <a:cubicBezTo>
                  <a:pt x="166777" y="85725"/>
                  <a:pt x="171182" y="90398"/>
                  <a:pt x="170051" y="95786"/>
                </a:cubicBezTo>
                <a:cubicBezTo>
                  <a:pt x="167015" y="110192"/>
                  <a:pt x="159633" y="122992"/>
                  <a:pt x="149334" y="132755"/>
                </a:cubicBezTo>
                <a:cubicBezTo>
                  <a:pt x="145673" y="136237"/>
                  <a:pt x="139928" y="135493"/>
                  <a:pt x="136714" y="131594"/>
                </a:cubicBezTo>
                <a:lnTo>
                  <a:pt x="111591" y="101322"/>
                </a:lnTo>
                <a:cubicBezTo>
                  <a:pt x="106442" y="95101"/>
                  <a:pt x="110877" y="85725"/>
                  <a:pt x="118914" y="85725"/>
                </a:cubicBezTo>
                <a:lnTo>
                  <a:pt x="142190" y="85725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8" name="Text 6"/>
          <p:cNvSpPr/>
          <p:nvPr/>
        </p:nvSpPr>
        <p:spPr>
          <a:xfrm>
            <a:off x="1066800" y="1371600"/>
            <a:ext cx="4248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Highly Skewed Costs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1066800" y="1638300"/>
            <a:ext cx="4238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Healthcare costs are highly skewed — </a:t>
            </a:r>
            <a:r>
              <a:rPr lang="en-US" sz="1050" b="1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few patients drive most spending</a:t>
            </a:r>
            <a:endParaRPr lang="en-US" sz="1600"/>
          </a:p>
        </p:txBody>
      </p:sp>
      <p:sp>
        <p:nvSpPr>
          <p:cNvPr id="10" name="Shape 8"/>
          <p:cNvSpPr/>
          <p:nvPr/>
        </p:nvSpPr>
        <p:spPr>
          <a:xfrm>
            <a:off x="400050" y="2095500"/>
            <a:ext cx="5600700" cy="762000"/>
          </a:xfrm>
          <a:custGeom>
            <a:avLst/>
            <a:gdLst/>
            <a:ahLst/>
            <a:cxnLst/>
            <a:rect l="l" t="t" r="r" b="b"/>
            <a:pathLst>
              <a:path w="5600700" h="762000">
                <a:moveTo>
                  <a:pt x="38100" y="0"/>
                </a:moveTo>
                <a:lnTo>
                  <a:pt x="5486400" y="0"/>
                </a:lnTo>
                <a:cubicBezTo>
                  <a:pt x="5549484" y="0"/>
                  <a:pt x="5600700" y="51216"/>
                  <a:pt x="5600700" y="114300"/>
                </a:cubicBezTo>
                <a:lnTo>
                  <a:pt x="5600700" y="647700"/>
                </a:lnTo>
                <a:cubicBezTo>
                  <a:pt x="5600700" y="710784"/>
                  <a:pt x="5549484" y="762000"/>
                  <a:pt x="548640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00050" y="209550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2" name="Shape 10"/>
          <p:cNvSpPr/>
          <p:nvPr/>
        </p:nvSpPr>
        <p:spPr>
          <a:xfrm>
            <a:off x="571500" y="2247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76275" y="23622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66675" y="2381"/>
                </a:moveTo>
                <a:cubicBezTo>
                  <a:pt x="86389" y="2381"/>
                  <a:pt x="102394" y="18386"/>
                  <a:pt x="102394" y="38100"/>
                </a:cubicBezTo>
                <a:cubicBezTo>
                  <a:pt x="102394" y="57814"/>
                  <a:pt x="86389" y="73819"/>
                  <a:pt x="66675" y="73819"/>
                </a:cubicBezTo>
                <a:cubicBezTo>
                  <a:pt x="46961" y="73819"/>
                  <a:pt x="30956" y="57814"/>
                  <a:pt x="30956" y="38100"/>
                </a:cubicBezTo>
                <a:cubicBezTo>
                  <a:pt x="30956" y="18386"/>
                  <a:pt x="46961" y="2381"/>
                  <a:pt x="66675" y="2381"/>
                </a:cubicBezTo>
                <a:close/>
                <a:moveTo>
                  <a:pt x="57835" y="90488"/>
                </a:moveTo>
                <a:lnTo>
                  <a:pt x="75515" y="90488"/>
                </a:lnTo>
                <a:cubicBezTo>
                  <a:pt x="76676" y="90488"/>
                  <a:pt x="77867" y="90517"/>
                  <a:pt x="79028" y="90607"/>
                </a:cubicBezTo>
                <a:cubicBezTo>
                  <a:pt x="74206" y="99000"/>
                  <a:pt x="71438" y="108704"/>
                  <a:pt x="71438" y="119062"/>
                </a:cubicBezTo>
                <a:cubicBezTo>
                  <a:pt x="71438" y="131505"/>
                  <a:pt x="75426" y="143024"/>
                  <a:pt x="82153" y="152400"/>
                </a:cubicBezTo>
                <a:lnTo>
                  <a:pt x="13603" y="152400"/>
                </a:lnTo>
                <a:cubicBezTo>
                  <a:pt x="8721" y="152400"/>
                  <a:pt x="4763" y="148441"/>
                  <a:pt x="4763" y="143560"/>
                </a:cubicBezTo>
                <a:cubicBezTo>
                  <a:pt x="4763" y="114240"/>
                  <a:pt x="28515" y="90488"/>
                  <a:pt x="57835" y="90488"/>
                </a:cubicBezTo>
                <a:close/>
                <a:moveTo>
                  <a:pt x="85725" y="119062"/>
                </a:moveTo>
                <a:cubicBezTo>
                  <a:pt x="85725" y="95406"/>
                  <a:pt x="104931" y="76200"/>
                  <a:pt x="128588" y="76200"/>
                </a:cubicBezTo>
                <a:cubicBezTo>
                  <a:pt x="152244" y="76200"/>
                  <a:pt x="171450" y="95406"/>
                  <a:pt x="171450" y="119062"/>
                </a:cubicBezTo>
                <a:cubicBezTo>
                  <a:pt x="171450" y="142719"/>
                  <a:pt x="152244" y="161925"/>
                  <a:pt x="128588" y="161925"/>
                </a:cubicBezTo>
                <a:cubicBezTo>
                  <a:pt x="104931" y="161925"/>
                  <a:pt x="85725" y="142719"/>
                  <a:pt x="85725" y="119062"/>
                </a:cubicBezTo>
                <a:close/>
                <a:moveTo>
                  <a:pt x="128588" y="95250"/>
                </a:moveTo>
                <a:cubicBezTo>
                  <a:pt x="125968" y="95250"/>
                  <a:pt x="123825" y="97393"/>
                  <a:pt x="123825" y="100013"/>
                </a:cubicBezTo>
                <a:lnTo>
                  <a:pt x="123825" y="119062"/>
                </a:lnTo>
                <a:cubicBezTo>
                  <a:pt x="123825" y="121682"/>
                  <a:pt x="125968" y="123825"/>
                  <a:pt x="128588" y="123825"/>
                </a:cubicBezTo>
                <a:lnTo>
                  <a:pt x="142875" y="123825"/>
                </a:lnTo>
                <a:cubicBezTo>
                  <a:pt x="145494" y="123825"/>
                  <a:pt x="147638" y="121682"/>
                  <a:pt x="147638" y="119062"/>
                </a:cubicBezTo>
                <a:cubicBezTo>
                  <a:pt x="147638" y="116443"/>
                  <a:pt x="145494" y="114300"/>
                  <a:pt x="142875" y="114300"/>
                </a:cubicBezTo>
                <a:lnTo>
                  <a:pt x="133350" y="114300"/>
                </a:lnTo>
                <a:lnTo>
                  <a:pt x="133350" y="100013"/>
                </a:lnTo>
                <a:cubicBezTo>
                  <a:pt x="133350" y="97393"/>
                  <a:pt x="131207" y="95250"/>
                  <a:pt x="128588" y="9525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4" name="Text 12"/>
          <p:cNvSpPr/>
          <p:nvPr/>
        </p:nvSpPr>
        <p:spPr>
          <a:xfrm>
            <a:off x="1066800" y="2247900"/>
            <a:ext cx="3952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 &amp; Chronic Conditions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1066800" y="2514600"/>
            <a:ext cx="394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Costs </a:t>
            </a:r>
            <a:r>
              <a:rPr lang="en-US" sz="1050" b="1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increase with age and chronic conditions</a:t>
            </a: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especially after 45</a:t>
            </a:r>
            <a:endParaRPr lang="en-US" sz="1600"/>
          </a:p>
        </p:txBody>
      </p:sp>
      <p:sp>
        <p:nvSpPr>
          <p:cNvPr id="16" name="Shape 14"/>
          <p:cNvSpPr/>
          <p:nvPr/>
        </p:nvSpPr>
        <p:spPr>
          <a:xfrm>
            <a:off x="400050" y="2971800"/>
            <a:ext cx="5600700" cy="762000"/>
          </a:xfrm>
          <a:custGeom>
            <a:avLst/>
            <a:gdLst/>
            <a:ahLst/>
            <a:cxnLst/>
            <a:rect l="l" t="t" r="r" b="b"/>
            <a:pathLst>
              <a:path w="5600700" h="762000">
                <a:moveTo>
                  <a:pt x="38100" y="0"/>
                </a:moveTo>
                <a:lnTo>
                  <a:pt x="5486400" y="0"/>
                </a:lnTo>
                <a:cubicBezTo>
                  <a:pt x="5549484" y="0"/>
                  <a:pt x="5600700" y="51216"/>
                  <a:pt x="5600700" y="114300"/>
                </a:cubicBezTo>
                <a:lnTo>
                  <a:pt x="5600700" y="647700"/>
                </a:lnTo>
                <a:cubicBezTo>
                  <a:pt x="5600700" y="710784"/>
                  <a:pt x="5549484" y="762000"/>
                  <a:pt x="548640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00050" y="297180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8" name="Shape 16"/>
          <p:cNvSpPr/>
          <p:nvPr/>
        </p:nvSpPr>
        <p:spPr>
          <a:xfrm>
            <a:off x="571500" y="3124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76275" y="32385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5725" y="19050"/>
                </a:moveTo>
                <a:cubicBezTo>
                  <a:pt x="117277" y="19050"/>
                  <a:pt x="142875" y="44648"/>
                  <a:pt x="142875" y="76200"/>
                </a:cubicBezTo>
                <a:cubicBezTo>
                  <a:pt x="142875" y="107752"/>
                  <a:pt x="117277" y="133350"/>
                  <a:pt x="85725" y="133350"/>
                </a:cubicBezTo>
                <a:cubicBezTo>
                  <a:pt x="66318" y="133350"/>
                  <a:pt x="49143" y="123676"/>
                  <a:pt x="38814" y="108853"/>
                </a:cubicBezTo>
                <a:cubicBezTo>
                  <a:pt x="35808" y="104537"/>
                  <a:pt x="29855" y="103495"/>
                  <a:pt x="25539" y="106501"/>
                </a:cubicBezTo>
                <a:cubicBezTo>
                  <a:pt x="21223" y="109508"/>
                  <a:pt x="20181" y="115461"/>
                  <a:pt x="23187" y="119777"/>
                </a:cubicBezTo>
                <a:cubicBezTo>
                  <a:pt x="36939" y="139482"/>
                  <a:pt x="59829" y="152400"/>
                  <a:pt x="85725" y="152400"/>
                </a:cubicBezTo>
                <a:cubicBezTo>
                  <a:pt x="127814" y="152400"/>
                  <a:pt x="161925" y="118289"/>
                  <a:pt x="161925" y="76200"/>
                </a:cubicBezTo>
                <a:cubicBezTo>
                  <a:pt x="161925" y="34111"/>
                  <a:pt x="127814" y="0"/>
                  <a:pt x="85725" y="0"/>
                </a:cubicBezTo>
                <a:cubicBezTo>
                  <a:pt x="60216" y="0"/>
                  <a:pt x="37654" y="12531"/>
                  <a:pt x="23813" y="31760"/>
                </a:cubicBezTo>
                <a:lnTo>
                  <a:pt x="23813" y="23813"/>
                </a:lnTo>
                <a:cubicBezTo>
                  <a:pt x="23813" y="18544"/>
                  <a:pt x="19556" y="14288"/>
                  <a:pt x="14288" y="14288"/>
                </a:cubicBezTo>
                <a:cubicBezTo>
                  <a:pt x="9019" y="14288"/>
                  <a:pt x="4763" y="18544"/>
                  <a:pt x="4763" y="23813"/>
                </a:cubicBezTo>
                <a:lnTo>
                  <a:pt x="4763" y="57150"/>
                </a:lnTo>
                <a:cubicBezTo>
                  <a:pt x="4763" y="62419"/>
                  <a:pt x="9019" y="66675"/>
                  <a:pt x="14288" y="66675"/>
                </a:cubicBezTo>
                <a:lnTo>
                  <a:pt x="21610" y="66675"/>
                </a:lnTo>
                <a:cubicBezTo>
                  <a:pt x="21759" y="66675"/>
                  <a:pt x="21908" y="66675"/>
                  <a:pt x="22056" y="66675"/>
                </a:cubicBezTo>
                <a:lnTo>
                  <a:pt x="47655" y="66675"/>
                </a:lnTo>
                <a:cubicBezTo>
                  <a:pt x="52923" y="66675"/>
                  <a:pt x="57180" y="62419"/>
                  <a:pt x="57180" y="57150"/>
                </a:cubicBezTo>
                <a:cubicBezTo>
                  <a:pt x="57180" y="51881"/>
                  <a:pt x="52923" y="47625"/>
                  <a:pt x="47655" y="47625"/>
                </a:cubicBezTo>
                <a:lnTo>
                  <a:pt x="36255" y="47625"/>
                </a:lnTo>
                <a:cubicBezTo>
                  <a:pt x="46107" y="30540"/>
                  <a:pt x="64591" y="19050"/>
                  <a:pt x="85725" y="19050"/>
                </a:cubicBezTo>
                <a:close/>
                <a:moveTo>
                  <a:pt x="92869" y="45244"/>
                </a:moveTo>
                <a:cubicBezTo>
                  <a:pt x="92869" y="41285"/>
                  <a:pt x="89684" y="38100"/>
                  <a:pt x="85725" y="38100"/>
                </a:cubicBezTo>
                <a:cubicBezTo>
                  <a:pt x="81766" y="38100"/>
                  <a:pt x="78581" y="41285"/>
                  <a:pt x="78581" y="45244"/>
                </a:cubicBezTo>
                <a:lnTo>
                  <a:pt x="78581" y="76200"/>
                </a:lnTo>
                <a:cubicBezTo>
                  <a:pt x="78581" y="78105"/>
                  <a:pt x="79325" y="79921"/>
                  <a:pt x="80665" y="81260"/>
                </a:cubicBezTo>
                <a:lnTo>
                  <a:pt x="102096" y="102691"/>
                </a:lnTo>
                <a:cubicBezTo>
                  <a:pt x="104894" y="105489"/>
                  <a:pt x="109418" y="105489"/>
                  <a:pt x="112187" y="102691"/>
                </a:cubicBezTo>
                <a:cubicBezTo>
                  <a:pt x="114955" y="99893"/>
                  <a:pt x="114985" y="95369"/>
                  <a:pt x="112187" y="92601"/>
                </a:cubicBezTo>
                <a:lnTo>
                  <a:pt x="92839" y="73253"/>
                </a:lnTo>
                <a:lnTo>
                  <a:pt x="92839" y="45244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0" name="Text 18"/>
          <p:cNvSpPr/>
          <p:nvPr/>
        </p:nvSpPr>
        <p:spPr>
          <a:xfrm>
            <a:off x="1066800" y="3124200"/>
            <a:ext cx="3486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Prior Utilization Predicts Future</a:t>
            </a:r>
            <a:endParaRPr lang="en-US" sz="1600"/>
          </a:p>
        </p:txBody>
      </p:sp>
      <p:sp>
        <p:nvSpPr>
          <p:cNvPr id="21" name="Text 19"/>
          <p:cNvSpPr/>
          <p:nvPr/>
        </p:nvSpPr>
        <p:spPr>
          <a:xfrm>
            <a:off x="1066800" y="3390900"/>
            <a:ext cx="3476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Prior utilization is strongest predictor</a:t>
            </a: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of future expenditure</a:t>
            </a:r>
            <a:endParaRPr lang="en-US" sz="1600"/>
          </a:p>
        </p:txBody>
      </p:sp>
      <p:sp>
        <p:nvSpPr>
          <p:cNvPr id="22" name="Shape 20"/>
          <p:cNvSpPr/>
          <p:nvPr/>
        </p:nvSpPr>
        <p:spPr>
          <a:xfrm>
            <a:off x="400050" y="3848100"/>
            <a:ext cx="5600700" cy="762000"/>
          </a:xfrm>
          <a:custGeom>
            <a:avLst/>
            <a:gdLst/>
            <a:ahLst/>
            <a:cxnLst/>
            <a:rect l="l" t="t" r="r" b="b"/>
            <a:pathLst>
              <a:path w="5600700" h="762000">
                <a:moveTo>
                  <a:pt x="38100" y="0"/>
                </a:moveTo>
                <a:lnTo>
                  <a:pt x="5486400" y="0"/>
                </a:lnTo>
                <a:cubicBezTo>
                  <a:pt x="5549484" y="0"/>
                  <a:pt x="5600700" y="51216"/>
                  <a:pt x="5600700" y="114300"/>
                </a:cubicBezTo>
                <a:lnTo>
                  <a:pt x="5600700" y="647700"/>
                </a:lnTo>
                <a:cubicBezTo>
                  <a:pt x="5600700" y="710784"/>
                  <a:pt x="5549484" y="762000"/>
                  <a:pt x="548640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00050" y="384810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4" name="Shape 22"/>
          <p:cNvSpPr/>
          <p:nvPr/>
        </p:nvSpPr>
        <p:spPr>
          <a:xfrm>
            <a:off x="571500" y="4000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" y="4114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6" name="Text 24"/>
          <p:cNvSpPr/>
          <p:nvPr/>
        </p:nvSpPr>
        <p:spPr>
          <a:xfrm>
            <a:off x="1066800" y="4000500"/>
            <a:ext cx="3752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Insurance Spending Patterns</a:t>
            </a:r>
            <a:endParaRPr lang="en-US" sz="1600"/>
          </a:p>
        </p:txBody>
      </p:sp>
      <p:sp>
        <p:nvSpPr>
          <p:cNvPr id="27" name="Text 25"/>
          <p:cNvSpPr/>
          <p:nvPr/>
        </p:nvSpPr>
        <p:spPr>
          <a:xfrm>
            <a:off x="1066800" y="4267200"/>
            <a:ext cx="3743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insurance shows highest spending</a:t>
            </a: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uninsured the lowest</a:t>
            </a:r>
            <a:endParaRPr lang="en-US" sz="1600"/>
          </a:p>
        </p:txBody>
      </p:sp>
      <p:sp>
        <p:nvSpPr>
          <p:cNvPr id="28" name="Shape 26"/>
          <p:cNvSpPr/>
          <p:nvPr/>
        </p:nvSpPr>
        <p:spPr>
          <a:xfrm>
            <a:off x="400050" y="4724400"/>
            <a:ext cx="5600700" cy="762000"/>
          </a:xfrm>
          <a:custGeom>
            <a:avLst/>
            <a:gdLst/>
            <a:ahLst/>
            <a:cxnLst/>
            <a:rect l="l" t="t" r="r" b="b"/>
            <a:pathLst>
              <a:path w="5600700" h="762000">
                <a:moveTo>
                  <a:pt x="38100" y="0"/>
                </a:moveTo>
                <a:lnTo>
                  <a:pt x="5486400" y="0"/>
                </a:lnTo>
                <a:cubicBezTo>
                  <a:pt x="5549484" y="0"/>
                  <a:pt x="5600700" y="51216"/>
                  <a:pt x="5600700" y="114300"/>
                </a:cubicBezTo>
                <a:lnTo>
                  <a:pt x="5600700" y="647700"/>
                </a:lnTo>
                <a:cubicBezTo>
                  <a:pt x="5600700" y="710784"/>
                  <a:pt x="5549484" y="762000"/>
                  <a:pt x="548640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400050" y="472440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0" name="Shape 28"/>
          <p:cNvSpPr/>
          <p:nvPr/>
        </p:nvSpPr>
        <p:spPr>
          <a:xfrm>
            <a:off x="571500" y="48768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76275" y="49911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525" y="14288"/>
                </a:moveTo>
                <a:cubicBezTo>
                  <a:pt x="9525" y="6400"/>
                  <a:pt x="15925" y="0"/>
                  <a:pt x="23813" y="0"/>
                </a:cubicBezTo>
                <a:lnTo>
                  <a:pt x="38100" y="0"/>
                </a:lnTo>
                <a:cubicBezTo>
                  <a:pt x="43369" y="0"/>
                  <a:pt x="47625" y="4256"/>
                  <a:pt x="47625" y="9525"/>
                </a:cubicBezTo>
                <a:cubicBezTo>
                  <a:pt x="47625" y="14794"/>
                  <a:pt x="43369" y="19050"/>
                  <a:pt x="38100" y="19050"/>
                </a:cubicBezTo>
                <a:lnTo>
                  <a:pt x="28575" y="19050"/>
                </a:lnTo>
                <a:lnTo>
                  <a:pt x="28575" y="57150"/>
                </a:lnTo>
                <a:cubicBezTo>
                  <a:pt x="28575" y="72926"/>
                  <a:pt x="41374" y="85725"/>
                  <a:pt x="57150" y="85725"/>
                </a:cubicBezTo>
                <a:cubicBezTo>
                  <a:pt x="72926" y="85725"/>
                  <a:pt x="85725" y="72926"/>
                  <a:pt x="85725" y="57150"/>
                </a:cubicBezTo>
                <a:lnTo>
                  <a:pt x="85725" y="19050"/>
                </a:lnTo>
                <a:lnTo>
                  <a:pt x="76200" y="19050"/>
                </a:lnTo>
                <a:cubicBezTo>
                  <a:pt x="70931" y="19050"/>
                  <a:pt x="66675" y="14794"/>
                  <a:pt x="66675" y="9525"/>
                </a:cubicBezTo>
                <a:cubicBezTo>
                  <a:pt x="66675" y="4256"/>
                  <a:pt x="70931" y="0"/>
                  <a:pt x="76200" y="0"/>
                </a:cubicBezTo>
                <a:lnTo>
                  <a:pt x="90488" y="0"/>
                </a:lnTo>
                <a:cubicBezTo>
                  <a:pt x="98375" y="0"/>
                  <a:pt x="104775" y="6400"/>
                  <a:pt x="104775" y="14288"/>
                </a:cubicBezTo>
                <a:lnTo>
                  <a:pt x="104775" y="57150"/>
                </a:lnTo>
                <a:cubicBezTo>
                  <a:pt x="104775" y="80189"/>
                  <a:pt x="88404" y="99417"/>
                  <a:pt x="66675" y="103823"/>
                </a:cubicBezTo>
                <a:lnTo>
                  <a:pt x="66675" y="109537"/>
                </a:lnTo>
                <a:cubicBezTo>
                  <a:pt x="66675" y="127962"/>
                  <a:pt x="81588" y="142875"/>
                  <a:pt x="100013" y="142875"/>
                </a:cubicBezTo>
                <a:cubicBezTo>
                  <a:pt x="118437" y="142875"/>
                  <a:pt x="133350" y="127962"/>
                  <a:pt x="133350" y="109537"/>
                </a:cubicBezTo>
                <a:lnTo>
                  <a:pt x="133350" y="84088"/>
                </a:lnTo>
                <a:cubicBezTo>
                  <a:pt x="122247" y="80159"/>
                  <a:pt x="114300" y="69592"/>
                  <a:pt x="114300" y="57150"/>
                </a:cubicBezTo>
                <a:cubicBezTo>
                  <a:pt x="114300" y="41374"/>
                  <a:pt x="127099" y="28575"/>
                  <a:pt x="142875" y="28575"/>
                </a:cubicBezTo>
                <a:cubicBezTo>
                  <a:pt x="158651" y="28575"/>
                  <a:pt x="171450" y="41374"/>
                  <a:pt x="171450" y="57150"/>
                </a:cubicBezTo>
                <a:cubicBezTo>
                  <a:pt x="171450" y="69592"/>
                  <a:pt x="163503" y="80189"/>
                  <a:pt x="152400" y="84088"/>
                </a:cubicBezTo>
                <a:lnTo>
                  <a:pt x="152400" y="109537"/>
                </a:lnTo>
                <a:cubicBezTo>
                  <a:pt x="152400" y="138470"/>
                  <a:pt x="128945" y="161925"/>
                  <a:pt x="100013" y="161925"/>
                </a:cubicBezTo>
                <a:cubicBezTo>
                  <a:pt x="71080" y="161925"/>
                  <a:pt x="47625" y="138470"/>
                  <a:pt x="47625" y="109537"/>
                </a:cubicBezTo>
                <a:lnTo>
                  <a:pt x="47625" y="103823"/>
                </a:lnTo>
                <a:cubicBezTo>
                  <a:pt x="25896" y="99417"/>
                  <a:pt x="9525" y="80189"/>
                  <a:pt x="9525" y="57150"/>
                </a:cubicBezTo>
                <a:lnTo>
                  <a:pt x="9525" y="14288"/>
                </a:lnTo>
                <a:close/>
                <a:moveTo>
                  <a:pt x="142875" y="66675"/>
                </a:moveTo>
                <a:cubicBezTo>
                  <a:pt x="148132" y="66675"/>
                  <a:pt x="152400" y="62407"/>
                  <a:pt x="152400" y="57150"/>
                </a:cubicBezTo>
                <a:cubicBezTo>
                  <a:pt x="152400" y="51893"/>
                  <a:pt x="148132" y="47625"/>
                  <a:pt x="142875" y="47625"/>
                </a:cubicBezTo>
                <a:cubicBezTo>
                  <a:pt x="137618" y="47625"/>
                  <a:pt x="133350" y="51893"/>
                  <a:pt x="133350" y="57150"/>
                </a:cubicBezTo>
                <a:cubicBezTo>
                  <a:pt x="133350" y="62407"/>
                  <a:pt x="137618" y="66675"/>
                  <a:pt x="142875" y="66675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2" name="Text 30"/>
          <p:cNvSpPr/>
          <p:nvPr/>
        </p:nvSpPr>
        <p:spPr>
          <a:xfrm>
            <a:off x="1066800" y="4876800"/>
            <a:ext cx="3933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Clinical vs. Behavioral Drivers</a:t>
            </a:r>
            <a:endParaRPr lang="en-US" sz="1600"/>
          </a:p>
        </p:txBody>
      </p:sp>
      <p:sp>
        <p:nvSpPr>
          <p:cNvPr id="33" name="Text 31"/>
          <p:cNvSpPr/>
          <p:nvPr/>
        </p:nvSpPr>
        <p:spPr>
          <a:xfrm>
            <a:off x="1066800" y="5143500"/>
            <a:ext cx="3924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Clinical conditions drive cost more</a:t>
            </a: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than lifestyle factors (smoking)</a:t>
            </a:r>
            <a:endParaRPr lang="en-US" sz="1600"/>
          </a:p>
        </p:txBody>
      </p:sp>
      <p:sp>
        <p:nvSpPr>
          <p:cNvPr id="34" name="Shape 32"/>
          <p:cNvSpPr/>
          <p:nvPr/>
        </p:nvSpPr>
        <p:spPr>
          <a:xfrm>
            <a:off x="6210300" y="1219200"/>
            <a:ext cx="5600700" cy="762000"/>
          </a:xfrm>
          <a:custGeom>
            <a:avLst/>
            <a:gdLst/>
            <a:ahLst/>
            <a:cxnLst/>
            <a:rect l="l" t="t" r="r" b="b"/>
            <a:pathLst>
              <a:path w="5600700" h="762000">
                <a:moveTo>
                  <a:pt x="38100" y="0"/>
                </a:moveTo>
                <a:lnTo>
                  <a:pt x="5486400" y="0"/>
                </a:lnTo>
                <a:cubicBezTo>
                  <a:pt x="5549484" y="0"/>
                  <a:pt x="5600700" y="51216"/>
                  <a:pt x="5600700" y="114300"/>
                </a:cubicBezTo>
                <a:lnTo>
                  <a:pt x="5600700" y="647700"/>
                </a:lnTo>
                <a:cubicBezTo>
                  <a:pt x="5600700" y="710784"/>
                  <a:pt x="5549484" y="762000"/>
                  <a:pt x="548640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6210300" y="121920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6" name="Shape 34"/>
          <p:cNvSpPr/>
          <p:nvPr/>
        </p:nvSpPr>
        <p:spPr>
          <a:xfrm>
            <a:off x="6381750" y="1371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505575" y="14859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4707" y="57150"/>
                </a:moveTo>
                <a:cubicBezTo>
                  <a:pt x="33814" y="54144"/>
                  <a:pt x="33338" y="50929"/>
                  <a:pt x="33338" y="47625"/>
                </a:cubicBezTo>
                <a:cubicBezTo>
                  <a:pt x="33338" y="29200"/>
                  <a:pt x="48250" y="14288"/>
                  <a:pt x="66675" y="14288"/>
                </a:cubicBezTo>
                <a:cubicBezTo>
                  <a:pt x="85100" y="14288"/>
                  <a:pt x="100013" y="29200"/>
                  <a:pt x="100013" y="47625"/>
                </a:cubicBezTo>
                <a:cubicBezTo>
                  <a:pt x="100013" y="50929"/>
                  <a:pt x="99536" y="54144"/>
                  <a:pt x="98643" y="57150"/>
                </a:cubicBezTo>
                <a:lnTo>
                  <a:pt x="77510" y="57150"/>
                </a:lnTo>
                <a:lnTo>
                  <a:pt x="84832" y="43964"/>
                </a:lnTo>
                <a:cubicBezTo>
                  <a:pt x="86737" y="40511"/>
                  <a:pt x="85517" y="36165"/>
                  <a:pt x="82064" y="34260"/>
                </a:cubicBezTo>
                <a:cubicBezTo>
                  <a:pt x="78611" y="32355"/>
                  <a:pt x="74265" y="33576"/>
                  <a:pt x="72360" y="37028"/>
                </a:cubicBezTo>
                <a:lnTo>
                  <a:pt x="61168" y="57180"/>
                </a:lnTo>
                <a:lnTo>
                  <a:pt x="34736" y="57180"/>
                </a:lnTo>
                <a:close/>
                <a:moveTo>
                  <a:pt x="38100" y="9525"/>
                </a:moveTo>
                <a:lnTo>
                  <a:pt x="19050" y="9525"/>
                </a:lnTo>
                <a:cubicBezTo>
                  <a:pt x="8543" y="9525"/>
                  <a:pt x="0" y="18068"/>
                  <a:pt x="0" y="2857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28575"/>
                </a:lnTo>
                <a:cubicBezTo>
                  <a:pt x="133350" y="18068"/>
                  <a:pt x="124807" y="9525"/>
                  <a:pt x="114300" y="9525"/>
                </a:cubicBezTo>
                <a:lnTo>
                  <a:pt x="95250" y="9525"/>
                </a:lnTo>
                <a:cubicBezTo>
                  <a:pt x="87303" y="3542"/>
                  <a:pt x="77391" y="0"/>
                  <a:pt x="66675" y="0"/>
                </a:cubicBezTo>
                <a:cubicBezTo>
                  <a:pt x="55959" y="0"/>
                  <a:pt x="46047" y="3542"/>
                  <a:pt x="38100" y="9525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8" name="Text 36"/>
          <p:cNvSpPr/>
          <p:nvPr/>
        </p:nvSpPr>
        <p:spPr>
          <a:xfrm>
            <a:off x="6877050" y="1371600"/>
            <a:ext cx="4171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BMI Extremes Cost More</a:t>
            </a:r>
            <a:endParaRPr lang="en-US" sz="1600"/>
          </a:p>
        </p:txBody>
      </p:sp>
      <p:sp>
        <p:nvSpPr>
          <p:cNvPr id="39" name="Text 37"/>
          <p:cNvSpPr/>
          <p:nvPr/>
        </p:nvSpPr>
        <p:spPr>
          <a:xfrm>
            <a:off x="6877050" y="1638300"/>
            <a:ext cx="4162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Obese and Underweight</a:t>
            </a: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categories show higher spending than normal</a:t>
            </a:r>
            <a:endParaRPr lang="en-US" sz="1600"/>
          </a:p>
        </p:txBody>
      </p:sp>
      <p:sp>
        <p:nvSpPr>
          <p:cNvPr id="40" name="Shape 38"/>
          <p:cNvSpPr/>
          <p:nvPr/>
        </p:nvSpPr>
        <p:spPr>
          <a:xfrm>
            <a:off x="6210300" y="2095500"/>
            <a:ext cx="5600700" cy="762000"/>
          </a:xfrm>
          <a:custGeom>
            <a:avLst/>
            <a:gdLst/>
            <a:ahLst/>
            <a:cxnLst/>
            <a:rect l="l" t="t" r="r" b="b"/>
            <a:pathLst>
              <a:path w="5600700" h="762000">
                <a:moveTo>
                  <a:pt x="38100" y="0"/>
                </a:moveTo>
                <a:lnTo>
                  <a:pt x="5486400" y="0"/>
                </a:lnTo>
                <a:cubicBezTo>
                  <a:pt x="5549484" y="0"/>
                  <a:pt x="5600700" y="51216"/>
                  <a:pt x="5600700" y="114300"/>
                </a:cubicBezTo>
                <a:lnTo>
                  <a:pt x="5600700" y="647700"/>
                </a:lnTo>
                <a:cubicBezTo>
                  <a:pt x="5600700" y="710784"/>
                  <a:pt x="5549484" y="762000"/>
                  <a:pt x="548640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6210300" y="209550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2" name="Shape 40"/>
          <p:cNvSpPr/>
          <p:nvPr/>
        </p:nvSpPr>
        <p:spPr>
          <a:xfrm>
            <a:off x="6381750" y="2247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96050" y="2362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9531" y="14288"/>
                </a:moveTo>
                <a:lnTo>
                  <a:pt x="92869" y="14288"/>
                </a:lnTo>
                <a:cubicBezTo>
                  <a:pt x="94178" y="14288"/>
                  <a:pt x="95250" y="15359"/>
                  <a:pt x="95250" y="16669"/>
                </a:cubicBezTo>
                <a:lnTo>
                  <a:pt x="95250" y="28575"/>
                </a:lnTo>
                <a:lnTo>
                  <a:pt x="57150" y="28575"/>
                </a:lnTo>
                <a:lnTo>
                  <a:pt x="57150" y="16669"/>
                </a:lnTo>
                <a:cubicBezTo>
                  <a:pt x="57150" y="15359"/>
                  <a:pt x="58222" y="14288"/>
                  <a:pt x="59531" y="14288"/>
                </a:cubicBezTo>
                <a:close/>
                <a:moveTo>
                  <a:pt x="42863" y="16669"/>
                </a:moveTo>
                <a:lnTo>
                  <a:pt x="42863" y="28575"/>
                </a:lnTo>
                <a:lnTo>
                  <a:pt x="19050" y="28575"/>
                </a:lnTo>
                <a:cubicBezTo>
                  <a:pt x="8543" y="28575"/>
                  <a:pt x="0" y="37118"/>
                  <a:pt x="0" y="47625"/>
                </a:cubicBezTo>
                <a:lnTo>
                  <a:pt x="0" y="76200"/>
                </a:lnTo>
                <a:lnTo>
                  <a:pt x="152400" y="76200"/>
                </a:lnTo>
                <a:lnTo>
                  <a:pt x="152400" y="47625"/>
                </a:lnTo>
                <a:cubicBezTo>
                  <a:pt x="152400" y="37118"/>
                  <a:pt x="143857" y="28575"/>
                  <a:pt x="133350" y="28575"/>
                </a:cubicBezTo>
                <a:lnTo>
                  <a:pt x="109537" y="28575"/>
                </a:lnTo>
                <a:lnTo>
                  <a:pt x="109537" y="16669"/>
                </a:lnTo>
                <a:cubicBezTo>
                  <a:pt x="109537" y="7471"/>
                  <a:pt x="102066" y="0"/>
                  <a:pt x="92869" y="0"/>
                </a:cubicBezTo>
                <a:lnTo>
                  <a:pt x="59531" y="0"/>
                </a:lnTo>
                <a:cubicBezTo>
                  <a:pt x="50334" y="0"/>
                  <a:pt x="42863" y="7471"/>
                  <a:pt x="42863" y="16669"/>
                </a:cubicBezTo>
                <a:close/>
                <a:moveTo>
                  <a:pt x="152400" y="90488"/>
                </a:moveTo>
                <a:lnTo>
                  <a:pt x="95250" y="90488"/>
                </a:lnTo>
                <a:lnTo>
                  <a:pt x="95250" y="95250"/>
                </a:lnTo>
                <a:cubicBezTo>
                  <a:pt x="95250" y="100519"/>
                  <a:pt x="90994" y="104775"/>
                  <a:pt x="85725" y="104775"/>
                </a:cubicBezTo>
                <a:lnTo>
                  <a:pt x="66675" y="104775"/>
                </a:lnTo>
                <a:cubicBezTo>
                  <a:pt x="61406" y="104775"/>
                  <a:pt x="57150" y="100519"/>
                  <a:pt x="57150" y="95250"/>
                </a:cubicBezTo>
                <a:lnTo>
                  <a:pt x="57150" y="90488"/>
                </a:lnTo>
                <a:lnTo>
                  <a:pt x="0" y="90488"/>
                </a:ln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33350" y="142875"/>
                </a:lnTo>
                <a:cubicBezTo>
                  <a:pt x="143857" y="142875"/>
                  <a:pt x="152400" y="134332"/>
                  <a:pt x="152400" y="123825"/>
                </a:cubicBezTo>
                <a:lnTo>
                  <a:pt x="152400" y="90488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4" name="Text 42"/>
          <p:cNvSpPr/>
          <p:nvPr/>
        </p:nvSpPr>
        <p:spPr>
          <a:xfrm>
            <a:off x="6877050" y="2247900"/>
            <a:ext cx="3181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Employment Status Impact</a:t>
            </a:r>
            <a:endParaRPr lang="en-US" sz="1600"/>
          </a:p>
        </p:txBody>
      </p:sp>
      <p:sp>
        <p:nvSpPr>
          <p:cNvPr id="45" name="Text 43"/>
          <p:cNvSpPr/>
          <p:nvPr/>
        </p:nvSpPr>
        <p:spPr>
          <a:xfrm>
            <a:off x="6877050" y="2514600"/>
            <a:ext cx="3171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Unemployed people spend more</a:t>
            </a: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than employed ones</a:t>
            </a:r>
            <a:endParaRPr lang="en-US" sz="1600"/>
          </a:p>
        </p:txBody>
      </p:sp>
      <p:sp>
        <p:nvSpPr>
          <p:cNvPr id="46" name="Shape 44"/>
          <p:cNvSpPr/>
          <p:nvPr/>
        </p:nvSpPr>
        <p:spPr>
          <a:xfrm>
            <a:off x="6210300" y="2971800"/>
            <a:ext cx="5600700" cy="952500"/>
          </a:xfrm>
          <a:custGeom>
            <a:avLst/>
            <a:gdLst/>
            <a:ahLst/>
            <a:cxnLst/>
            <a:rect l="l" t="t" r="r" b="b"/>
            <a:pathLst>
              <a:path w="5600700" h="952500">
                <a:moveTo>
                  <a:pt x="38100" y="0"/>
                </a:moveTo>
                <a:lnTo>
                  <a:pt x="5486400" y="0"/>
                </a:lnTo>
                <a:cubicBezTo>
                  <a:pt x="5549484" y="0"/>
                  <a:pt x="5600700" y="51216"/>
                  <a:pt x="5600700" y="114300"/>
                </a:cubicBezTo>
                <a:lnTo>
                  <a:pt x="5600700" y="838200"/>
                </a:lnTo>
                <a:cubicBezTo>
                  <a:pt x="5600700" y="901284"/>
                  <a:pt x="5549484" y="952500"/>
                  <a:pt x="5486400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7" name="Shape 45"/>
          <p:cNvSpPr/>
          <p:nvPr/>
        </p:nvSpPr>
        <p:spPr>
          <a:xfrm>
            <a:off x="6210300" y="2971800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3810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8" name="Shape 46"/>
          <p:cNvSpPr/>
          <p:nvPr/>
        </p:nvSpPr>
        <p:spPr>
          <a:xfrm>
            <a:off x="6381750" y="3124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496050" y="3238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44827"/>
                </a:moveTo>
                <a:lnTo>
                  <a:pt x="121027" y="73402"/>
                </a:lnTo>
                <a:cubicBezTo>
                  <a:pt x="118289" y="76140"/>
                  <a:pt x="114211" y="76944"/>
                  <a:pt x="110639" y="75456"/>
                </a:cubicBezTo>
                <a:cubicBezTo>
                  <a:pt x="107067" y="73968"/>
                  <a:pt x="104775" y="70515"/>
                  <a:pt x="104775" y="66675"/>
                </a:cubicBezTo>
                <a:lnTo>
                  <a:pt x="104775" y="47625"/>
                </a:lnTo>
                <a:lnTo>
                  <a:pt x="9525" y="47625"/>
                </a:lnTo>
                <a:cubicBezTo>
                  <a:pt x="4256" y="47625"/>
                  <a:pt x="0" y="43369"/>
                  <a:pt x="0" y="38100"/>
                </a:cubicBezTo>
                <a:cubicBezTo>
                  <a:pt x="0" y="32831"/>
                  <a:pt x="4256" y="28575"/>
                  <a:pt x="9525" y="28575"/>
                </a:cubicBezTo>
                <a:lnTo>
                  <a:pt x="104775" y="28575"/>
                </a:lnTo>
                <a:lnTo>
                  <a:pt x="104775" y="9525"/>
                </a:lnTo>
                <a:cubicBezTo>
                  <a:pt x="104775" y="5685"/>
                  <a:pt x="107097" y="2203"/>
                  <a:pt x="110669" y="714"/>
                </a:cubicBezTo>
                <a:cubicBezTo>
                  <a:pt x="114240" y="-774"/>
                  <a:pt x="118318" y="60"/>
                  <a:pt x="121057" y="2768"/>
                </a:cubicBezTo>
                <a:lnTo>
                  <a:pt x="149632" y="31343"/>
                </a:lnTo>
                <a:cubicBezTo>
                  <a:pt x="153353" y="35064"/>
                  <a:pt x="153353" y="41106"/>
                  <a:pt x="149632" y="44827"/>
                </a:cubicBezTo>
                <a:close/>
                <a:moveTo>
                  <a:pt x="31343" y="149602"/>
                </a:moveTo>
                <a:lnTo>
                  <a:pt x="2768" y="121027"/>
                </a:lnTo>
                <a:cubicBezTo>
                  <a:pt x="-952" y="117306"/>
                  <a:pt x="-952" y="111264"/>
                  <a:pt x="2768" y="107543"/>
                </a:cubicBezTo>
                <a:lnTo>
                  <a:pt x="31343" y="78968"/>
                </a:lnTo>
                <a:cubicBezTo>
                  <a:pt x="34082" y="76230"/>
                  <a:pt x="38160" y="75426"/>
                  <a:pt x="41731" y="76914"/>
                </a:cubicBezTo>
                <a:cubicBezTo>
                  <a:pt x="45303" y="78403"/>
                  <a:pt x="47625" y="81885"/>
                  <a:pt x="47625" y="85725"/>
                </a:cubicBezTo>
                <a:lnTo>
                  <a:pt x="47625" y="104775"/>
                </a:lnTo>
                <a:lnTo>
                  <a:pt x="142875" y="104775"/>
                </a:lnTo>
                <a:cubicBezTo>
                  <a:pt x="148144" y="104775"/>
                  <a:pt x="152400" y="109031"/>
                  <a:pt x="152400" y="114300"/>
                </a:cubicBezTo>
                <a:cubicBezTo>
                  <a:pt x="152400" y="119569"/>
                  <a:pt x="148144" y="123825"/>
                  <a:pt x="142875" y="123825"/>
                </a:cubicBezTo>
                <a:lnTo>
                  <a:pt x="47625" y="123825"/>
                </a:lnTo>
                <a:lnTo>
                  <a:pt x="47625" y="142875"/>
                </a:lnTo>
                <a:cubicBezTo>
                  <a:pt x="47625" y="146715"/>
                  <a:pt x="45303" y="150197"/>
                  <a:pt x="41731" y="151686"/>
                </a:cubicBezTo>
                <a:cubicBezTo>
                  <a:pt x="38160" y="153174"/>
                  <a:pt x="34082" y="152340"/>
                  <a:pt x="31343" y="149632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0" name="Text 48"/>
          <p:cNvSpPr/>
          <p:nvPr/>
        </p:nvSpPr>
        <p:spPr>
          <a:xfrm>
            <a:off x="6877050" y="3124200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Payer Mix Transitions</a:t>
            </a:r>
            <a:endParaRPr lang="en-US" sz="1600"/>
          </a:p>
        </p:txBody>
      </p:sp>
      <p:sp>
        <p:nvSpPr>
          <p:cNvPr id="51" name="Text 49"/>
          <p:cNvSpPr/>
          <p:nvPr/>
        </p:nvSpPr>
        <p:spPr>
          <a:xfrm>
            <a:off x="6877050" y="3390900"/>
            <a:ext cx="48482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Medicare dominates</a:t>
            </a: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spending in older groups (60+), </a:t>
            </a:r>
            <a:r>
              <a:rPr lang="en-US" sz="1050" b="1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insurance</a:t>
            </a: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younger (30-60)</a:t>
            </a:r>
            <a:endParaRPr lang="en-US" sz="1600"/>
          </a:p>
        </p:txBody>
      </p:sp>
      <p:sp>
        <p:nvSpPr>
          <p:cNvPr id="52" name="Shape 50"/>
          <p:cNvSpPr/>
          <p:nvPr/>
        </p:nvSpPr>
        <p:spPr>
          <a:xfrm>
            <a:off x="6210300" y="4038600"/>
            <a:ext cx="5600700" cy="762000"/>
          </a:xfrm>
          <a:custGeom>
            <a:avLst/>
            <a:gdLst/>
            <a:ahLst/>
            <a:cxnLst/>
            <a:rect l="l" t="t" r="r" b="b"/>
            <a:pathLst>
              <a:path w="5600700" h="762000">
                <a:moveTo>
                  <a:pt x="38100" y="0"/>
                </a:moveTo>
                <a:lnTo>
                  <a:pt x="5486400" y="0"/>
                </a:lnTo>
                <a:cubicBezTo>
                  <a:pt x="5549484" y="0"/>
                  <a:pt x="5600700" y="51216"/>
                  <a:pt x="5600700" y="114300"/>
                </a:cubicBezTo>
                <a:lnTo>
                  <a:pt x="5600700" y="647700"/>
                </a:lnTo>
                <a:cubicBezTo>
                  <a:pt x="5600700" y="710784"/>
                  <a:pt x="5549484" y="762000"/>
                  <a:pt x="548640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3" name="Shape 51"/>
          <p:cNvSpPr/>
          <p:nvPr/>
        </p:nvSpPr>
        <p:spPr>
          <a:xfrm>
            <a:off x="6210300" y="403860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4" name="Shape 52"/>
          <p:cNvSpPr/>
          <p:nvPr/>
        </p:nvSpPr>
        <p:spPr>
          <a:xfrm>
            <a:off x="6381750" y="419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477000" y="43053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6" name="Text 54"/>
          <p:cNvSpPr/>
          <p:nvPr/>
        </p:nvSpPr>
        <p:spPr>
          <a:xfrm>
            <a:off x="6877050" y="4191000"/>
            <a:ext cx="4086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Patient Segmentation</a:t>
            </a:r>
            <a:endParaRPr lang="en-US" sz="1600"/>
          </a:p>
        </p:txBody>
      </p:sp>
      <p:sp>
        <p:nvSpPr>
          <p:cNvPr id="57" name="Text 55"/>
          <p:cNvSpPr/>
          <p:nvPr/>
        </p:nvSpPr>
        <p:spPr>
          <a:xfrm>
            <a:off x="6877050" y="4457700"/>
            <a:ext cx="4076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Identified </a:t>
            </a:r>
            <a:r>
              <a:rPr lang="en-US" sz="1050" b="1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 distinct clusters</a:t>
            </a: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enabling risk-based patient stratification</a:t>
            </a:r>
            <a:endParaRPr lang="en-US" sz="1600"/>
          </a:p>
        </p:txBody>
      </p:sp>
      <p:sp>
        <p:nvSpPr>
          <p:cNvPr id="58" name="Shape 56"/>
          <p:cNvSpPr/>
          <p:nvPr/>
        </p:nvSpPr>
        <p:spPr>
          <a:xfrm>
            <a:off x="6191250" y="4914900"/>
            <a:ext cx="5619750" cy="1409700"/>
          </a:xfrm>
          <a:custGeom>
            <a:avLst/>
            <a:gdLst/>
            <a:ahLst/>
            <a:cxnLst/>
            <a:rect l="l" t="t" r="r" b="b"/>
            <a:pathLst>
              <a:path w="5619750" h="1409700">
                <a:moveTo>
                  <a:pt x="114298" y="0"/>
                </a:moveTo>
                <a:lnTo>
                  <a:pt x="5505452" y="0"/>
                </a:lnTo>
                <a:cubicBezTo>
                  <a:pt x="5568577" y="0"/>
                  <a:pt x="5619750" y="51173"/>
                  <a:pt x="5619750" y="114298"/>
                </a:cubicBezTo>
                <a:lnTo>
                  <a:pt x="5619750" y="1295402"/>
                </a:lnTo>
                <a:cubicBezTo>
                  <a:pt x="5619750" y="1358527"/>
                  <a:pt x="5568577" y="1409700"/>
                  <a:pt x="5505452" y="1409700"/>
                </a:cubicBezTo>
                <a:lnTo>
                  <a:pt x="114298" y="1409700"/>
                </a:lnTo>
                <a:cubicBezTo>
                  <a:pt x="51173" y="1409700"/>
                  <a:pt x="0" y="1358527"/>
                  <a:pt x="0" y="1295402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9" name="Shape 57"/>
          <p:cNvSpPr/>
          <p:nvPr/>
        </p:nvSpPr>
        <p:spPr>
          <a:xfrm>
            <a:off x="6438900" y="51244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6781800" y="5105400"/>
            <a:ext cx="1885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Clinical Burden Clusters</a:t>
            </a:r>
            <a:endParaRPr lang="en-US" sz="1600"/>
          </a:p>
        </p:txBody>
      </p:sp>
      <p:sp>
        <p:nvSpPr>
          <p:cNvPr id="61" name="Shape 59"/>
          <p:cNvSpPr/>
          <p:nvPr/>
        </p:nvSpPr>
        <p:spPr>
          <a:xfrm>
            <a:off x="6381750" y="5486400"/>
            <a:ext cx="2562225" cy="647700"/>
          </a:xfrm>
          <a:custGeom>
            <a:avLst/>
            <a:gdLst/>
            <a:ahLst/>
            <a:cxnLst/>
            <a:rect l="l" t="t" r="r" b="b"/>
            <a:pathLst>
              <a:path w="2562225" h="647700">
                <a:moveTo>
                  <a:pt x="76202" y="0"/>
                </a:moveTo>
                <a:lnTo>
                  <a:pt x="2486023" y="0"/>
                </a:lnTo>
                <a:cubicBezTo>
                  <a:pt x="2528108" y="0"/>
                  <a:pt x="2562225" y="34117"/>
                  <a:pt x="2562225" y="76202"/>
                </a:cubicBezTo>
                <a:lnTo>
                  <a:pt x="2562225" y="571498"/>
                </a:lnTo>
                <a:cubicBezTo>
                  <a:pt x="2562225" y="613583"/>
                  <a:pt x="2528108" y="647700"/>
                  <a:pt x="248602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6496050" y="56007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High-Burden Group</a:t>
            </a:r>
            <a:endParaRPr lang="en-US" sz="1600"/>
          </a:p>
        </p:txBody>
      </p:sp>
      <p:sp>
        <p:nvSpPr>
          <p:cNvPr id="63" name="Text 61"/>
          <p:cNvSpPr/>
          <p:nvPr/>
        </p:nvSpPr>
        <p:spPr>
          <a:xfrm>
            <a:off x="6496050" y="58293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Older, more conditions, less active</a:t>
            </a:r>
            <a:endParaRPr lang="en-US" sz="1600"/>
          </a:p>
        </p:txBody>
      </p:sp>
      <p:sp>
        <p:nvSpPr>
          <p:cNvPr id="64" name="Shape 62"/>
          <p:cNvSpPr/>
          <p:nvPr/>
        </p:nvSpPr>
        <p:spPr>
          <a:xfrm>
            <a:off x="9058275" y="5486400"/>
            <a:ext cx="2562225" cy="647700"/>
          </a:xfrm>
          <a:custGeom>
            <a:avLst/>
            <a:gdLst/>
            <a:ahLst/>
            <a:cxnLst/>
            <a:rect l="l" t="t" r="r" b="b"/>
            <a:pathLst>
              <a:path w="2562225" h="647700">
                <a:moveTo>
                  <a:pt x="76202" y="0"/>
                </a:moveTo>
                <a:lnTo>
                  <a:pt x="2486023" y="0"/>
                </a:lnTo>
                <a:cubicBezTo>
                  <a:pt x="2528108" y="0"/>
                  <a:pt x="2562225" y="34117"/>
                  <a:pt x="2562225" y="76202"/>
                </a:cubicBezTo>
                <a:lnTo>
                  <a:pt x="2562225" y="571498"/>
                </a:lnTo>
                <a:cubicBezTo>
                  <a:pt x="2562225" y="613583"/>
                  <a:pt x="2528108" y="647700"/>
                  <a:pt x="248602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9172575" y="56007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Low-Burden Group</a:t>
            </a:r>
            <a:endParaRPr lang="en-US" sz="1600"/>
          </a:p>
        </p:txBody>
      </p:sp>
      <p:sp>
        <p:nvSpPr>
          <p:cNvPr id="66" name="Text 64"/>
          <p:cNvSpPr/>
          <p:nvPr/>
        </p:nvSpPr>
        <p:spPr>
          <a:xfrm>
            <a:off x="9172575" y="58293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Younger, healthier, more active</a:t>
            </a:r>
            <a:endParaRPr lang="en-US" sz="160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Findings</a:t>
            </a:r>
            <a:endParaRPr lang="en-US" sz="160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Predictive Modeling Insights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400050" y="1219200"/>
            <a:ext cx="3667125" cy="1905000"/>
          </a:xfrm>
          <a:custGeom>
            <a:avLst/>
            <a:gdLst/>
            <a:ahLst/>
            <a:cxnLst/>
            <a:rect l="l" t="t" r="r" b="b"/>
            <a:pathLst>
              <a:path w="3667125" h="1905000">
                <a:moveTo>
                  <a:pt x="38100" y="0"/>
                </a:moveTo>
                <a:lnTo>
                  <a:pt x="3552825" y="0"/>
                </a:lnTo>
                <a:cubicBezTo>
                  <a:pt x="3615909" y="0"/>
                  <a:pt x="3667125" y="51216"/>
                  <a:pt x="3667125" y="114300"/>
                </a:cubicBezTo>
                <a:lnTo>
                  <a:pt x="3667125" y="1790700"/>
                </a:lnTo>
                <a:cubicBezTo>
                  <a:pt x="3667125" y="1853784"/>
                  <a:pt x="3615909" y="1905000"/>
                  <a:pt x="3552825" y="1905000"/>
                </a:cubicBezTo>
                <a:lnTo>
                  <a:pt x="38100" y="1905000"/>
                </a:lnTo>
                <a:cubicBezTo>
                  <a:pt x="17072" y="1905000"/>
                  <a:pt x="0" y="1887928"/>
                  <a:pt x="0" y="1866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219200"/>
            <a:ext cx="38100" cy="1905000"/>
          </a:xfrm>
          <a:custGeom>
            <a:avLst/>
            <a:gdLst/>
            <a:ahLst/>
            <a:cxnLst/>
            <a:rect l="l" t="t" r="r" b="b"/>
            <a:pathLst>
              <a:path w="38100" h="1905000">
                <a:moveTo>
                  <a:pt x="38100" y="0"/>
                </a:moveTo>
                <a:lnTo>
                  <a:pt x="38100" y="0"/>
                </a:lnTo>
                <a:lnTo>
                  <a:pt x="38100" y="1905000"/>
                </a:lnTo>
                <a:lnTo>
                  <a:pt x="38100" y="1905000"/>
                </a:lnTo>
                <a:cubicBezTo>
                  <a:pt x="17072" y="1905000"/>
                  <a:pt x="0" y="1887928"/>
                  <a:pt x="0" y="1866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409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42950" y="15430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3690" y="0"/>
                </a:moveTo>
                <a:lnTo>
                  <a:pt x="137033" y="0"/>
                </a:lnTo>
                <a:cubicBezTo>
                  <a:pt x="146893" y="0"/>
                  <a:pt x="154930" y="8111"/>
                  <a:pt x="154558" y="17934"/>
                </a:cubicBezTo>
                <a:cubicBezTo>
                  <a:pt x="154484" y="19906"/>
                  <a:pt x="154409" y="21878"/>
                  <a:pt x="154298" y="23812"/>
                </a:cubicBezTo>
                <a:lnTo>
                  <a:pt x="172752" y="23812"/>
                </a:lnTo>
                <a:cubicBezTo>
                  <a:pt x="182463" y="23812"/>
                  <a:pt x="191021" y="31849"/>
                  <a:pt x="190277" y="42342"/>
                </a:cubicBezTo>
                <a:cubicBezTo>
                  <a:pt x="187486" y="80925"/>
                  <a:pt x="167767" y="102133"/>
                  <a:pt x="146372" y="113221"/>
                </a:cubicBezTo>
                <a:cubicBezTo>
                  <a:pt x="140494" y="116272"/>
                  <a:pt x="134503" y="118542"/>
                  <a:pt x="128811" y="120216"/>
                </a:cubicBezTo>
                <a:cubicBezTo>
                  <a:pt x="121295" y="130857"/>
                  <a:pt x="113481" y="136475"/>
                  <a:pt x="107268" y="139489"/>
                </a:cubicBezTo>
                <a:lnTo>
                  <a:pt x="107268" y="166688"/>
                </a:lnTo>
                <a:lnTo>
                  <a:pt x="131080" y="166688"/>
                </a:lnTo>
                <a:cubicBezTo>
                  <a:pt x="137666" y="166688"/>
                  <a:pt x="142987" y="172008"/>
                  <a:pt x="142987" y="178594"/>
                </a:cubicBezTo>
                <a:cubicBezTo>
                  <a:pt x="142987" y="185179"/>
                  <a:pt x="137666" y="190500"/>
                  <a:pt x="131080" y="190500"/>
                </a:cubicBezTo>
                <a:lnTo>
                  <a:pt x="59643" y="190500"/>
                </a:lnTo>
                <a:cubicBezTo>
                  <a:pt x="53057" y="190500"/>
                  <a:pt x="47737" y="185179"/>
                  <a:pt x="47737" y="178594"/>
                </a:cubicBezTo>
                <a:cubicBezTo>
                  <a:pt x="47737" y="172008"/>
                  <a:pt x="53057" y="166688"/>
                  <a:pt x="59643" y="166688"/>
                </a:cubicBezTo>
                <a:lnTo>
                  <a:pt x="83455" y="166688"/>
                </a:lnTo>
                <a:lnTo>
                  <a:pt x="83455" y="139489"/>
                </a:lnTo>
                <a:cubicBezTo>
                  <a:pt x="77502" y="136624"/>
                  <a:pt x="70098" y="131304"/>
                  <a:pt x="62880" y="121518"/>
                </a:cubicBezTo>
                <a:cubicBezTo>
                  <a:pt x="56034" y="119732"/>
                  <a:pt x="48592" y="117016"/>
                  <a:pt x="41337" y="112923"/>
                </a:cubicBezTo>
                <a:cubicBezTo>
                  <a:pt x="21208" y="101650"/>
                  <a:pt x="3051" y="80404"/>
                  <a:pt x="446" y="42267"/>
                </a:cubicBezTo>
                <a:cubicBezTo>
                  <a:pt x="-260" y="31812"/>
                  <a:pt x="8260" y="23775"/>
                  <a:pt x="17971" y="23775"/>
                </a:cubicBezTo>
                <a:lnTo>
                  <a:pt x="36426" y="23775"/>
                </a:lnTo>
                <a:cubicBezTo>
                  <a:pt x="36314" y="21841"/>
                  <a:pt x="36240" y="19906"/>
                  <a:pt x="36165" y="17897"/>
                </a:cubicBezTo>
                <a:cubicBezTo>
                  <a:pt x="35793" y="8037"/>
                  <a:pt x="43830" y="-37"/>
                  <a:pt x="53690" y="-37"/>
                </a:cubicBezTo>
                <a:close/>
                <a:moveTo>
                  <a:pt x="37765" y="41672"/>
                </a:moveTo>
                <a:lnTo>
                  <a:pt x="18269" y="41672"/>
                </a:lnTo>
                <a:cubicBezTo>
                  <a:pt x="20575" y="73186"/>
                  <a:pt x="35049" y="88962"/>
                  <a:pt x="49969" y="97334"/>
                </a:cubicBezTo>
                <a:cubicBezTo>
                  <a:pt x="44611" y="83455"/>
                  <a:pt x="40184" y="65336"/>
                  <a:pt x="37765" y="41672"/>
                </a:cubicBezTo>
                <a:close/>
                <a:moveTo>
                  <a:pt x="141387" y="95548"/>
                </a:moveTo>
                <a:cubicBezTo>
                  <a:pt x="156456" y="86692"/>
                  <a:pt x="170073" y="70954"/>
                  <a:pt x="172380" y="41672"/>
                </a:cubicBezTo>
                <a:lnTo>
                  <a:pt x="152921" y="41672"/>
                </a:lnTo>
                <a:cubicBezTo>
                  <a:pt x="150614" y="64331"/>
                  <a:pt x="146447" y="81930"/>
                  <a:pt x="141387" y="95548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8" name="Text 6"/>
          <p:cNvSpPr/>
          <p:nvPr/>
        </p:nvSpPr>
        <p:spPr>
          <a:xfrm>
            <a:off x="1181100" y="1409700"/>
            <a:ext cx="137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Overall Accuracy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609600" y="1981200"/>
            <a:ext cx="3438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71–72%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609600" y="2438400"/>
            <a:ext cx="33432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Models achieved </a:t>
            </a:r>
            <a:r>
              <a:rPr lang="en-US" sz="12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strong overall accuracy</a:t>
            </a:r>
            <a:r>
              <a:rPr lang="en-US" sz="120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across all three expenditure categories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400050" y="3276600"/>
            <a:ext cx="3667125" cy="1447800"/>
          </a:xfrm>
          <a:custGeom>
            <a:avLst/>
            <a:gdLst/>
            <a:ahLst/>
            <a:cxnLst/>
            <a:rect l="l" t="t" r="r" b="b"/>
            <a:pathLst>
              <a:path w="3667125" h="1447800">
                <a:moveTo>
                  <a:pt x="38100" y="0"/>
                </a:moveTo>
                <a:lnTo>
                  <a:pt x="3552821" y="0"/>
                </a:lnTo>
                <a:cubicBezTo>
                  <a:pt x="3615949" y="0"/>
                  <a:pt x="3667125" y="51176"/>
                  <a:pt x="3667125" y="114304"/>
                </a:cubicBezTo>
                <a:lnTo>
                  <a:pt x="3667125" y="1333496"/>
                </a:lnTo>
                <a:cubicBezTo>
                  <a:pt x="3667125" y="1396624"/>
                  <a:pt x="3615949" y="1447800"/>
                  <a:pt x="3552821" y="1447800"/>
                </a:cubicBezTo>
                <a:lnTo>
                  <a:pt x="38100" y="1447800"/>
                </a:lnTo>
                <a:cubicBezTo>
                  <a:pt x="17072" y="1447800"/>
                  <a:pt x="0" y="1430728"/>
                  <a:pt x="0" y="1409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00050" y="3276600"/>
            <a:ext cx="38100" cy="1447800"/>
          </a:xfrm>
          <a:custGeom>
            <a:avLst/>
            <a:gdLst/>
            <a:ahLst/>
            <a:cxnLst/>
            <a:rect l="l" t="t" r="r" b="b"/>
            <a:pathLst>
              <a:path w="38100" h="1447800">
                <a:moveTo>
                  <a:pt x="38100" y="0"/>
                </a:moveTo>
                <a:lnTo>
                  <a:pt x="38100" y="0"/>
                </a:lnTo>
                <a:lnTo>
                  <a:pt x="38100" y="1447800"/>
                </a:lnTo>
                <a:lnTo>
                  <a:pt x="38100" y="1447800"/>
                </a:lnTo>
                <a:cubicBezTo>
                  <a:pt x="17072" y="1447800"/>
                  <a:pt x="0" y="1430728"/>
                  <a:pt x="0" y="1409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3" name="Shape 11"/>
          <p:cNvSpPr/>
          <p:nvPr/>
        </p:nvSpPr>
        <p:spPr>
          <a:xfrm>
            <a:off x="609600" y="3467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42950" y="36004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5" name="Text 13"/>
          <p:cNvSpPr/>
          <p:nvPr/>
        </p:nvSpPr>
        <p:spPr>
          <a:xfrm>
            <a:off x="1181100" y="3467100"/>
            <a:ext cx="1666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High-Cost Challenge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609600" y="4038600"/>
            <a:ext cx="33432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High-cost patients are hardest to predict</a:t>
            </a:r>
            <a:r>
              <a:rPr lang="en-US" sz="120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due to imbalanced data (only 10% of population)</a:t>
            </a:r>
            <a:endParaRPr lang="en-US" sz="1600"/>
          </a:p>
        </p:txBody>
      </p:sp>
      <p:sp>
        <p:nvSpPr>
          <p:cNvPr id="17" name="Shape 15"/>
          <p:cNvSpPr/>
          <p:nvPr/>
        </p:nvSpPr>
        <p:spPr>
          <a:xfrm>
            <a:off x="4273510" y="1219200"/>
            <a:ext cx="3667125" cy="2628900"/>
          </a:xfrm>
          <a:custGeom>
            <a:avLst/>
            <a:gdLst/>
            <a:ahLst/>
            <a:cxnLst/>
            <a:rect l="l" t="t" r="r" b="b"/>
            <a:pathLst>
              <a:path w="3667125" h="2628900">
                <a:moveTo>
                  <a:pt x="38100" y="0"/>
                </a:moveTo>
                <a:lnTo>
                  <a:pt x="3552820" y="0"/>
                </a:lnTo>
                <a:cubicBezTo>
                  <a:pt x="3615949" y="0"/>
                  <a:pt x="3667125" y="51176"/>
                  <a:pt x="3667125" y="114305"/>
                </a:cubicBezTo>
                <a:lnTo>
                  <a:pt x="3667125" y="2514595"/>
                </a:lnTo>
                <a:cubicBezTo>
                  <a:pt x="3667125" y="2577724"/>
                  <a:pt x="3615949" y="2628900"/>
                  <a:pt x="3552820" y="2628900"/>
                </a:cubicBezTo>
                <a:lnTo>
                  <a:pt x="38100" y="2628900"/>
                </a:lnTo>
                <a:cubicBezTo>
                  <a:pt x="17072" y="2628900"/>
                  <a:pt x="0" y="2611828"/>
                  <a:pt x="0" y="2590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4273510" y="1219200"/>
            <a:ext cx="38100" cy="2628900"/>
          </a:xfrm>
          <a:custGeom>
            <a:avLst/>
            <a:gdLst/>
            <a:ahLst/>
            <a:cxnLst/>
            <a:rect l="l" t="t" r="r" b="b"/>
            <a:pathLst>
              <a:path w="38100" h="2628900">
                <a:moveTo>
                  <a:pt x="38100" y="0"/>
                </a:moveTo>
                <a:lnTo>
                  <a:pt x="38100" y="0"/>
                </a:lnTo>
                <a:lnTo>
                  <a:pt x="38100" y="2628900"/>
                </a:lnTo>
                <a:lnTo>
                  <a:pt x="38100" y="2628900"/>
                </a:lnTo>
                <a:cubicBezTo>
                  <a:pt x="17072" y="2628900"/>
                  <a:pt x="0" y="2611828"/>
                  <a:pt x="0" y="2590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9" name="Shape 17"/>
          <p:cNvSpPr/>
          <p:nvPr/>
        </p:nvSpPr>
        <p:spPr>
          <a:xfrm>
            <a:off x="4483060" y="1409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640223" y="15430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79846" y="6474"/>
                </a:moveTo>
                <a:cubicBezTo>
                  <a:pt x="75195" y="1823"/>
                  <a:pt x="67642" y="1823"/>
                  <a:pt x="62992" y="6474"/>
                </a:cubicBezTo>
                <a:lnTo>
                  <a:pt x="3460" y="66005"/>
                </a:lnTo>
                <a:cubicBezTo>
                  <a:pt x="-1191" y="70656"/>
                  <a:pt x="-1191" y="78209"/>
                  <a:pt x="3460" y="82860"/>
                </a:cubicBezTo>
                <a:cubicBezTo>
                  <a:pt x="8111" y="87511"/>
                  <a:pt x="15664" y="87511"/>
                  <a:pt x="20315" y="82860"/>
                </a:cubicBezTo>
                <a:lnTo>
                  <a:pt x="59531" y="43644"/>
                </a:lnTo>
                <a:lnTo>
                  <a:pt x="59531" y="181570"/>
                </a:lnTo>
                <a:cubicBezTo>
                  <a:pt x="59531" y="188156"/>
                  <a:pt x="64852" y="193477"/>
                  <a:pt x="71438" y="193477"/>
                </a:cubicBezTo>
                <a:cubicBezTo>
                  <a:pt x="78023" y="193477"/>
                  <a:pt x="83344" y="188156"/>
                  <a:pt x="83344" y="181570"/>
                </a:cubicBezTo>
                <a:lnTo>
                  <a:pt x="83344" y="43644"/>
                </a:lnTo>
                <a:lnTo>
                  <a:pt x="122560" y="82860"/>
                </a:lnTo>
                <a:cubicBezTo>
                  <a:pt x="127211" y="87511"/>
                  <a:pt x="134764" y="87511"/>
                  <a:pt x="139415" y="82860"/>
                </a:cubicBezTo>
                <a:cubicBezTo>
                  <a:pt x="144066" y="78209"/>
                  <a:pt x="144066" y="70656"/>
                  <a:pt x="139415" y="66005"/>
                </a:cubicBezTo>
                <a:lnTo>
                  <a:pt x="79883" y="6474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1" name="Text 19"/>
          <p:cNvSpPr/>
          <p:nvPr/>
        </p:nvSpPr>
        <p:spPr>
          <a:xfrm>
            <a:off x="5054561" y="1409700"/>
            <a:ext cx="1866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Detection Improvement</a:t>
            </a:r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4483060" y="1981200"/>
            <a:ext cx="3438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44%</a:t>
            </a:r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4483060" y="2438400"/>
            <a:ext cx="33432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Baseline high-cost detection improved from </a:t>
            </a:r>
            <a:r>
              <a:rPr lang="en-US" sz="12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0.32 → 0.46</a:t>
            </a:r>
            <a:endParaRPr lang="en-US" sz="1600"/>
          </a:p>
        </p:txBody>
      </p:sp>
      <p:sp>
        <p:nvSpPr>
          <p:cNvPr id="24" name="Shape 22"/>
          <p:cNvSpPr/>
          <p:nvPr/>
        </p:nvSpPr>
        <p:spPr>
          <a:xfrm>
            <a:off x="4483060" y="3048000"/>
            <a:ext cx="3267075" cy="609600"/>
          </a:xfrm>
          <a:custGeom>
            <a:avLst/>
            <a:gdLst/>
            <a:ahLst/>
            <a:cxnLst/>
            <a:rect l="l" t="t" r="r" b="b"/>
            <a:pathLst>
              <a:path w="3267075" h="609600">
                <a:moveTo>
                  <a:pt x="76200" y="0"/>
                </a:moveTo>
                <a:lnTo>
                  <a:pt x="3190875" y="0"/>
                </a:lnTo>
                <a:cubicBezTo>
                  <a:pt x="3232931" y="0"/>
                  <a:pt x="3267075" y="34144"/>
                  <a:pt x="3267075" y="76200"/>
                </a:cubicBezTo>
                <a:lnTo>
                  <a:pt x="3267075" y="533400"/>
                </a:lnTo>
                <a:cubicBezTo>
                  <a:pt x="3267075" y="575456"/>
                  <a:pt x="3232931" y="609600"/>
                  <a:pt x="319087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597360" y="3162300"/>
            <a:ext cx="3105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Weighted XGBoost significantly enhanced identification of critical patient segment</a:t>
            </a:r>
            <a:endParaRPr lang="en-US" sz="1600"/>
          </a:p>
        </p:txBody>
      </p:sp>
      <p:sp>
        <p:nvSpPr>
          <p:cNvPr id="26" name="Shape 24"/>
          <p:cNvSpPr/>
          <p:nvPr/>
        </p:nvSpPr>
        <p:spPr>
          <a:xfrm>
            <a:off x="4273510" y="4000500"/>
            <a:ext cx="3667125" cy="1695450"/>
          </a:xfrm>
          <a:custGeom>
            <a:avLst/>
            <a:gdLst/>
            <a:ahLst/>
            <a:cxnLst/>
            <a:rect l="l" t="t" r="r" b="b"/>
            <a:pathLst>
              <a:path w="3667125" h="1695450">
                <a:moveTo>
                  <a:pt x="38100" y="0"/>
                </a:moveTo>
                <a:lnTo>
                  <a:pt x="3552818" y="0"/>
                </a:lnTo>
                <a:cubicBezTo>
                  <a:pt x="3615948" y="0"/>
                  <a:pt x="3667125" y="51177"/>
                  <a:pt x="3667125" y="114307"/>
                </a:cubicBezTo>
                <a:lnTo>
                  <a:pt x="3667125" y="1581143"/>
                </a:lnTo>
                <a:cubicBezTo>
                  <a:pt x="3667125" y="1644273"/>
                  <a:pt x="3615948" y="1695450"/>
                  <a:pt x="3552818" y="1695450"/>
                </a:cubicBezTo>
                <a:lnTo>
                  <a:pt x="38100" y="1695450"/>
                </a:lnTo>
                <a:cubicBezTo>
                  <a:pt x="17072" y="1695450"/>
                  <a:pt x="0" y="1678378"/>
                  <a:pt x="0" y="1657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4273510" y="4000500"/>
            <a:ext cx="38100" cy="1695450"/>
          </a:xfrm>
          <a:custGeom>
            <a:avLst/>
            <a:gdLst/>
            <a:ahLst/>
            <a:cxnLst/>
            <a:rect l="l" t="t" r="r" b="b"/>
            <a:pathLst>
              <a:path w="38100" h="1695450">
                <a:moveTo>
                  <a:pt x="38100" y="0"/>
                </a:moveTo>
                <a:lnTo>
                  <a:pt x="38100" y="0"/>
                </a:lnTo>
                <a:lnTo>
                  <a:pt x="38100" y="1695450"/>
                </a:lnTo>
                <a:lnTo>
                  <a:pt x="38100" y="1695450"/>
                </a:lnTo>
                <a:cubicBezTo>
                  <a:pt x="17072" y="1695450"/>
                  <a:pt x="0" y="1678378"/>
                  <a:pt x="0" y="1657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8" name="Shape 26"/>
          <p:cNvSpPr/>
          <p:nvPr/>
        </p:nvSpPr>
        <p:spPr>
          <a:xfrm>
            <a:off x="4483060" y="419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604504" y="43243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0" name="Text 28"/>
          <p:cNvSpPr/>
          <p:nvPr/>
        </p:nvSpPr>
        <p:spPr>
          <a:xfrm>
            <a:off x="5054561" y="4191000"/>
            <a:ext cx="94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Model</a:t>
            </a:r>
            <a:endParaRPr lang="en-US" sz="1600"/>
          </a:p>
        </p:txBody>
      </p:sp>
      <p:sp>
        <p:nvSpPr>
          <p:cNvPr id="31" name="Text 29"/>
          <p:cNvSpPr/>
          <p:nvPr/>
        </p:nvSpPr>
        <p:spPr>
          <a:xfrm>
            <a:off x="4483060" y="4762500"/>
            <a:ext cx="33432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Weighted XGBoost</a:t>
            </a:r>
            <a:r>
              <a:rPr lang="en-US" sz="120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best for high-cost identification, prioritizing real-world impact over aggregate accuracy</a:t>
            </a:r>
            <a:endParaRPr lang="en-US" sz="1600"/>
          </a:p>
        </p:txBody>
      </p:sp>
      <p:sp>
        <p:nvSpPr>
          <p:cNvPr id="32" name="Shape 30"/>
          <p:cNvSpPr/>
          <p:nvPr/>
        </p:nvSpPr>
        <p:spPr>
          <a:xfrm>
            <a:off x="8146971" y="1219200"/>
            <a:ext cx="3667125" cy="1695450"/>
          </a:xfrm>
          <a:custGeom>
            <a:avLst/>
            <a:gdLst/>
            <a:ahLst/>
            <a:cxnLst/>
            <a:rect l="l" t="t" r="r" b="b"/>
            <a:pathLst>
              <a:path w="3667125" h="1695450">
                <a:moveTo>
                  <a:pt x="38100" y="0"/>
                </a:moveTo>
                <a:lnTo>
                  <a:pt x="3552818" y="0"/>
                </a:lnTo>
                <a:cubicBezTo>
                  <a:pt x="3615948" y="0"/>
                  <a:pt x="3667125" y="51177"/>
                  <a:pt x="3667125" y="114307"/>
                </a:cubicBezTo>
                <a:lnTo>
                  <a:pt x="3667125" y="1581143"/>
                </a:lnTo>
                <a:cubicBezTo>
                  <a:pt x="3667125" y="1644273"/>
                  <a:pt x="3615948" y="1695450"/>
                  <a:pt x="3552818" y="1695450"/>
                </a:cubicBezTo>
                <a:lnTo>
                  <a:pt x="38100" y="1695450"/>
                </a:lnTo>
                <a:cubicBezTo>
                  <a:pt x="17072" y="1695450"/>
                  <a:pt x="0" y="1678378"/>
                  <a:pt x="0" y="1657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8146971" y="1219200"/>
            <a:ext cx="38100" cy="1695450"/>
          </a:xfrm>
          <a:custGeom>
            <a:avLst/>
            <a:gdLst/>
            <a:ahLst/>
            <a:cxnLst/>
            <a:rect l="l" t="t" r="r" b="b"/>
            <a:pathLst>
              <a:path w="38100" h="1695450">
                <a:moveTo>
                  <a:pt x="38100" y="0"/>
                </a:moveTo>
                <a:lnTo>
                  <a:pt x="38100" y="0"/>
                </a:lnTo>
                <a:lnTo>
                  <a:pt x="38100" y="1695450"/>
                </a:lnTo>
                <a:lnTo>
                  <a:pt x="38100" y="1695450"/>
                </a:lnTo>
                <a:cubicBezTo>
                  <a:pt x="17072" y="1695450"/>
                  <a:pt x="0" y="1678378"/>
                  <a:pt x="0" y="1657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4" name="Shape 32"/>
          <p:cNvSpPr/>
          <p:nvPr/>
        </p:nvSpPr>
        <p:spPr>
          <a:xfrm>
            <a:off x="8356521" y="1409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466058" y="15430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42875" y="11906"/>
                </a:moveTo>
                <a:lnTo>
                  <a:pt x="190500" y="11906"/>
                </a:lnTo>
                <a:cubicBezTo>
                  <a:pt x="197086" y="11906"/>
                  <a:pt x="202406" y="17227"/>
                  <a:pt x="202406" y="23812"/>
                </a:cubicBezTo>
                <a:cubicBezTo>
                  <a:pt x="202406" y="30398"/>
                  <a:pt x="197086" y="35719"/>
                  <a:pt x="190500" y="35719"/>
                </a:cubicBezTo>
                <a:lnTo>
                  <a:pt x="148233" y="35719"/>
                </a:lnTo>
                <a:cubicBezTo>
                  <a:pt x="146298" y="45318"/>
                  <a:pt x="139712" y="53243"/>
                  <a:pt x="130969" y="57038"/>
                </a:cubicBezTo>
                <a:lnTo>
                  <a:pt x="130969" y="166688"/>
                </a:lnTo>
                <a:lnTo>
                  <a:pt x="190500" y="166688"/>
                </a:lnTo>
                <a:cubicBezTo>
                  <a:pt x="197086" y="166688"/>
                  <a:pt x="202406" y="172008"/>
                  <a:pt x="202406" y="178594"/>
                </a:cubicBezTo>
                <a:cubicBezTo>
                  <a:pt x="202406" y="185179"/>
                  <a:pt x="197086" y="190500"/>
                  <a:pt x="190500" y="190500"/>
                </a:cubicBezTo>
                <a:lnTo>
                  <a:pt x="47625" y="190500"/>
                </a:lnTo>
                <a:cubicBezTo>
                  <a:pt x="41039" y="190500"/>
                  <a:pt x="35719" y="185179"/>
                  <a:pt x="35719" y="178594"/>
                </a:cubicBezTo>
                <a:cubicBezTo>
                  <a:pt x="35719" y="172008"/>
                  <a:pt x="41039" y="166688"/>
                  <a:pt x="47625" y="166688"/>
                </a:cubicBezTo>
                <a:lnTo>
                  <a:pt x="107156" y="166688"/>
                </a:lnTo>
                <a:lnTo>
                  <a:pt x="107156" y="57038"/>
                </a:lnTo>
                <a:cubicBezTo>
                  <a:pt x="98413" y="53206"/>
                  <a:pt x="91827" y="45281"/>
                  <a:pt x="89892" y="35719"/>
                </a:cubicBezTo>
                <a:lnTo>
                  <a:pt x="47625" y="35719"/>
                </a:lnTo>
                <a:cubicBezTo>
                  <a:pt x="41039" y="35719"/>
                  <a:pt x="35719" y="30398"/>
                  <a:pt x="35719" y="23812"/>
                </a:cubicBezTo>
                <a:cubicBezTo>
                  <a:pt x="35719" y="17227"/>
                  <a:pt x="41039" y="11906"/>
                  <a:pt x="47625" y="11906"/>
                </a:cubicBezTo>
                <a:lnTo>
                  <a:pt x="95250" y="11906"/>
                </a:lnTo>
                <a:cubicBezTo>
                  <a:pt x="100682" y="4688"/>
                  <a:pt x="109314" y="0"/>
                  <a:pt x="119063" y="0"/>
                </a:cubicBezTo>
                <a:cubicBezTo>
                  <a:pt x="128811" y="0"/>
                  <a:pt x="137443" y="4688"/>
                  <a:pt x="142875" y="11906"/>
                </a:cubicBezTo>
                <a:close/>
                <a:moveTo>
                  <a:pt x="163562" y="119063"/>
                </a:moveTo>
                <a:lnTo>
                  <a:pt x="217438" y="119063"/>
                </a:lnTo>
                <a:lnTo>
                  <a:pt x="190500" y="72851"/>
                </a:lnTo>
                <a:lnTo>
                  <a:pt x="163562" y="119063"/>
                </a:lnTo>
                <a:close/>
                <a:moveTo>
                  <a:pt x="190500" y="154781"/>
                </a:moveTo>
                <a:cubicBezTo>
                  <a:pt x="167097" y="154781"/>
                  <a:pt x="147638" y="142131"/>
                  <a:pt x="143619" y="125425"/>
                </a:cubicBezTo>
                <a:cubicBezTo>
                  <a:pt x="142652" y="121332"/>
                  <a:pt x="143991" y="117128"/>
                  <a:pt x="146112" y="113481"/>
                </a:cubicBezTo>
                <a:lnTo>
                  <a:pt x="181533" y="52760"/>
                </a:lnTo>
                <a:cubicBezTo>
                  <a:pt x="183393" y="49560"/>
                  <a:pt x="186817" y="47625"/>
                  <a:pt x="190500" y="47625"/>
                </a:cubicBezTo>
                <a:cubicBezTo>
                  <a:pt x="194183" y="47625"/>
                  <a:pt x="197607" y="49597"/>
                  <a:pt x="199467" y="52760"/>
                </a:cubicBezTo>
                <a:lnTo>
                  <a:pt x="234888" y="113481"/>
                </a:lnTo>
                <a:cubicBezTo>
                  <a:pt x="237009" y="117128"/>
                  <a:pt x="238348" y="121332"/>
                  <a:pt x="237381" y="125425"/>
                </a:cubicBezTo>
                <a:cubicBezTo>
                  <a:pt x="233363" y="142094"/>
                  <a:pt x="213903" y="154781"/>
                  <a:pt x="190500" y="154781"/>
                </a:cubicBezTo>
                <a:close/>
                <a:moveTo>
                  <a:pt x="47179" y="72851"/>
                </a:moveTo>
                <a:lnTo>
                  <a:pt x="20241" y="119063"/>
                </a:lnTo>
                <a:lnTo>
                  <a:pt x="74154" y="119063"/>
                </a:lnTo>
                <a:lnTo>
                  <a:pt x="47179" y="72851"/>
                </a:lnTo>
                <a:close/>
                <a:moveTo>
                  <a:pt x="335" y="125425"/>
                </a:moveTo>
                <a:cubicBezTo>
                  <a:pt x="-633" y="121332"/>
                  <a:pt x="707" y="117128"/>
                  <a:pt x="2828" y="113481"/>
                </a:cubicBezTo>
                <a:lnTo>
                  <a:pt x="38249" y="52760"/>
                </a:lnTo>
                <a:cubicBezTo>
                  <a:pt x="40109" y="49560"/>
                  <a:pt x="43532" y="47625"/>
                  <a:pt x="47216" y="47625"/>
                </a:cubicBezTo>
                <a:cubicBezTo>
                  <a:pt x="50899" y="47625"/>
                  <a:pt x="54322" y="49597"/>
                  <a:pt x="56183" y="52760"/>
                </a:cubicBezTo>
                <a:lnTo>
                  <a:pt x="91604" y="113481"/>
                </a:lnTo>
                <a:cubicBezTo>
                  <a:pt x="93725" y="117128"/>
                  <a:pt x="95064" y="121332"/>
                  <a:pt x="94097" y="125425"/>
                </a:cubicBezTo>
                <a:cubicBezTo>
                  <a:pt x="90078" y="142094"/>
                  <a:pt x="70619" y="154781"/>
                  <a:pt x="47216" y="154781"/>
                </a:cubicBezTo>
                <a:cubicBezTo>
                  <a:pt x="23812" y="154781"/>
                  <a:pt x="4353" y="142131"/>
                  <a:pt x="335" y="125425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6" name="Text 34"/>
          <p:cNvSpPr/>
          <p:nvPr/>
        </p:nvSpPr>
        <p:spPr>
          <a:xfrm>
            <a:off x="8928021" y="1409700"/>
            <a:ext cx="158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Trade-off Accepted</a:t>
            </a:r>
            <a:endParaRPr lang="en-US" sz="1600"/>
          </a:p>
        </p:txBody>
      </p:sp>
      <p:sp>
        <p:nvSpPr>
          <p:cNvPr id="37" name="Text 35"/>
          <p:cNvSpPr/>
          <p:nvPr/>
        </p:nvSpPr>
        <p:spPr>
          <a:xfrm>
            <a:off x="8356521" y="1981200"/>
            <a:ext cx="33432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Lower overall accuracy</a:t>
            </a:r>
            <a:r>
              <a:rPr lang="en-US" sz="120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(72% → 68%) accepted for </a:t>
            </a:r>
            <a:r>
              <a:rPr lang="en-US" sz="12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better real-world impact</a:t>
            </a:r>
            <a:r>
              <a:rPr lang="en-US" sz="120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identifying high-risk patients</a:t>
            </a:r>
            <a:endParaRPr lang="en-US" sz="1600"/>
          </a:p>
        </p:txBody>
      </p:sp>
      <p:sp>
        <p:nvSpPr>
          <p:cNvPr id="38" name="Shape 36"/>
          <p:cNvSpPr/>
          <p:nvPr/>
        </p:nvSpPr>
        <p:spPr>
          <a:xfrm>
            <a:off x="8127921" y="3067050"/>
            <a:ext cx="3686175" cy="2000250"/>
          </a:xfrm>
          <a:custGeom>
            <a:avLst/>
            <a:gdLst/>
            <a:ahLst/>
            <a:cxnLst/>
            <a:rect l="l" t="t" r="r" b="b"/>
            <a:pathLst>
              <a:path w="3686175" h="2000250">
                <a:moveTo>
                  <a:pt x="114294" y="0"/>
                </a:moveTo>
                <a:lnTo>
                  <a:pt x="3571881" y="0"/>
                </a:lnTo>
                <a:cubicBezTo>
                  <a:pt x="3634961" y="0"/>
                  <a:pt x="3686175" y="51214"/>
                  <a:pt x="3686175" y="114294"/>
                </a:cubicBezTo>
                <a:lnTo>
                  <a:pt x="3686175" y="1885956"/>
                </a:lnTo>
                <a:cubicBezTo>
                  <a:pt x="3686175" y="1949036"/>
                  <a:pt x="3634961" y="2000250"/>
                  <a:pt x="3571881" y="2000250"/>
                </a:cubicBezTo>
                <a:lnTo>
                  <a:pt x="114294" y="2000250"/>
                </a:lnTo>
                <a:cubicBezTo>
                  <a:pt x="51214" y="2000250"/>
                  <a:pt x="0" y="1949036"/>
                  <a:pt x="0" y="1885956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9" name="Shape 37"/>
          <p:cNvSpPr/>
          <p:nvPr/>
        </p:nvSpPr>
        <p:spPr>
          <a:xfrm>
            <a:off x="8356521" y="33147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8756571" y="3295650"/>
            <a:ext cx="114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Drivers</a:t>
            </a:r>
            <a:endParaRPr lang="en-US" sz="1600"/>
          </a:p>
        </p:txBody>
      </p:sp>
      <p:sp>
        <p:nvSpPr>
          <p:cNvPr id="41" name="Text 39"/>
          <p:cNvSpPr/>
          <p:nvPr/>
        </p:nvSpPr>
        <p:spPr>
          <a:xfrm>
            <a:off x="8356521" y="3714750"/>
            <a:ext cx="33051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performance driven by three key factors:</a:t>
            </a:r>
            <a:endParaRPr lang="en-US" sz="1600"/>
          </a:p>
        </p:txBody>
      </p:sp>
      <p:sp>
        <p:nvSpPr>
          <p:cNvPr id="42" name="Shape 40"/>
          <p:cNvSpPr/>
          <p:nvPr/>
        </p:nvSpPr>
        <p:spPr>
          <a:xfrm>
            <a:off x="8375571" y="41433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8599408" y="4114800"/>
            <a:ext cx="163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Prior cost</a:t>
            </a:r>
            <a:r>
              <a:rPr lang="en-US" sz="105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(TOTEXPY1_adj)</a:t>
            </a:r>
            <a:endParaRPr lang="en-US" sz="1600"/>
          </a:p>
        </p:txBody>
      </p:sp>
      <p:sp>
        <p:nvSpPr>
          <p:cNvPr id="44" name="Shape 42"/>
          <p:cNvSpPr/>
          <p:nvPr/>
        </p:nvSpPr>
        <p:spPr>
          <a:xfrm>
            <a:off x="8375571" y="44100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8599408" y="4381500"/>
            <a:ext cx="271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Healthcare utilization</a:t>
            </a:r>
            <a:r>
              <a:rPr lang="en-US" sz="105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(RXTOTY1, OBTOTVY1)</a:t>
            </a:r>
            <a:endParaRPr lang="en-US" sz="1600"/>
          </a:p>
        </p:txBody>
      </p:sp>
      <p:sp>
        <p:nvSpPr>
          <p:cNvPr id="46" name="Shape 44"/>
          <p:cNvSpPr/>
          <p:nvPr/>
        </p:nvSpPr>
        <p:spPr>
          <a:xfrm>
            <a:off x="8375571" y="46767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8599408" y="4648200"/>
            <a:ext cx="2552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Chronic burden</a:t>
            </a:r>
            <a:r>
              <a:rPr lang="en-US" sz="105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(total_chronic_conditions)</a:t>
            </a:r>
            <a:endParaRPr lang="en-US" sz="160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780" y="361780"/>
            <a:ext cx="11531751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kern="0" spc="5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1600"/>
          </a:p>
        </p:txBody>
      </p:sp>
      <p:sp>
        <p:nvSpPr>
          <p:cNvPr id="3" name="Text 1"/>
          <p:cNvSpPr/>
          <p:nvPr/>
        </p:nvSpPr>
        <p:spPr>
          <a:xfrm>
            <a:off x="361780" y="615027"/>
            <a:ext cx="11631240" cy="36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64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 &amp; Policy Implications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361780" y="1157697"/>
            <a:ext cx="5625685" cy="2387751"/>
          </a:xfrm>
          <a:custGeom>
            <a:avLst/>
            <a:gdLst/>
            <a:ahLst/>
            <a:cxnLst/>
            <a:rect l="l" t="t" r="r" b="b"/>
            <a:pathLst>
              <a:path w="5625685" h="2387751">
                <a:moveTo>
                  <a:pt x="108523" y="0"/>
                </a:moveTo>
                <a:lnTo>
                  <a:pt x="5517162" y="0"/>
                </a:lnTo>
                <a:cubicBezTo>
                  <a:pt x="5577098" y="0"/>
                  <a:pt x="5625685" y="48588"/>
                  <a:pt x="5625685" y="108523"/>
                </a:cubicBezTo>
                <a:lnTo>
                  <a:pt x="5625685" y="2279227"/>
                </a:lnTo>
                <a:cubicBezTo>
                  <a:pt x="5625685" y="2339163"/>
                  <a:pt x="5577098" y="2387751"/>
                  <a:pt x="5517162" y="2387751"/>
                </a:cubicBezTo>
                <a:lnTo>
                  <a:pt x="108523" y="2387751"/>
                </a:lnTo>
                <a:cubicBezTo>
                  <a:pt x="48588" y="2387751"/>
                  <a:pt x="0" y="2339163"/>
                  <a:pt x="0" y="2279227"/>
                </a:cubicBezTo>
                <a:lnTo>
                  <a:pt x="0" y="108523"/>
                </a:lnTo>
                <a:cubicBezTo>
                  <a:pt x="0" y="48588"/>
                  <a:pt x="48588" y="0"/>
                  <a:pt x="108523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" name="Text 3"/>
          <p:cNvSpPr/>
          <p:nvPr/>
        </p:nvSpPr>
        <p:spPr>
          <a:xfrm>
            <a:off x="578849" y="1374766"/>
            <a:ext cx="5281994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4" b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Study Success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578849" y="1772724"/>
            <a:ext cx="5263905" cy="705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9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study successfully developed a </a:t>
            </a:r>
            <a:r>
              <a:rPr lang="en-US" sz="1139" b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longitudinal predictive modeling framework</a:t>
            </a:r>
            <a:r>
              <a:rPr lang="en-US" sz="1139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classify healthcare expenditure levels among non-cancer adults using MEPS data.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578849" y="2622908"/>
            <a:ext cx="5263905" cy="705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9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Through rigorous data preprocessing, feature engineering, and exploratory analysis, the study identified </a:t>
            </a:r>
            <a:r>
              <a:rPr lang="en-US" sz="1139" b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drivers of healthcare costs</a:t>
            </a:r>
            <a:r>
              <a:rPr lang="en-US" sz="1139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prior expenditure, healthcare utilization, and chronic disease burden.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365398" y="3693778"/>
            <a:ext cx="5614832" cy="2557788"/>
          </a:xfrm>
          <a:custGeom>
            <a:avLst/>
            <a:gdLst/>
            <a:ahLst/>
            <a:cxnLst/>
            <a:rect l="l" t="t" r="r" b="b"/>
            <a:pathLst>
              <a:path w="5614832" h="2557788">
                <a:moveTo>
                  <a:pt x="108527" y="0"/>
                </a:moveTo>
                <a:lnTo>
                  <a:pt x="5506305" y="0"/>
                </a:lnTo>
                <a:cubicBezTo>
                  <a:pt x="5566243" y="0"/>
                  <a:pt x="5614832" y="48589"/>
                  <a:pt x="5614832" y="108527"/>
                </a:cubicBezTo>
                <a:lnTo>
                  <a:pt x="5614832" y="2449261"/>
                </a:lnTo>
                <a:cubicBezTo>
                  <a:pt x="5614832" y="2509198"/>
                  <a:pt x="5566243" y="2557788"/>
                  <a:pt x="5506305" y="2557788"/>
                </a:cubicBezTo>
                <a:lnTo>
                  <a:pt x="108527" y="2557788"/>
                </a:lnTo>
                <a:cubicBezTo>
                  <a:pt x="48589" y="2557788"/>
                  <a:pt x="0" y="2509198"/>
                  <a:pt x="0" y="2449261"/>
                </a:cubicBezTo>
                <a:lnTo>
                  <a:pt x="0" y="108527"/>
                </a:lnTo>
                <a:cubicBezTo>
                  <a:pt x="0" y="48629"/>
                  <a:pt x="48629" y="0"/>
                  <a:pt x="10852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9906" y="3878293"/>
            <a:ext cx="5327217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2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Selection Rationale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549906" y="4276252"/>
            <a:ext cx="5318172" cy="705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9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</a:t>
            </a:r>
            <a:r>
              <a:rPr lang="en-US" sz="1139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weighted XGBoost model</a:t>
            </a:r>
            <a:r>
              <a:rPr lang="en-US" sz="1139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was selected due to its superior ability to detect high-cost individuals, the most critical segment for healthcare planning and intervention.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567995" y="5126436"/>
            <a:ext cx="5227727" cy="940629"/>
          </a:xfrm>
          <a:custGeom>
            <a:avLst/>
            <a:gdLst/>
            <a:ahLst/>
            <a:cxnLst/>
            <a:rect l="l" t="t" r="r" b="b"/>
            <a:pathLst>
              <a:path w="5227727" h="940629">
                <a:moveTo>
                  <a:pt x="36178" y="0"/>
                </a:moveTo>
                <a:lnTo>
                  <a:pt x="5155374" y="0"/>
                </a:lnTo>
                <a:cubicBezTo>
                  <a:pt x="5195333" y="0"/>
                  <a:pt x="5227727" y="32394"/>
                  <a:pt x="5227727" y="72353"/>
                </a:cubicBezTo>
                <a:lnTo>
                  <a:pt x="5227727" y="868276"/>
                </a:lnTo>
                <a:cubicBezTo>
                  <a:pt x="5227727" y="908235"/>
                  <a:pt x="5195333" y="940629"/>
                  <a:pt x="5155374" y="940629"/>
                </a:cubicBezTo>
                <a:lnTo>
                  <a:pt x="36178" y="940629"/>
                </a:lnTo>
                <a:cubicBezTo>
                  <a:pt x="16197" y="940629"/>
                  <a:pt x="0" y="924432"/>
                  <a:pt x="0" y="904451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67995" y="5126436"/>
            <a:ext cx="36178" cy="940629"/>
          </a:xfrm>
          <a:custGeom>
            <a:avLst/>
            <a:gdLst/>
            <a:ahLst/>
            <a:cxnLst/>
            <a:rect l="l" t="t" r="r" b="b"/>
            <a:pathLst>
              <a:path w="36178" h="940629">
                <a:moveTo>
                  <a:pt x="36178" y="0"/>
                </a:moveTo>
                <a:lnTo>
                  <a:pt x="36178" y="0"/>
                </a:lnTo>
                <a:lnTo>
                  <a:pt x="36178" y="940629"/>
                </a:lnTo>
                <a:lnTo>
                  <a:pt x="36178" y="940629"/>
                </a:lnTo>
                <a:cubicBezTo>
                  <a:pt x="16197" y="940629"/>
                  <a:pt x="0" y="924432"/>
                  <a:pt x="0" y="904451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3" name="Text 11"/>
          <p:cNvSpPr/>
          <p:nvPr/>
        </p:nvSpPr>
        <p:spPr>
          <a:xfrm>
            <a:off x="730796" y="5271148"/>
            <a:ext cx="4992570" cy="651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Despite a slight reduction in overall accuracy, the model achieved a </a:t>
            </a:r>
            <a:r>
              <a:rPr lang="en-US" sz="1139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substantial improvement in high-cost prediction</a:t>
            </a:r>
            <a:r>
              <a:rPr lang="en-US" sz="1139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highlighting the importance of prioritizing real-world impact over aggregate metrics.</a:t>
            </a:r>
            <a:endParaRPr lang="en-US" sz="1600"/>
          </a:p>
        </p:txBody>
      </p:sp>
      <p:sp>
        <p:nvSpPr>
          <p:cNvPr id="14" name="Shape 12"/>
          <p:cNvSpPr/>
          <p:nvPr/>
        </p:nvSpPr>
        <p:spPr>
          <a:xfrm>
            <a:off x="6206117" y="1161315"/>
            <a:ext cx="5614832" cy="4402868"/>
          </a:xfrm>
          <a:custGeom>
            <a:avLst/>
            <a:gdLst/>
            <a:ahLst/>
            <a:cxnLst/>
            <a:rect l="l" t="t" r="r" b="b"/>
            <a:pathLst>
              <a:path w="5614832" h="4402868">
                <a:moveTo>
                  <a:pt x="108531" y="0"/>
                </a:moveTo>
                <a:lnTo>
                  <a:pt x="5506301" y="0"/>
                </a:lnTo>
                <a:cubicBezTo>
                  <a:pt x="5566241" y="0"/>
                  <a:pt x="5614832" y="48591"/>
                  <a:pt x="5614832" y="108531"/>
                </a:cubicBezTo>
                <a:lnTo>
                  <a:pt x="5614832" y="4294337"/>
                </a:lnTo>
                <a:cubicBezTo>
                  <a:pt x="5614832" y="4354277"/>
                  <a:pt x="5566241" y="4402868"/>
                  <a:pt x="5506301" y="4402868"/>
                </a:cubicBezTo>
                <a:lnTo>
                  <a:pt x="108531" y="4402868"/>
                </a:lnTo>
                <a:cubicBezTo>
                  <a:pt x="48591" y="4402868"/>
                  <a:pt x="0" y="4354277"/>
                  <a:pt x="0" y="4294337"/>
                </a:cubicBezTo>
                <a:lnTo>
                  <a:pt x="0" y="108531"/>
                </a:lnTo>
                <a:cubicBezTo>
                  <a:pt x="0" y="48631"/>
                  <a:pt x="48631" y="0"/>
                  <a:pt x="10853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90625" y="1345830"/>
            <a:ext cx="5327217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2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Policy Implications</a:t>
            </a:r>
            <a:endParaRPr lang="en-US" sz="1600"/>
          </a:p>
        </p:txBody>
      </p:sp>
      <p:sp>
        <p:nvSpPr>
          <p:cNvPr id="16" name="Shape 14"/>
          <p:cNvSpPr/>
          <p:nvPr/>
        </p:nvSpPr>
        <p:spPr>
          <a:xfrm>
            <a:off x="6394243" y="1747406"/>
            <a:ext cx="5244007" cy="911687"/>
          </a:xfrm>
          <a:custGeom>
            <a:avLst/>
            <a:gdLst/>
            <a:ahLst/>
            <a:cxnLst/>
            <a:rect l="l" t="t" r="r" b="b"/>
            <a:pathLst>
              <a:path w="5244007" h="911687">
                <a:moveTo>
                  <a:pt x="72361" y="0"/>
                </a:moveTo>
                <a:lnTo>
                  <a:pt x="5171647" y="0"/>
                </a:lnTo>
                <a:cubicBezTo>
                  <a:pt x="5211610" y="0"/>
                  <a:pt x="5244007" y="32397"/>
                  <a:pt x="5244007" y="72361"/>
                </a:cubicBezTo>
                <a:lnTo>
                  <a:pt x="5244007" y="839326"/>
                </a:lnTo>
                <a:cubicBezTo>
                  <a:pt x="5244007" y="879290"/>
                  <a:pt x="5211610" y="911687"/>
                  <a:pt x="5171647" y="911687"/>
                </a:cubicBezTo>
                <a:lnTo>
                  <a:pt x="72361" y="911687"/>
                </a:lnTo>
                <a:cubicBezTo>
                  <a:pt x="32424" y="911687"/>
                  <a:pt x="0" y="879263"/>
                  <a:pt x="0" y="839326"/>
                </a:cubicBezTo>
                <a:lnTo>
                  <a:pt x="0" y="72361"/>
                </a:lnTo>
                <a:cubicBezTo>
                  <a:pt x="0" y="32424"/>
                  <a:pt x="32424" y="0"/>
                  <a:pt x="72361" y="0"/>
                </a:cubicBezTo>
                <a:close/>
              </a:path>
            </a:pathLst>
          </a:custGeom>
          <a:solidFill>
            <a:srgbClr val="FAFAFA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42573" y="1895726"/>
            <a:ext cx="361780" cy="361780"/>
          </a:xfrm>
          <a:custGeom>
            <a:avLst/>
            <a:gdLst/>
            <a:ahLst/>
            <a:cxnLst/>
            <a:rect l="l" t="t" r="r" b="b"/>
            <a:pathLst>
              <a:path w="361780" h="361780">
                <a:moveTo>
                  <a:pt x="72356" y="0"/>
                </a:moveTo>
                <a:lnTo>
                  <a:pt x="289424" y="0"/>
                </a:lnTo>
                <a:cubicBezTo>
                  <a:pt x="329385" y="0"/>
                  <a:pt x="361780" y="32395"/>
                  <a:pt x="361780" y="72356"/>
                </a:cubicBezTo>
                <a:lnTo>
                  <a:pt x="361780" y="289424"/>
                </a:lnTo>
                <a:cubicBezTo>
                  <a:pt x="361780" y="329385"/>
                  <a:pt x="329385" y="361780"/>
                  <a:pt x="289424" y="361780"/>
                </a:cubicBezTo>
                <a:lnTo>
                  <a:pt x="72356" y="361780"/>
                </a:lnTo>
                <a:cubicBezTo>
                  <a:pt x="32395" y="361780"/>
                  <a:pt x="0" y="329385"/>
                  <a:pt x="0" y="289424"/>
                </a:cubicBezTo>
                <a:lnTo>
                  <a:pt x="0" y="72356"/>
                </a:lnTo>
                <a:cubicBezTo>
                  <a:pt x="0" y="32422"/>
                  <a:pt x="32422" y="0"/>
                  <a:pt x="72356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33018" y="2004260"/>
            <a:ext cx="180890" cy="144712"/>
          </a:xfrm>
          <a:custGeom>
            <a:avLst/>
            <a:gdLst/>
            <a:ahLst/>
            <a:cxnLst/>
            <a:rect l="l" t="t" r="r" b="b"/>
            <a:pathLst>
              <a:path w="180890" h="144712">
                <a:moveTo>
                  <a:pt x="18089" y="18089"/>
                </a:moveTo>
                <a:cubicBezTo>
                  <a:pt x="18089" y="8112"/>
                  <a:pt x="26201" y="0"/>
                  <a:pt x="36178" y="0"/>
                </a:cubicBezTo>
                <a:lnTo>
                  <a:pt x="108534" y="0"/>
                </a:lnTo>
                <a:cubicBezTo>
                  <a:pt x="118511" y="0"/>
                  <a:pt x="126623" y="8112"/>
                  <a:pt x="126623" y="18089"/>
                </a:cubicBezTo>
                <a:lnTo>
                  <a:pt x="126623" y="52373"/>
                </a:lnTo>
                <a:cubicBezTo>
                  <a:pt x="113367" y="57744"/>
                  <a:pt x="104012" y="70745"/>
                  <a:pt x="104012" y="85923"/>
                </a:cubicBezTo>
                <a:cubicBezTo>
                  <a:pt x="104012" y="93752"/>
                  <a:pt x="106499" y="101016"/>
                  <a:pt x="110739" y="106951"/>
                </a:cubicBezTo>
                <a:cubicBezTo>
                  <a:pt x="96183" y="112887"/>
                  <a:pt x="85923" y="127188"/>
                  <a:pt x="85923" y="143893"/>
                </a:cubicBezTo>
                <a:cubicBezTo>
                  <a:pt x="85923" y="144175"/>
                  <a:pt x="85923" y="144430"/>
                  <a:pt x="85923" y="144712"/>
                </a:cubicBezTo>
                <a:lnTo>
                  <a:pt x="36178" y="144712"/>
                </a:lnTo>
                <a:cubicBezTo>
                  <a:pt x="26201" y="144712"/>
                  <a:pt x="18089" y="136600"/>
                  <a:pt x="18089" y="126623"/>
                </a:cubicBezTo>
                <a:lnTo>
                  <a:pt x="18089" y="18089"/>
                </a:lnTo>
                <a:close/>
                <a:moveTo>
                  <a:pt x="58789" y="113056"/>
                </a:moveTo>
                <a:lnTo>
                  <a:pt x="58789" y="131145"/>
                </a:lnTo>
                <a:lnTo>
                  <a:pt x="73882" y="131145"/>
                </a:lnTo>
                <a:cubicBezTo>
                  <a:pt x="75917" y="122836"/>
                  <a:pt x="79903" y="115289"/>
                  <a:pt x="85301" y="109015"/>
                </a:cubicBezTo>
                <a:cubicBezTo>
                  <a:pt x="83577" y="103503"/>
                  <a:pt x="78433" y="99490"/>
                  <a:pt x="72356" y="99490"/>
                </a:cubicBezTo>
                <a:cubicBezTo>
                  <a:pt x="64866" y="99490"/>
                  <a:pt x="58789" y="105566"/>
                  <a:pt x="58789" y="113056"/>
                </a:cubicBezTo>
                <a:close/>
                <a:moveTo>
                  <a:pt x="70095" y="24872"/>
                </a:moveTo>
                <a:cubicBezTo>
                  <a:pt x="67608" y="24872"/>
                  <a:pt x="65573" y="26907"/>
                  <a:pt x="65573" y="29395"/>
                </a:cubicBezTo>
                <a:lnTo>
                  <a:pt x="65573" y="38439"/>
                </a:lnTo>
                <a:lnTo>
                  <a:pt x="56528" y="38439"/>
                </a:lnTo>
                <a:cubicBezTo>
                  <a:pt x="54041" y="38439"/>
                  <a:pt x="52006" y="40474"/>
                  <a:pt x="52006" y="42961"/>
                </a:cubicBezTo>
                <a:lnTo>
                  <a:pt x="52006" y="47484"/>
                </a:lnTo>
                <a:cubicBezTo>
                  <a:pt x="52006" y="49971"/>
                  <a:pt x="54041" y="52006"/>
                  <a:pt x="56528" y="52006"/>
                </a:cubicBezTo>
                <a:lnTo>
                  <a:pt x="65573" y="52006"/>
                </a:lnTo>
                <a:lnTo>
                  <a:pt x="65573" y="61050"/>
                </a:lnTo>
                <a:cubicBezTo>
                  <a:pt x="65573" y="63538"/>
                  <a:pt x="67608" y="65573"/>
                  <a:pt x="70095" y="65573"/>
                </a:cubicBezTo>
                <a:lnTo>
                  <a:pt x="74617" y="65573"/>
                </a:lnTo>
                <a:cubicBezTo>
                  <a:pt x="77104" y="65573"/>
                  <a:pt x="79139" y="63538"/>
                  <a:pt x="79139" y="61050"/>
                </a:cubicBezTo>
                <a:lnTo>
                  <a:pt x="79139" y="52006"/>
                </a:lnTo>
                <a:lnTo>
                  <a:pt x="88184" y="52006"/>
                </a:lnTo>
                <a:cubicBezTo>
                  <a:pt x="90671" y="52006"/>
                  <a:pt x="92706" y="49971"/>
                  <a:pt x="92706" y="47484"/>
                </a:cubicBezTo>
                <a:lnTo>
                  <a:pt x="92706" y="42961"/>
                </a:lnTo>
                <a:cubicBezTo>
                  <a:pt x="92706" y="40474"/>
                  <a:pt x="90671" y="38439"/>
                  <a:pt x="88184" y="38439"/>
                </a:cubicBezTo>
                <a:lnTo>
                  <a:pt x="79139" y="38439"/>
                </a:lnTo>
                <a:lnTo>
                  <a:pt x="79139" y="29395"/>
                </a:lnTo>
                <a:cubicBezTo>
                  <a:pt x="79139" y="26907"/>
                  <a:pt x="77104" y="24872"/>
                  <a:pt x="74617" y="24872"/>
                </a:cubicBezTo>
                <a:lnTo>
                  <a:pt x="70095" y="24872"/>
                </a:lnTo>
                <a:close/>
                <a:moveTo>
                  <a:pt x="117579" y="85923"/>
                </a:moveTo>
                <a:cubicBezTo>
                  <a:pt x="117579" y="73443"/>
                  <a:pt x="127710" y="63312"/>
                  <a:pt x="140190" y="63312"/>
                </a:cubicBezTo>
                <a:cubicBezTo>
                  <a:pt x="152669" y="63312"/>
                  <a:pt x="162801" y="73443"/>
                  <a:pt x="162801" y="85923"/>
                </a:cubicBezTo>
                <a:cubicBezTo>
                  <a:pt x="162801" y="98402"/>
                  <a:pt x="152669" y="108534"/>
                  <a:pt x="140190" y="108534"/>
                </a:cubicBezTo>
                <a:cubicBezTo>
                  <a:pt x="127710" y="108534"/>
                  <a:pt x="117579" y="98402"/>
                  <a:pt x="117579" y="85923"/>
                </a:cubicBezTo>
                <a:close/>
                <a:moveTo>
                  <a:pt x="99490" y="144712"/>
                </a:moveTo>
                <a:cubicBezTo>
                  <a:pt x="99490" y="129732"/>
                  <a:pt x="111643" y="117579"/>
                  <a:pt x="126623" y="117579"/>
                </a:cubicBezTo>
                <a:lnTo>
                  <a:pt x="153757" y="117579"/>
                </a:lnTo>
                <a:cubicBezTo>
                  <a:pt x="168737" y="117579"/>
                  <a:pt x="180890" y="129732"/>
                  <a:pt x="180890" y="144712"/>
                </a:cubicBezTo>
                <a:cubicBezTo>
                  <a:pt x="180890" y="149715"/>
                  <a:pt x="176848" y="153757"/>
                  <a:pt x="171846" y="153757"/>
                </a:cubicBezTo>
                <a:lnTo>
                  <a:pt x="108534" y="153757"/>
                </a:lnTo>
                <a:cubicBezTo>
                  <a:pt x="103531" y="153757"/>
                  <a:pt x="99490" y="149715"/>
                  <a:pt x="99490" y="144712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9" name="Text 17"/>
          <p:cNvSpPr/>
          <p:nvPr/>
        </p:nvSpPr>
        <p:spPr>
          <a:xfrm>
            <a:off x="7012887" y="1895726"/>
            <a:ext cx="4549389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Stratification</a:t>
            </a:r>
            <a:endParaRPr lang="en-US" sz="1600"/>
          </a:p>
        </p:txBody>
      </p:sp>
      <p:sp>
        <p:nvSpPr>
          <p:cNvPr id="20" name="Text 18"/>
          <p:cNvSpPr/>
          <p:nvPr/>
        </p:nvSpPr>
        <p:spPr>
          <a:xfrm>
            <a:off x="7012887" y="2148972"/>
            <a:ext cx="4540344" cy="36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Provides a </a:t>
            </a:r>
            <a:r>
              <a:rPr lang="en-US" sz="997" b="1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robust foundation for healthcare risk stratification</a:t>
            </a:r>
            <a:r>
              <a:rPr lang="en-US" sz="997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enabling early identification of high-cost patients</a:t>
            </a:r>
            <a:endParaRPr lang="en-US" sz="1600"/>
          </a:p>
        </p:txBody>
      </p:sp>
      <p:sp>
        <p:nvSpPr>
          <p:cNvPr id="21" name="Shape 19"/>
          <p:cNvSpPr/>
          <p:nvPr/>
        </p:nvSpPr>
        <p:spPr>
          <a:xfrm>
            <a:off x="6394243" y="2774859"/>
            <a:ext cx="5244007" cy="911687"/>
          </a:xfrm>
          <a:custGeom>
            <a:avLst/>
            <a:gdLst/>
            <a:ahLst/>
            <a:cxnLst/>
            <a:rect l="l" t="t" r="r" b="b"/>
            <a:pathLst>
              <a:path w="5244007" h="911687">
                <a:moveTo>
                  <a:pt x="72361" y="0"/>
                </a:moveTo>
                <a:lnTo>
                  <a:pt x="5171647" y="0"/>
                </a:lnTo>
                <a:cubicBezTo>
                  <a:pt x="5211610" y="0"/>
                  <a:pt x="5244007" y="32397"/>
                  <a:pt x="5244007" y="72361"/>
                </a:cubicBezTo>
                <a:lnTo>
                  <a:pt x="5244007" y="839326"/>
                </a:lnTo>
                <a:cubicBezTo>
                  <a:pt x="5244007" y="879290"/>
                  <a:pt x="5211610" y="911687"/>
                  <a:pt x="5171647" y="911687"/>
                </a:cubicBezTo>
                <a:lnTo>
                  <a:pt x="72361" y="911687"/>
                </a:lnTo>
                <a:cubicBezTo>
                  <a:pt x="32424" y="911687"/>
                  <a:pt x="0" y="879263"/>
                  <a:pt x="0" y="839326"/>
                </a:cubicBezTo>
                <a:lnTo>
                  <a:pt x="0" y="72361"/>
                </a:lnTo>
                <a:cubicBezTo>
                  <a:pt x="0" y="32424"/>
                  <a:pt x="32424" y="0"/>
                  <a:pt x="72361" y="0"/>
                </a:cubicBezTo>
                <a:close/>
              </a:path>
            </a:pathLst>
          </a:custGeom>
          <a:solidFill>
            <a:srgbClr val="FAFAFA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42573" y="2923196"/>
            <a:ext cx="361780" cy="361780"/>
          </a:xfrm>
          <a:custGeom>
            <a:avLst/>
            <a:gdLst/>
            <a:ahLst/>
            <a:cxnLst/>
            <a:rect l="l" t="t" r="r" b="b"/>
            <a:pathLst>
              <a:path w="361780" h="361780">
                <a:moveTo>
                  <a:pt x="72356" y="0"/>
                </a:moveTo>
                <a:lnTo>
                  <a:pt x="289424" y="0"/>
                </a:lnTo>
                <a:cubicBezTo>
                  <a:pt x="329385" y="0"/>
                  <a:pt x="361780" y="32395"/>
                  <a:pt x="361780" y="72356"/>
                </a:cubicBezTo>
                <a:lnTo>
                  <a:pt x="361780" y="289424"/>
                </a:lnTo>
                <a:cubicBezTo>
                  <a:pt x="361780" y="329385"/>
                  <a:pt x="329385" y="361780"/>
                  <a:pt x="289424" y="361780"/>
                </a:cubicBezTo>
                <a:lnTo>
                  <a:pt x="72356" y="361780"/>
                </a:lnTo>
                <a:cubicBezTo>
                  <a:pt x="32395" y="361780"/>
                  <a:pt x="0" y="329385"/>
                  <a:pt x="0" y="289424"/>
                </a:cubicBezTo>
                <a:lnTo>
                  <a:pt x="0" y="72356"/>
                </a:lnTo>
                <a:cubicBezTo>
                  <a:pt x="0" y="32422"/>
                  <a:pt x="32422" y="0"/>
                  <a:pt x="72356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651107" y="3031730"/>
            <a:ext cx="144712" cy="144712"/>
          </a:xfrm>
          <a:custGeom>
            <a:avLst/>
            <a:gdLst/>
            <a:ahLst/>
            <a:cxnLst/>
            <a:rect l="l" t="t" r="r" b="b"/>
            <a:pathLst>
              <a:path w="144712" h="144712">
                <a:moveTo>
                  <a:pt x="126623" y="72356"/>
                </a:moveTo>
                <a:cubicBezTo>
                  <a:pt x="126623" y="42405"/>
                  <a:pt x="102307" y="18089"/>
                  <a:pt x="72356" y="18089"/>
                </a:cubicBezTo>
                <a:cubicBezTo>
                  <a:pt x="42405" y="18089"/>
                  <a:pt x="18089" y="42405"/>
                  <a:pt x="18089" y="72356"/>
                </a:cubicBezTo>
                <a:cubicBezTo>
                  <a:pt x="18089" y="102307"/>
                  <a:pt x="42405" y="126623"/>
                  <a:pt x="72356" y="126623"/>
                </a:cubicBezTo>
                <a:cubicBezTo>
                  <a:pt x="102307" y="126623"/>
                  <a:pt x="126623" y="102307"/>
                  <a:pt x="126623" y="72356"/>
                </a:cubicBezTo>
                <a:close/>
                <a:moveTo>
                  <a:pt x="0" y="72356"/>
                </a:moveTo>
                <a:cubicBezTo>
                  <a:pt x="0" y="32422"/>
                  <a:pt x="32422" y="0"/>
                  <a:pt x="72356" y="0"/>
                </a:cubicBezTo>
                <a:cubicBezTo>
                  <a:pt x="112290" y="0"/>
                  <a:pt x="144712" y="32422"/>
                  <a:pt x="144712" y="72356"/>
                </a:cubicBezTo>
                <a:cubicBezTo>
                  <a:pt x="144712" y="112290"/>
                  <a:pt x="112290" y="144712"/>
                  <a:pt x="72356" y="144712"/>
                </a:cubicBezTo>
                <a:cubicBezTo>
                  <a:pt x="32422" y="144712"/>
                  <a:pt x="0" y="112290"/>
                  <a:pt x="0" y="72356"/>
                </a:cubicBezTo>
                <a:close/>
                <a:moveTo>
                  <a:pt x="72356" y="94967"/>
                </a:moveTo>
                <a:cubicBezTo>
                  <a:pt x="84836" y="94967"/>
                  <a:pt x="94967" y="84836"/>
                  <a:pt x="94967" y="72356"/>
                </a:cubicBezTo>
                <a:cubicBezTo>
                  <a:pt x="94967" y="59877"/>
                  <a:pt x="84836" y="49745"/>
                  <a:pt x="72356" y="49745"/>
                </a:cubicBezTo>
                <a:cubicBezTo>
                  <a:pt x="59877" y="49745"/>
                  <a:pt x="49745" y="59877"/>
                  <a:pt x="49745" y="72356"/>
                </a:cubicBezTo>
                <a:cubicBezTo>
                  <a:pt x="49745" y="84836"/>
                  <a:pt x="59877" y="94967"/>
                  <a:pt x="72356" y="94967"/>
                </a:cubicBezTo>
                <a:close/>
                <a:moveTo>
                  <a:pt x="72356" y="31656"/>
                </a:moveTo>
                <a:cubicBezTo>
                  <a:pt x="94819" y="31656"/>
                  <a:pt x="113056" y="49893"/>
                  <a:pt x="113056" y="72356"/>
                </a:cubicBezTo>
                <a:cubicBezTo>
                  <a:pt x="113056" y="94819"/>
                  <a:pt x="94819" y="113056"/>
                  <a:pt x="72356" y="113056"/>
                </a:cubicBezTo>
                <a:cubicBezTo>
                  <a:pt x="49893" y="113056"/>
                  <a:pt x="31656" y="94819"/>
                  <a:pt x="31656" y="72356"/>
                </a:cubicBezTo>
                <a:cubicBezTo>
                  <a:pt x="31656" y="49893"/>
                  <a:pt x="49893" y="31656"/>
                  <a:pt x="72356" y="31656"/>
                </a:cubicBezTo>
                <a:close/>
                <a:moveTo>
                  <a:pt x="63312" y="72356"/>
                </a:moveTo>
                <a:cubicBezTo>
                  <a:pt x="63312" y="67364"/>
                  <a:pt x="67364" y="63312"/>
                  <a:pt x="72356" y="63312"/>
                </a:cubicBezTo>
                <a:cubicBezTo>
                  <a:pt x="77348" y="63312"/>
                  <a:pt x="81401" y="67364"/>
                  <a:pt x="81401" y="72356"/>
                </a:cubicBezTo>
                <a:cubicBezTo>
                  <a:pt x="81401" y="77348"/>
                  <a:pt x="77348" y="81401"/>
                  <a:pt x="72356" y="81401"/>
                </a:cubicBezTo>
                <a:cubicBezTo>
                  <a:pt x="67364" y="81401"/>
                  <a:pt x="63312" y="77348"/>
                  <a:pt x="63312" y="72356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4" name="Text 22"/>
          <p:cNvSpPr/>
          <p:nvPr/>
        </p:nvSpPr>
        <p:spPr>
          <a:xfrm>
            <a:off x="7012887" y="2923196"/>
            <a:ext cx="4549389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Targeted Interventions</a:t>
            </a:r>
            <a:endParaRPr lang="en-US" sz="1600"/>
          </a:p>
        </p:txBody>
      </p:sp>
      <p:sp>
        <p:nvSpPr>
          <p:cNvPr id="25" name="Text 23"/>
          <p:cNvSpPr/>
          <p:nvPr/>
        </p:nvSpPr>
        <p:spPr>
          <a:xfrm>
            <a:off x="7012887" y="3176443"/>
            <a:ext cx="4540344" cy="36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Enables </a:t>
            </a:r>
            <a:r>
              <a:rPr lang="en-US" sz="997" b="1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targeted intervention strategies</a:t>
            </a:r>
            <a:r>
              <a:rPr lang="en-US" sz="997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the 10% high-cost population driving majority of spending</a:t>
            </a:r>
            <a:endParaRPr lang="en-US" sz="1600"/>
          </a:p>
        </p:txBody>
      </p:sp>
      <p:sp>
        <p:nvSpPr>
          <p:cNvPr id="26" name="Shape 24"/>
          <p:cNvSpPr/>
          <p:nvPr/>
        </p:nvSpPr>
        <p:spPr>
          <a:xfrm>
            <a:off x="6394243" y="3802312"/>
            <a:ext cx="5244007" cy="730796"/>
          </a:xfrm>
          <a:custGeom>
            <a:avLst/>
            <a:gdLst/>
            <a:ahLst/>
            <a:cxnLst/>
            <a:rect l="l" t="t" r="r" b="b"/>
            <a:pathLst>
              <a:path w="5244007" h="730796">
                <a:moveTo>
                  <a:pt x="72356" y="0"/>
                </a:moveTo>
                <a:lnTo>
                  <a:pt x="5171651" y="0"/>
                </a:lnTo>
                <a:cubicBezTo>
                  <a:pt x="5211612" y="0"/>
                  <a:pt x="5244007" y="32395"/>
                  <a:pt x="5244007" y="72356"/>
                </a:cubicBezTo>
                <a:lnTo>
                  <a:pt x="5244007" y="658440"/>
                </a:lnTo>
                <a:cubicBezTo>
                  <a:pt x="5244007" y="698401"/>
                  <a:pt x="5211612" y="730796"/>
                  <a:pt x="5171651" y="730796"/>
                </a:cubicBezTo>
                <a:lnTo>
                  <a:pt x="72356" y="730796"/>
                </a:lnTo>
                <a:cubicBezTo>
                  <a:pt x="32395" y="730796"/>
                  <a:pt x="0" y="698401"/>
                  <a:pt x="0" y="658440"/>
                </a:cubicBezTo>
                <a:lnTo>
                  <a:pt x="0" y="72356"/>
                </a:lnTo>
                <a:cubicBezTo>
                  <a:pt x="0" y="32422"/>
                  <a:pt x="32422" y="0"/>
                  <a:pt x="72356" y="0"/>
                </a:cubicBezTo>
                <a:close/>
              </a:path>
            </a:pathLst>
          </a:custGeom>
          <a:solidFill>
            <a:srgbClr val="FAFAFA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42573" y="3950649"/>
            <a:ext cx="361780" cy="361780"/>
          </a:xfrm>
          <a:custGeom>
            <a:avLst/>
            <a:gdLst/>
            <a:ahLst/>
            <a:cxnLst/>
            <a:rect l="l" t="t" r="r" b="b"/>
            <a:pathLst>
              <a:path w="361780" h="361780">
                <a:moveTo>
                  <a:pt x="72356" y="0"/>
                </a:moveTo>
                <a:lnTo>
                  <a:pt x="289424" y="0"/>
                </a:lnTo>
                <a:cubicBezTo>
                  <a:pt x="329385" y="0"/>
                  <a:pt x="361780" y="32395"/>
                  <a:pt x="361780" y="72356"/>
                </a:cubicBezTo>
                <a:lnTo>
                  <a:pt x="361780" y="289424"/>
                </a:lnTo>
                <a:cubicBezTo>
                  <a:pt x="361780" y="329385"/>
                  <a:pt x="329385" y="361780"/>
                  <a:pt x="289424" y="361780"/>
                </a:cubicBezTo>
                <a:lnTo>
                  <a:pt x="72356" y="361780"/>
                </a:lnTo>
                <a:cubicBezTo>
                  <a:pt x="32395" y="361780"/>
                  <a:pt x="0" y="329385"/>
                  <a:pt x="0" y="289424"/>
                </a:cubicBezTo>
                <a:lnTo>
                  <a:pt x="0" y="72356"/>
                </a:lnTo>
                <a:cubicBezTo>
                  <a:pt x="0" y="32422"/>
                  <a:pt x="32422" y="0"/>
                  <a:pt x="72356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651107" y="4059183"/>
            <a:ext cx="144712" cy="144712"/>
          </a:xfrm>
          <a:custGeom>
            <a:avLst/>
            <a:gdLst/>
            <a:ahLst/>
            <a:cxnLst/>
            <a:rect l="l" t="t" r="r" b="b"/>
            <a:pathLst>
              <a:path w="144712" h="144712">
                <a:moveTo>
                  <a:pt x="36178" y="27134"/>
                </a:moveTo>
                <a:lnTo>
                  <a:pt x="36178" y="22611"/>
                </a:lnTo>
                <a:cubicBezTo>
                  <a:pt x="36178" y="10119"/>
                  <a:pt x="60485" y="0"/>
                  <a:pt x="90445" y="0"/>
                </a:cubicBezTo>
                <a:cubicBezTo>
                  <a:pt x="120405" y="0"/>
                  <a:pt x="144712" y="10119"/>
                  <a:pt x="144712" y="22611"/>
                </a:cubicBezTo>
                <a:lnTo>
                  <a:pt x="144712" y="27134"/>
                </a:lnTo>
                <a:cubicBezTo>
                  <a:pt x="144712" y="35782"/>
                  <a:pt x="133039" y="43301"/>
                  <a:pt x="115883" y="47116"/>
                </a:cubicBezTo>
                <a:cubicBezTo>
                  <a:pt x="115204" y="46325"/>
                  <a:pt x="114498" y="45562"/>
                  <a:pt x="113791" y="44855"/>
                </a:cubicBezTo>
                <a:cubicBezTo>
                  <a:pt x="109410" y="40531"/>
                  <a:pt x="103757" y="37252"/>
                  <a:pt x="97850" y="34821"/>
                </a:cubicBezTo>
                <a:cubicBezTo>
                  <a:pt x="86008" y="29875"/>
                  <a:pt x="70575" y="27162"/>
                  <a:pt x="54267" y="27162"/>
                </a:cubicBezTo>
                <a:cubicBezTo>
                  <a:pt x="48077" y="27162"/>
                  <a:pt x="42029" y="27557"/>
                  <a:pt x="36235" y="28321"/>
                </a:cubicBezTo>
                <a:cubicBezTo>
                  <a:pt x="36178" y="27953"/>
                  <a:pt x="36178" y="27557"/>
                  <a:pt x="36178" y="27162"/>
                </a:cubicBezTo>
                <a:close/>
                <a:moveTo>
                  <a:pt x="122101" y="99772"/>
                </a:moveTo>
                <a:lnTo>
                  <a:pt x="122101" y="86714"/>
                </a:lnTo>
                <a:cubicBezTo>
                  <a:pt x="126369" y="85612"/>
                  <a:pt x="130382" y="84312"/>
                  <a:pt x="134028" y="82786"/>
                </a:cubicBezTo>
                <a:cubicBezTo>
                  <a:pt x="137759" y="81231"/>
                  <a:pt x="141405" y="79337"/>
                  <a:pt x="144712" y="77048"/>
                </a:cubicBezTo>
                <a:lnTo>
                  <a:pt x="144712" y="81401"/>
                </a:lnTo>
                <a:cubicBezTo>
                  <a:pt x="144712" y="88975"/>
                  <a:pt x="135809" y="95674"/>
                  <a:pt x="122101" y="99772"/>
                </a:cubicBezTo>
                <a:close/>
                <a:moveTo>
                  <a:pt x="122101" y="72639"/>
                </a:moveTo>
                <a:lnTo>
                  <a:pt x="122101" y="63312"/>
                </a:lnTo>
                <a:cubicBezTo>
                  <a:pt x="122101" y="62040"/>
                  <a:pt x="121988" y="60824"/>
                  <a:pt x="121818" y="59637"/>
                </a:cubicBezTo>
                <a:cubicBezTo>
                  <a:pt x="126199" y="58535"/>
                  <a:pt x="130297" y="57207"/>
                  <a:pt x="134028" y="55624"/>
                </a:cubicBezTo>
                <a:cubicBezTo>
                  <a:pt x="137759" y="54041"/>
                  <a:pt x="141405" y="52176"/>
                  <a:pt x="144712" y="49886"/>
                </a:cubicBezTo>
                <a:lnTo>
                  <a:pt x="144712" y="54239"/>
                </a:lnTo>
                <a:cubicBezTo>
                  <a:pt x="144712" y="61814"/>
                  <a:pt x="135809" y="68512"/>
                  <a:pt x="122101" y="72610"/>
                </a:cubicBezTo>
                <a:close/>
                <a:moveTo>
                  <a:pt x="0" y="67834"/>
                </a:moveTo>
                <a:lnTo>
                  <a:pt x="0" y="63312"/>
                </a:lnTo>
                <a:cubicBezTo>
                  <a:pt x="0" y="50819"/>
                  <a:pt x="24307" y="40700"/>
                  <a:pt x="54267" y="40700"/>
                </a:cubicBezTo>
                <a:cubicBezTo>
                  <a:pt x="84227" y="40700"/>
                  <a:pt x="108534" y="50819"/>
                  <a:pt x="108534" y="63312"/>
                </a:cubicBezTo>
                <a:lnTo>
                  <a:pt x="108534" y="67834"/>
                </a:lnTo>
                <a:cubicBezTo>
                  <a:pt x="108534" y="80327"/>
                  <a:pt x="84227" y="90445"/>
                  <a:pt x="54267" y="90445"/>
                </a:cubicBezTo>
                <a:cubicBezTo>
                  <a:pt x="24307" y="90445"/>
                  <a:pt x="0" y="80327"/>
                  <a:pt x="0" y="67834"/>
                </a:cubicBezTo>
                <a:close/>
                <a:moveTo>
                  <a:pt x="108534" y="94967"/>
                </a:moveTo>
                <a:cubicBezTo>
                  <a:pt x="108534" y="107460"/>
                  <a:pt x="84227" y="117579"/>
                  <a:pt x="54267" y="117579"/>
                </a:cubicBezTo>
                <a:cubicBezTo>
                  <a:pt x="24307" y="117579"/>
                  <a:pt x="0" y="107460"/>
                  <a:pt x="0" y="94967"/>
                </a:cubicBezTo>
                <a:lnTo>
                  <a:pt x="0" y="90615"/>
                </a:lnTo>
                <a:cubicBezTo>
                  <a:pt x="3279" y="92904"/>
                  <a:pt x="6925" y="94770"/>
                  <a:pt x="10684" y="96352"/>
                </a:cubicBezTo>
                <a:cubicBezTo>
                  <a:pt x="22526" y="101299"/>
                  <a:pt x="37959" y="104012"/>
                  <a:pt x="54267" y="104012"/>
                </a:cubicBezTo>
                <a:cubicBezTo>
                  <a:pt x="70575" y="104012"/>
                  <a:pt x="86008" y="101270"/>
                  <a:pt x="97850" y="96352"/>
                </a:cubicBezTo>
                <a:cubicBezTo>
                  <a:pt x="101581" y="94798"/>
                  <a:pt x="105227" y="92904"/>
                  <a:pt x="108534" y="90615"/>
                </a:cubicBezTo>
                <a:lnTo>
                  <a:pt x="108534" y="94967"/>
                </a:lnTo>
                <a:close/>
                <a:moveTo>
                  <a:pt x="108534" y="117748"/>
                </a:moveTo>
                <a:lnTo>
                  <a:pt x="108534" y="122101"/>
                </a:lnTo>
                <a:cubicBezTo>
                  <a:pt x="108534" y="134594"/>
                  <a:pt x="84227" y="144712"/>
                  <a:pt x="54267" y="144712"/>
                </a:cubicBezTo>
                <a:cubicBezTo>
                  <a:pt x="24307" y="144712"/>
                  <a:pt x="0" y="134594"/>
                  <a:pt x="0" y="122101"/>
                </a:cubicBezTo>
                <a:lnTo>
                  <a:pt x="0" y="117748"/>
                </a:lnTo>
                <a:cubicBezTo>
                  <a:pt x="3279" y="120038"/>
                  <a:pt x="6925" y="121903"/>
                  <a:pt x="10684" y="123486"/>
                </a:cubicBezTo>
                <a:cubicBezTo>
                  <a:pt x="22526" y="128432"/>
                  <a:pt x="37959" y="131145"/>
                  <a:pt x="54267" y="131145"/>
                </a:cubicBezTo>
                <a:cubicBezTo>
                  <a:pt x="70575" y="131145"/>
                  <a:pt x="86008" y="128404"/>
                  <a:pt x="97850" y="123486"/>
                </a:cubicBezTo>
                <a:cubicBezTo>
                  <a:pt x="101581" y="121931"/>
                  <a:pt x="105227" y="120038"/>
                  <a:pt x="108534" y="117748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9" name="Text 27"/>
          <p:cNvSpPr/>
          <p:nvPr/>
        </p:nvSpPr>
        <p:spPr>
          <a:xfrm>
            <a:off x="7012887" y="3950649"/>
            <a:ext cx="4422766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Resource Allocation</a:t>
            </a:r>
            <a:endParaRPr lang="en-US" sz="1600"/>
          </a:p>
        </p:txBody>
      </p:sp>
      <p:sp>
        <p:nvSpPr>
          <p:cNvPr id="30" name="Text 28"/>
          <p:cNvSpPr/>
          <p:nvPr/>
        </p:nvSpPr>
        <p:spPr>
          <a:xfrm>
            <a:off x="7012887" y="4203895"/>
            <a:ext cx="4413721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Offers </a:t>
            </a:r>
            <a:r>
              <a:rPr lang="en-US" sz="997" b="1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valuable insights for resource allocation</a:t>
            </a:r>
            <a:r>
              <a:rPr lang="en-US" sz="997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healthcare budget planning</a:t>
            </a:r>
            <a:endParaRPr lang="en-US" sz="1600"/>
          </a:p>
        </p:txBody>
      </p:sp>
      <p:sp>
        <p:nvSpPr>
          <p:cNvPr id="31" name="Shape 29"/>
          <p:cNvSpPr/>
          <p:nvPr/>
        </p:nvSpPr>
        <p:spPr>
          <a:xfrm>
            <a:off x="6394243" y="4648875"/>
            <a:ext cx="5244007" cy="730796"/>
          </a:xfrm>
          <a:custGeom>
            <a:avLst/>
            <a:gdLst/>
            <a:ahLst/>
            <a:cxnLst/>
            <a:rect l="l" t="t" r="r" b="b"/>
            <a:pathLst>
              <a:path w="5244007" h="730796">
                <a:moveTo>
                  <a:pt x="72356" y="0"/>
                </a:moveTo>
                <a:lnTo>
                  <a:pt x="5171651" y="0"/>
                </a:lnTo>
                <a:cubicBezTo>
                  <a:pt x="5211612" y="0"/>
                  <a:pt x="5244007" y="32395"/>
                  <a:pt x="5244007" y="72356"/>
                </a:cubicBezTo>
                <a:lnTo>
                  <a:pt x="5244007" y="658440"/>
                </a:lnTo>
                <a:cubicBezTo>
                  <a:pt x="5244007" y="698401"/>
                  <a:pt x="5211612" y="730796"/>
                  <a:pt x="5171651" y="730796"/>
                </a:cubicBezTo>
                <a:lnTo>
                  <a:pt x="72356" y="730796"/>
                </a:lnTo>
                <a:cubicBezTo>
                  <a:pt x="32395" y="730796"/>
                  <a:pt x="0" y="698401"/>
                  <a:pt x="0" y="658440"/>
                </a:cubicBezTo>
                <a:lnTo>
                  <a:pt x="0" y="72356"/>
                </a:lnTo>
                <a:cubicBezTo>
                  <a:pt x="0" y="32422"/>
                  <a:pt x="32422" y="0"/>
                  <a:pt x="72356" y="0"/>
                </a:cubicBezTo>
                <a:close/>
              </a:path>
            </a:pathLst>
          </a:custGeom>
          <a:solidFill>
            <a:srgbClr val="FAFAFA"/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42573" y="4797212"/>
            <a:ext cx="361780" cy="361780"/>
          </a:xfrm>
          <a:custGeom>
            <a:avLst/>
            <a:gdLst/>
            <a:ahLst/>
            <a:cxnLst/>
            <a:rect l="l" t="t" r="r" b="b"/>
            <a:pathLst>
              <a:path w="361780" h="361780">
                <a:moveTo>
                  <a:pt x="72356" y="0"/>
                </a:moveTo>
                <a:lnTo>
                  <a:pt x="289424" y="0"/>
                </a:lnTo>
                <a:cubicBezTo>
                  <a:pt x="329385" y="0"/>
                  <a:pt x="361780" y="32395"/>
                  <a:pt x="361780" y="72356"/>
                </a:cubicBezTo>
                <a:lnTo>
                  <a:pt x="361780" y="289424"/>
                </a:lnTo>
                <a:cubicBezTo>
                  <a:pt x="361780" y="329385"/>
                  <a:pt x="329385" y="361780"/>
                  <a:pt x="289424" y="361780"/>
                </a:cubicBezTo>
                <a:lnTo>
                  <a:pt x="72356" y="361780"/>
                </a:lnTo>
                <a:cubicBezTo>
                  <a:pt x="32395" y="361780"/>
                  <a:pt x="0" y="329385"/>
                  <a:pt x="0" y="289424"/>
                </a:cubicBezTo>
                <a:lnTo>
                  <a:pt x="0" y="72356"/>
                </a:lnTo>
                <a:cubicBezTo>
                  <a:pt x="0" y="32422"/>
                  <a:pt x="32422" y="0"/>
                  <a:pt x="72356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651107" y="4905746"/>
            <a:ext cx="144712" cy="144712"/>
          </a:xfrm>
          <a:custGeom>
            <a:avLst/>
            <a:gdLst/>
            <a:ahLst/>
            <a:cxnLst/>
            <a:rect l="l" t="t" r="r" b="b"/>
            <a:pathLst>
              <a:path w="144712" h="144712">
                <a:moveTo>
                  <a:pt x="72356" y="0"/>
                </a:moveTo>
                <a:cubicBezTo>
                  <a:pt x="73656" y="0"/>
                  <a:pt x="74956" y="283"/>
                  <a:pt x="76143" y="820"/>
                </a:cubicBezTo>
                <a:lnTo>
                  <a:pt x="129393" y="23403"/>
                </a:lnTo>
                <a:cubicBezTo>
                  <a:pt x="135611" y="26031"/>
                  <a:pt x="140246" y="32165"/>
                  <a:pt x="140218" y="39570"/>
                </a:cubicBezTo>
                <a:cubicBezTo>
                  <a:pt x="140077" y="67608"/>
                  <a:pt x="128545" y="118907"/>
                  <a:pt x="79846" y="142225"/>
                </a:cubicBezTo>
                <a:cubicBezTo>
                  <a:pt x="75126" y="144486"/>
                  <a:pt x="69643" y="144486"/>
                  <a:pt x="64923" y="142225"/>
                </a:cubicBezTo>
                <a:cubicBezTo>
                  <a:pt x="16195" y="118907"/>
                  <a:pt x="4692" y="67608"/>
                  <a:pt x="4551" y="39570"/>
                </a:cubicBezTo>
                <a:cubicBezTo>
                  <a:pt x="4522" y="32165"/>
                  <a:pt x="9158" y="26031"/>
                  <a:pt x="15376" y="23403"/>
                </a:cubicBezTo>
                <a:lnTo>
                  <a:pt x="68597" y="820"/>
                </a:lnTo>
                <a:cubicBezTo>
                  <a:pt x="69784" y="283"/>
                  <a:pt x="71056" y="0"/>
                  <a:pt x="72356" y="0"/>
                </a:cubicBezTo>
                <a:close/>
                <a:moveTo>
                  <a:pt x="72356" y="18880"/>
                </a:moveTo>
                <a:lnTo>
                  <a:pt x="72356" y="125747"/>
                </a:lnTo>
                <a:cubicBezTo>
                  <a:pt x="111361" y="106867"/>
                  <a:pt x="121847" y="65036"/>
                  <a:pt x="122101" y="39994"/>
                </a:cubicBezTo>
                <a:lnTo>
                  <a:pt x="72356" y="18909"/>
                </a:lnTo>
                <a:lnTo>
                  <a:pt x="72356" y="18909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4" name="Text 32"/>
          <p:cNvSpPr/>
          <p:nvPr/>
        </p:nvSpPr>
        <p:spPr>
          <a:xfrm>
            <a:off x="7012887" y="4797212"/>
            <a:ext cx="3979585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Insurance Planning</a:t>
            </a:r>
            <a:endParaRPr lang="en-US" sz="1600"/>
          </a:p>
        </p:txBody>
      </p:sp>
      <p:sp>
        <p:nvSpPr>
          <p:cNvPr id="35" name="Text 33"/>
          <p:cNvSpPr/>
          <p:nvPr/>
        </p:nvSpPr>
        <p:spPr>
          <a:xfrm>
            <a:off x="7012887" y="5050458"/>
            <a:ext cx="3970540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Informs </a:t>
            </a:r>
            <a:r>
              <a:rPr lang="en-US" sz="997" b="1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payer mix strategies</a:t>
            </a:r>
            <a:r>
              <a:rPr lang="en-US" sz="997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coverage planning across age groups</a:t>
            </a:r>
            <a:endParaRPr lang="en-US" sz="1600"/>
          </a:p>
        </p:txBody>
      </p:sp>
      <p:sp>
        <p:nvSpPr>
          <p:cNvPr id="36" name="Shape 34"/>
          <p:cNvSpPr/>
          <p:nvPr/>
        </p:nvSpPr>
        <p:spPr>
          <a:xfrm>
            <a:off x="6206117" y="5719748"/>
            <a:ext cx="5614832" cy="730796"/>
          </a:xfrm>
          <a:custGeom>
            <a:avLst/>
            <a:gdLst/>
            <a:ahLst/>
            <a:cxnLst/>
            <a:rect l="l" t="t" r="r" b="b"/>
            <a:pathLst>
              <a:path w="5614832" h="730796">
                <a:moveTo>
                  <a:pt x="108531" y="0"/>
                </a:moveTo>
                <a:lnTo>
                  <a:pt x="5506301" y="0"/>
                </a:lnTo>
                <a:cubicBezTo>
                  <a:pt x="5566241" y="0"/>
                  <a:pt x="5614832" y="48591"/>
                  <a:pt x="5614832" y="108531"/>
                </a:cubicBezTo>
                <a:lnTo>
                  <a:pt x="5614832" y="622266"/>
                </a:lnTo>
                <a:cubicBezTo>
                  <a:pt x="5614832" y="682206"/>
                  <a:pt x="5566241" y="730796"/>
                  <a:pt x="5506301" y="730796"/>
                </a:cubicBezTo>
                <a:lnTo>
                  <a:pt x="108531" y="730796"/>
                </a:lnTo>
                <a:cubicBezTo>
                  <a:pt x="48631" y="730796"/>
                  <a:pt x="0" y="682166"/>
                  <a:pt x="0" y="622266"/>
                </a:cubicBezTo>
                <a:lnTo>
                  <a:pt x="0" y="108531"/>
                </a:lnTo>
                <a:cubicBezTo>
                  <a:pt x="0" y="48631"/>
                  <a:pt x="48631" y="0"/>
                  <a:pt x="108531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 w="10160">
            <a:solidFill>
              <a:srgbClr val="0071E3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90625" y="5897021"/>
            <a:ext cx="108534" cy="144712"/>
          </a:xfrm>
          <a:custGeom>
            <a:avLst/>
            <a:gdLst/>
            <a:ahLst/>
            <a:cxnLst/>
            <a:rect l="l" t="t" r="r" b="b"/>
            <a:pathLst>
              <a:path w="108534" h="144712">
                <a:moveTo>
                  <a:pt x="82786" y="108534"/>
                </a:moveTo>
                <a:cubicBezTo>
                  <a:pt x="84849" y="102231"/>
                  <a:pt x="88975" y="96522"/>
                  <a:pt x="93639" y="91604"/>
                </a:cubicBezTo>
                <a:cubicBezTo>
                  <a:pt x="102881" y="81881"/>
                  <a:pt x="108534" y="68738"/>
                  <a:pt x="108534" y="54267"/>
                </a:cubicBezTo>
                <a:cubicBezTo>
                  <a:pt x="108534" y="24307"/>
                  <a:pt x="84227" y="0"/>
                  <a:pt x="54267" y="0"/>
                </a:cubicBezTo>
                <a:cubicBezTo>
                  <a:pt x="24307" y="0"/>
                  <a:pt x="0" y="24307"/>
                  <a:pt x="0" y="54267"/>
                </a:cubicBezTo>
                <a:cubicBezTo>
                  <a:pt x="0" y="68738"/>
                  <a:pt x="5653" y="81881"/>
                  <a:pt x="14895" y="91604"/>
                </a:cubicBezTo>
                <a:cubicBezTo>
                  <a:pt x="19559" y="96522"/>
                  <a:pt x="23714" y="102231"/>
                  <a:pt x="25749" y="108534"/>
                </a:cubicBezTo>
                <a:lnTo>
                  <a:pt x="82757" y="108534"/>
                </a:lnTo>
                <a:close/>
                <a:moveTo>
                  <a:pt x="81401" y="122101"/>
                </a:moveTo>
                <a:lnTo>
                  <a:pt x="27134" y="122101"/>
                </a:lnTo>
                <a:lnTo>
                  <a:pt x="27134" y="126623"/>
                </a:lnTo>
                <a:cubicBezTo>
                  <a:pt x="27134" y="139116"/>
                  <a:pt x="37252" y="149234"/>
                  <a:pt x="49745" y="149234"/>
                </a:cubicBezTo>
                <a:lnTo>
                  <a:pt x="58789" y="149234"/>
                </a:lnTo>
                <a:cubicBezTo>
                  <a:pt x="71282" y="149234"/>
                  <a:pt x="81401" y="139116"/>
                  <a:pt x="81401" y="126623"/>
                </a:cubicBezTo>
                <a:lnTo>
                  <a:pt x="81401" y="122101"/>
                </a:lnTo>
                <a:close/>
                <a:moveTo>
                  <a:pt x="52006" y="31656"/>
                </a:moveTo>
                <a:cubicBezTo>
                  <a:pt x="40757" y="31656"/>
                  <a:pt x="31656" y="40757"/>
                  <a:pt x="31656" y="52006"/>
                </a:cubicBezTo>
                <a:cubicBezTo>
                  <a:pt x="31656" y="55765"/>
                  <a:pt x="28632" y="58789"/>
                  <a:pt x="24872" y="58789"/>
                </a:cubicBezTo>
                <a:cubicBezTo>
                  <a:pt x="21113" y="58789"/>
                  <a:pt x="18089" y="55765"/>
                  <a:pt x="18089" y="52006"/>
                </a:cubicBezTo>
                <a:cubicBezTo>
                  <a:pt x="18089" y="33267"/>
                  <a:pt x="33267" y="18089"/>
                  <a:pt x="52006" y="18089"/>
                </a:cubicBezTo>
                <a:cubicBezTo>
                  <a:pt x="55765" y="18089"/>
                  <a:pt x="58789" y="21113"/>
                  <a:pt x="58789" y="24872"/>
                </a:cubicBezTo>
                <a:cubicBezTo>
                  <a:pt x="58789" y="28632"/>
                  <a:pt x="55765" y="31656"/>
                  <a:pt x="52006" y="31656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8" name="Text 36"/>
          <p:cNvSpPr/>
          <p:nvPr/>
        </p:nvSpPr>
        <p:spPr>
          <a:xfrm>
            <a:off x="6586867" y="5868085"/>
            <a:ext cx="5158108" cy="434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Impact:</a:t>
            </a:r>
            <a:r>
              <a:rPr lang="en-US" sz="1139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This framework can be extended to other populations and integrated into clinical decision support systems for proactive care management.</a:t>
            </a:r>
            <a:endParaRPr lang="en-US" sz="160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5E2B3F5C-4C20-87AC-DA3C-DF5B585E637A}"/>
              </a:ext>
            </a:extLst>
          </p:cNvPr>
          <p:cNvSpPr/>
          <p:nvPr/>
        </p:nvSpPr>
        <p:spPr>
          <a:xfrm>
            <a:off x="361780" y="361780"/>
            <a:ext cx="11531751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kern="0" spc="50" dirty="0">
                <a:solidFill>
                  <a:srgbClr val="0071E3"/>
                </a:solidFill>
                <a:latin typeface="Liter"/>
              </a:rPr>
              <a:t>Referen</a:t>
            </a:r>
            <a:r>
              <a:rPr lang="en-US" sz="950" b="1" kern="0" spc="50">
                <a:solidFill>
                  <a:srgbClr val="0071E3"/>
                </a:solidFill>
                <a:latin typeface="Liter"/>
              </a:rPr>
              <a:t>ce</a:t>
            </a:r>
            <a:endParaRPr lang="en-US" sz="160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E60EEFE7-DA9D-77C7-25A4-BAD48DF13776}"/>
              </a:ext>
            </a:extLst>
          </p:cNvPr>
          <p:cNvSpPr/>
          <p:nvPr/>
        </p:nvSpPr>
        <p:spPr>
          <a:xfrm>
            <a:off x="361780" y="615027"/>
            <a:ext cx="11631240" cy="36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50" b="1">
                <a:solidFill>
                  <a:srgbClr val="1D1D1D"/>
                </a:solidFill>
                <a:latin typeface="Liter"/>
              </a:rPr>
              <a:t>References</a:t>
            </a:r>
            <a:endParaRPr lang="en-US" dirty="0" err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3D9575-7880-518A-B5A3-CB6780379EA7}"/>
              </a:ext>
            </a:extLst>
          </p:cNvPr>
          <p:cNvSpPr txBox="1"/>
          <p:nvPr/>
        </p:nvSpPr>
        <p:spPr>
          <a:xfrm>
            <a:off x="357482" y="1152407"/>
            <a:ext cx="11420592" cy="35702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/>
              <a:t>Agency for Healthcare Research and Quality (AHRQ). Medical Expenditure Panel Survey (MEPS). </a:t>
            </a:r>
            <a:r>
              <a:rPr lang="en-US" sz="1600" dirty="0">
                <a:hlinkClick r:id="rId2"/>
              </a:rPr>
              <a:t>https://meps.ahrq.gov/</a:t>
            </a:r>
            <a:r>
              <a:rPr lang="en-US" sz="1600" dirty="0"/>
              <a:t> </a:t>
            </a:r>
            <a:endParaRPr lang="en-US" sz="1600">
              <a:ea typeface="Calibri" panose="020F0502020204030204"/>
              <a:cs typeface="Calibri" panose="020F0502020204030204"/>
            </a:endParaRPr>
          </a:p>
          <a:p>
            <a:pPr marL="57150" indent="-285750">
              <a:buFont typeface="Arial"/>
              <a:buChar char="•"/>
            </a:pPr>
            <a:r>
              <a:rPr lang="en-US" sz="1600"/>
              <a:t>Federal Reserve Bank of Minneapolis. (n.d.). </a:t>
            </a:r>
            <a:r>
              <a:rPr lang="en-US" sz="1600" i="1">
                <a:latin typeface="Calibri"/>
                <a:ea typeface="Calibri"/>
                <a:cs typeface="Calibri"/>
              </a:rPr>
              <a:t>Consumer price index, 1913–</a:t>
            </a:r>
            <a:r>
              <a:rPr lang="en-US" sz="1600"/>
              <a:t>. </a:t>
            </a:r>
            <a:r>
              <a:rPr lang="en-US" sz="1600" dirty="0">
                <a:hlinkClick r:id="rId3"/>
              </a:rPr>
              <a:t>https://www.minneapolisfed.org/about-us/monetary-policy/inflation-calculator/consumer-price-index-1913-</a:t>
            </a:r>
            <a:endParaRPr lang="en-US" sz="1600">
              <a:ea typeface="Calibri"/>
              <a:cs typeface="Calibri"/>
              <a:hlinkClick r:id=""/>
            </a:endParaRPr>
          </a:p>
          <a:p>
            <a:pPr marL="57150" indent="-285750">
              <a:buFont typeface="Arial"/>
              <a:buChar char="•"/>
            </a:pPr>
            <a:r>
              <a:rPr lang="en-US" sz="1600"/>
              <a:t>Wang, J., &amp; Shi, L. (2020). Prediction of medical expenditures of diagnosed diabetics and the assessment of its related factors using a random forest model, MEPS 2000–2015. International Journal for Quality in Health Care, 32(2), 99–112. </a:t>
            </a:r>
            <a:r>
              <a:rPr lang="en-US" sz="1600" dirty="0">
                <a:hlinkClick r:id="rId4"/>
              </a:rPr>
              <a:t>https://doi.org/10.1093/intqhc/mzz135</a:t>
            </a:r>
            <a:r>
              <a:rPr lang="en-US" sz="1600" dirty="0"/>
              <a:t> </a:t>
            </a:r>
            <a:endParaRPr lang="en-US" sz="1600">
              <a:ea typeface="Calibri"/>
              <a:cs typeface="Calibri"/>
            </a:endParaRPr>
          </a:p>
          <a:p>
            <a:pPr marL="57150" indent="-285750">
              <a:buFont typeface="Arial"/>
              <a:buChar char="•"/>
            </a:pPr>
            <a:r>
              <a:rPr lang="en-US" sz="1600"/>
              <a:t>Bloniarz, A., Karwa, V., &amp; Scott, C. (2022). A two-stage super learner for healthcare expenditures. Statistics and Its Interface, 15(4), 489–503. </a:t>
            </a:r>
            <a:r>
              <a:rPr lang="en-US" sz="1600" dirty="0">
                <a:hlinkClick r:id="rId5"/>
              </a:rPr>
              <a:t>https://doi.org/10.1007/s10742-022-00275-x</a:t>
            </a:r>
            <a:r>
              <a:rPr lang="en-US" sz="1600" dirty="0"/>
              <a:t> </a:t>
            </a:r>
            <a:endParaRPr lang="en-US" sz="1600">
              <a:ea typeface="Calibri"/>
              <a:cs typeface="Calibri"/>
            </a:endParaRPr>
          </a:p>
          <a:p>
            <a:pPr marL="57150" indent="-285750">
              <a:buFont typeface="Arial"/>
              <a:buChar char="•"/>
            </a:pPr>
            <a:r>
              <a:rPr lang="en-US" sz="1600" dirty="0"/>
              <a:t>McClellan, C., Mitchell, E., Anderson, J., &amp; </a:t>
            </a:r>
            <a:r>
              <a:rPr lang="en-US" sz="1600" dirty="0" err="1"/>
              <a:t>Zuvekas</a:t>
            </a:r>
            <a:r>
              <a:rPr lang="en-US" sz="1600" dirty="0"/>
              <a:t>, S. (2023). Using machine-learning algorithms to improve imputation in the Medical Expenditure Panel Survey. Health Services Research, 58(2), 423–432. </a:t>
            </a:r>
            <a:r>
              <a:rPr lang="en-US" sz="1600" dirty="0">
                <a:hlinkClick r:id="rId6"/>
              </a:rPr>
              <a:t>https://doi.org/10.1111/1475-6773.14115</a:t>
            </a:r>
            <a:r>
              <a:rPr lang="en-US" sz="1600" dirty="0"/>
              <a:t> </a:t>
            </a:r>
            <a:endParaRPr lang="en-US" sz="1600">
              <a:ea typeface="Calibri"/>
              <a:cs typeface="Calibri"/>
            </a:endParaRPr>
          </a:p>
          <a:p>
            <a:pPr marL="57150" indent="-285750">
              <a:buFont typeface="Arial"/>
              <a:buChar char="•"/>
            </a:pPr>
            <a:r>
              <a:rPr lang="en-US" sz="1600" dirty="0"/>
              <a:t>Petrović, I., </a:t>
            </a:r>
            <a:r>
              <a:rPr lang="en-US" sz="1600" dirty="0" err="1"/>
              <a:t>Njegovan</a:t>
            </a:r>
            <a:r>
              <a:rPr lang="en-US" sz="1600" dirty="0"/>
              <a:t>, S., Tomašević, O., Vlahović, D., Rajić, S., </a:t>
            </a:r>
            <a:r>
              <a:rPr lang="en-US" sz="1600" dirty="0" err="1"/>
              <a:t>Živanović</a:t>
            </a:r>
            <a:r>
              <a:rPr lang="en-US" sz="1600" dirty="0"/>
              <a:t>, Ž., ... &amp; </a:t>
            </a:r>
            <a:r>
              <a:rPr lang="en-US" sz="1600" dirty="0" err="1"/>
              <a:t>Jorgovanović</a:t>
            </a:r>
            <a:r>
              <a:rPr lang="en-US" sz="1600" dirty="0"/>
              <a:t>, N. (2025). Dynamic, Interpretable, Machine Learning–Based Outcome Prediction as a New Emerging Opportunity in Acute Ischemic Stroke Patient Care: A Proof‐of‐Concept Study. Stroke Research and Treatment, 2025(1), 3561616. </a:t>
            </a:r>
            <a:r>
              <a:rPr lang="en-US" sz="1600" dirty="0">
                <a:hlinkClick r:id="rId7"/>
              </a:rPr>
              <a:t>https://doi.org/10.1155/srat/3561616</a:t>
            </a:r>
            <a:r>
              <a:rPr lang="en-US" sz="1600" dirty="0"/>
              <a:t> </a:t>
            </a:r>
            <a:endParaRPr lang="en-US" sz="1600" dirty="0">
              <a:ea typeface="Calibri"/>
              <a:cs typeface="Calibri"/>
            </a:endParaRPr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15653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-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AFAFA">
                  <a:alpha val="95000"/>
                </a:srgbClr>
              </a:gs>
              <a:gs pos="50000">
                <a:srgbClr val="FAFAFA">
                  <a:alpha val="90000"/>
                </a:srgbClr>
              </a:gs>
              <a:gs pos="100000">
                <a:srgbClr val="0071E3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638681" y="1011566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867281" y="124016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96351"/>
                </a:moveTo>
                <a:lnTo>
                  <a:pt x="215205" y="77778"/>
                </a:lnTo>
                <a:cubicBezTo>
                  <a:pt x="192881" y="46881"/>
                  <a:pt x="157073" y="28575"/>
                  <a:pt x="118854" y="28575"/>
                </a:cubicBezTo>
                <a:cubicBezTo>
                  <a:pt x="53221" y="28575"/>
                  <a:pt x="0" y="81796"/>
                  <a:pt x="0" y="147429"/>
                </a:cubicBezTo>
                <a:lnTo>
                  <a:pt x="0" y="149751"/>
                </a:lnTo>
                <a:cubicBezTo>
                  <a:pt x="0" y="170825"/>
                  <a:pt x="5536" y="192613"/>
                  <a:pt x="14823" y="214313"/>
                </a:cubicBezTo>
                <a:lnTo>
                  <a:pt x="109478" y="214313"/>
                </a:lnTo>
                <a:cubicBezTo>
                  <a:pt x="112335" y="214313"/>
                  <a:pt x="114925" y="212616"/>
                  <a:pt x="116086" y="209937"/>
                </a:cubicBezTo>
                <a:lnTo>
                  <a:pt x="144482" y="141803"/>
                </a:lnTo>
                <a:cubicBezTo>
                  <a:pt x="147786" y="133945"/>
                  <a:pt x="155466" y="128766"/>
                  <a:pt x="163949" y="128588"/>
                </a:cubicBezTo>
                <a:cubicBezTo>
                  <a:pt x="172432" y="128409"/>
                  <a:pt x="180290" y="133410"/>
                  <a:pt x="183773" y="141178"/>
                </a:cubicBezTo>
                <a:lnTo>
                  <a:pt x="229582" y="242888"/>
                </a:lnTo>
                <a:lnTo>
                  <a:pt x="266551" y="168950"/>
                </a:lnTo>
                <a:cubicBezTo>
                  <a:pt x="270212" y="161717"/>
                  <a:pt x="277624" y="157073"/>
                  <a:pt x="285750" y="157073"/>
                </a:cubicBezTo>
                <a:cubicBezTo>
                  <a:pt x="293876" y="157073"/>
                  <a:pt x="301288" y="161627"/>
                  <a:pt x="304949" y="168950"/>
                </a:cubicBezTo>
                <a:lnTo>
                  <a:pt x="325666" y="210294"/>
                </a:lnTo>
                <a:cubicBezTo>
                  <a:pt x="326916" y="212705"/>
                  <a:pt x="329327" y="214223"/>
                  <a:pt x="332095" y="214223"/>
                </a:cubicBezTo>
                <a:lnTo>
                  <a:pt x="442466" y="214223"/>
                </a:lnTo>
                <a:cubicBezTo>
                  <a:pt x="451842" y="192524"/>
                  <a:pt x="457289" y="170736"/>
                  <a:pt x="457289" y="149662"/>
                </a:cubicBezTo>
                <a:lnTo>
                  <a:pt x="457289" y="147340"/>
                </a:lnTo>
                <a:cubicBezTo>
                  <a:pt x="457200" y="81796"/>
                  <a:pt x="403979" y="28575"/>
                  <a:pt x="338346" y="28575"/>
                </a:cubicBezTo>
                <a:cubicBezTo>
                  <a:pt x="300216" y="28575"/>
                  <a:pt x="264319" y="46881"/>
                  <a:pt x="241995" y="77778"/>
                </a:cubicBezTo>
                <a:lnTo>
                  <a:pt x="228600" y="96262"/>
                </a:lnTo>
                <a:close/>
                <a:moveTo>
                  <a:pt x="419338" y="257175"/>
                </a:moveTo>
                <a:lnTo>
                  <a:pt x="332006" y="257175"/>
                </a:lnTo>
                <a:cubicBezTo>
                  <a:pt x="313075" y="257175"/>
                  <a:pt x="295751" y="246459"/>
                  <a:pt x="287268" y="229493"/>
                </a:cubicBezTo>
                <a:lnTo>
                  <a:pt x="285750" y="226457"/>
                </a:lnTo>
                <a:lnTo>
                  <a:pt x="247799" y="302449"/>
                </a:lnTo>
                <a:cubicBezTo>
                  <a:pt x="244138" y="309860"/>
                  <a:pt x="236458" y="314504"/>
                  <a:pt x="228154" y="314325"/>
                </a:cubicBezTo>
                <a:cubicBezTo>
                  <a:pt x="219849" y="314146"/>
                  <a:pt x="212437" y="309235"/>
                  <a:pt x="209044" y="301734"/>
                </a:cubicBezTo>
                <a:lnTo>
                  <a:pt x="165021" y="203954"/>
                </a:lnTo>
                <a:lnTo>
                  <a:pt x="155644" y="226457"/>
                </a:lnTo>
                <a:cubicBezTo>
                  <a:pt x="147876" y="245120"/>
                  <a:pt x="129659" y="257264"/>
                  <a:pt x="109478" y="257264"/>
                </a:cubicBezTo>
                <a:lnTo>
                  <a:pt x="37862" y="257264"/>
                </a:lnTo>
                <a:cubicBezTo>
                  <a:pt x="80010" y="323165"/>
                  <a:pt x="147697" y="383798"/>
                  <a:pt x="190024" y="416123"/>
                </a:cubicBezTo>
                <a:cubicBezTo>
                  <a:pt x="201097" y="424517"/>
                  <a:pt x="214670" y="428714"/>
                  <a:pt x="228511" y="428714"/>
                </a:cubicBezTo>
                <a:cubicBezTo>
                  <a:pt x="242352" y="428714"/>
                  <a:pt x="256014" y="424607"/>
                  <a:pt x="266998" y="416123"/>
                </a:cubicBezTo>
                <a:cubicBezTo>
                  <a:pt x="309503" y="383709"/>
                  <a:pt x="377190" y="323076"/>
                  <a:pt x="419338" y="257175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" name="Text 3"/>
          <p:cNvSpPr/>
          <p:nvPr/>
        </p:nvSpPr>
        <p:spPr>
          <a:xfrm>
            <a:off x="4627721" y="2154566"/>
            <a:ext cx="29337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/>
          </a:p>
        </p:txBody>
      </p:sp>
      <p:sp>
        <p:nvSpPr>
          <p:cNvPr id="7" name="Text 4"/>
          <p:cNvSpPr/>
          <p:nvPr/>
        </p:nvSpPr>
        <p:spPr>
          <a:xfrm>
            <a:off x="4713446" y="2878466"/>
            <a:ext cx="2762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Questions &amp; Discussion</a:t>
            </a:r>
            <a:endParaRPr lang="en-US" sz="1600"/>
          </a:p>
        </p:txBody>
      </p:sp>
      <p:sp>
        <p:nvSpPr>
          <p:cNvPr id="8" name="Shape 5"/>
          <p:cNvSpPr/>
          <p:nvPr/>
        </p:nvSpPr>
        <p:spPr>
          <a:xfrm>
            <a:off x="2048113" y="3491746"/>
            <a:ext cx="2493645" cy="1360170"/>
          </a:xfrm>
          <a:custGeom>
            <a:avLst/>
            <a:gdLst/>
            <a:ahLst/>
            <a:cxnLst/>
            <a:rect l="l" t="t" r="r" b="b"/>
            <a:pathLst>
              <a:path w="2493645" h="1360170">
                <a:moveTo>
                  <a:pt x="114295" y="0"/>
                </a:moveTo>
                <a:lnTo>
                  <a:pt x="2379350" y="0"/>
                </a:lnTo>
                <a:cubicBezTo>
                  <a:pt x="2442473" y="0"/>
                  <a:pt x="2493645" y="51172"/>
                  <a:pt x="2493645" y="114295"/>
                </a:cubicBezTo>
                <a:lnTo>
                  <a:pt x="2493645" y="1245875"/>
                </a:lnTo>
                <a:cubicBezTo>
                  <a:pt x="2493645" y="1308998"/>
                  <a:pt x="2442473" y="1360170"/>
                  <a:pt x="2379350" y="1360170"/>
                </a:cubicBezTo>
                <a:lnTo>
                  <a:pt x="114295" y="1360170"/>
                </a:lnTo>
                <a:cubicBezTo>
                  <a:pt x="51172" y="1360170"/>
                  <a:pt x="0" y="1308998"/>
                  <a:pt x="0" y="1245875"/>
                </a:cubicBezTo>
                <a:lnTo>
                  <a:pt x="0" y="114295"/>
                </a:lnTo>
                <a:cubicBezTo>
                  <a:pt x="0" y="51172"/>
                  <a:pt x="51172" y="0"/>
                  <a:pt x="114295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70634" y="3724163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50031" y="114858"/>
                </a:moveTo>
                <a:cubicBezTo>
                  <a:pt x="241771" y="120328"/>
                  <a:pt x="232283" y="124737"/>
                  <a:pt x="222405" y="128253"/>
                </a:cubicBezTo>
                <a:cubicBezTo>
                  <a:pt x="196174" y="137629"/>
                  <a:pt x="161739" y="142875"/>
                  <a:pt x="125016" y="142875"/>
                </a:cubicBezTo>
                <a:cubicBezTo>
                  <a:pt x="88292" y="142875"/>
                  <a:pt x="53801" y="137573"/>
                  <a:pt x="27626" y="128253"/>
                </a:cubicBezTo>
                <a:cubicBezTo>
                  <a:pt x="17804" y="124737"/>
                  <a:pt x="8260" y="120328"/>
                  <a:pt x="0" y="114858"/>
                </a:cubicBezTo>
                <a:lnTo>
                  <a:pt x="0" y="160734"/>
                </a:lnTo>
                <a:cubicBezTo>
                  <a:pt x="0" y="185403"/>
                  <a:pt x="55978" y="205383"/>
                  <a:pt x="125016" y="205383"/>
                </a:cubicBezTo>
                <a:cubicBezTo>
                  <a:pt x="194053" y="205383"/>
                  <a:pt x="250031" y="185403"/>
                  <a:pt x="250031" y="160734"/>
                </a:cubicBezTo>
                <a:lnTo>
                  <a:pt x="250031" y="114858"/>
                </a:lnTo>
                <a:close/>
                <a:moveTo>
                  <a:pt x="250031" y="71438"/>
                </a:moveTo>
                <a:lnTo>
                  <a:pt x="250031" y="44648"/>
                </a:lnTo>
                <a:cubicBezTo>
                  <a:pt x="250031" y="19980"/>
                  <a:pt x="194053" y="0"/>
                  <a:pt x="125016" y="0"/>
                </a:cubicBezTo>
                <a:cubicBezTo>
                  <a:pt x="55978" y="0"/>
                  <a:pt x="0" y="19980"/>
                  <a:pt x="0" y="44648"/>
                </a:cubicBezTo>
                <a:lnTo>
                  <a:pt x="0" y="71438"/>
                </a:lnTo>
                <a:cubicBezTo>
                  <a:pt x="0" y="96106"/>
                  <a:pt x="55978" y="116086"/>
                  <a:pt x="125016" y="116086"/>
                </a:cubicBezTo>
                <a:cubicBezTo>
                  <a:pt x="194053" y="116086"/>
                  <a:pt x="250031" y="96106"/>
                  <a:pt x="250031" y="71438"/>
                </a:cubicBezTo>
                <a:close/>
                <a:moveTo>
                  <a:pt x="222405" y="217550"/>
                </a:moveTo>
                <a:cubicBezTo>
                  <a:pt x="196230" y="226870"/>
                  <a:pt x="161795" y="232172"/>
                  <a:pt x="125016" y="232172"/>
                </a:cubicBezTo>
                <a:cubicBezTo>
                  <a:pt x="88236" y="232172"/>
                  <a:pt x="53801" y="226870"/>
                  <a:pt x="27626" y="217550"/>
                </a:cubicBezTo>
                <a:cubicBezTo>
                  <a:pt x="17804" y="214033"/>
                  <a:pt x="8260" y="209624"/>
                  <a:pt x="0" y="204155"/>
                </a:cubicBezTo>
                <a:lnTo>
                  <a:pt x="0" y="241102"/>
                </a:lnTo>
                <a:cubicBezTo>
                  <a:pt x="0" y="265770"/>
                  <a:pt x="55978" y="285750"/>
                  <a:pt x="125016" y="285750"/>
                </a:cubicBezTo>
                <a:cubicBezTo>
                  <a:pt x="194053" y="285750"/>
                  <a:pt x="250031" y="265770"/>
                  <a:pt x="250031" y="241102"/>
                </a:cubicBezTo>
                <a:lnTo>
                  <a:pt x="250031" y="204155"/>
                </a:lnTo>
                <a:cubicBezTo>
                  <a:pt x="241771" y="209624"/>
                  <a:pt x="232283" y="214033"/>
                  <a:pt x="222405" y="21755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0" name="Text 7"/>
          <p:cNvSpPr/>
          <p:nvPr/>
        </p:nvSpPr>
        <p:spPr>
          <a:xfrm>
            <a:off x="2237661" y="4124213"/>
            <a:ext cx="2114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49,820</a:t>
            </a:r>
            <a:endParaRPr lang="en-US" sz="1600"/>
          </a:p>
        </p:txBody>
      </p:sp>
      <p:sp>
        <p:nvSpPr>
          <p:cNvPr id="11" name="Text 8"/>
          <p:cNvSpPr/>
          <p:nvPr/>
        </p:nvSpPr>
        <p:spPr>
          <a:xfrm>
            <a:off x="2247186" y="4429013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Non-Cancer Adults</a:t>
            </a:r>
            <a:endParaRPr lang="en-US" sz="1600"/>
          </a:p>
        </p:txBody>
      </p:sp>
      <p:sp>
        <p:nvSpPr>
          <p:cNvPr id="12" name="Shape 9"/>
          <p:cNvSpPr/>
          <p:nvPr/>
        </p:nvSpPr>
        <p:spPr>
          <a:xfrm>
            <a:off x="4850844" y="3491746"/>
            <a:ext cx="2493645" cy="1360170"/>
          </a:xfrm>
          <a:custGeom>
            <a:avLst/>
            <a:gdLst/>
            <a:ahLst/>
            <a:cxnLst/>
            <a:rect l="l" t="t" r="r" b="b"/>
            <a:pathLst>
              <a:path w="2493645" h="1360170">
                <a:moveTo>
                  <a:pt x="114295" y="0"/>
                </a:moveTo>
                <a:lnTo>
                  <a:pt x="2379350" y="0"/>
                </a:lnTo>
                <a:cubicBezTo>
                  <a:pt x="2442473" y="0"/>
                  <a:pt x="2493645" y="51172"/>
                  <a:pt x="2493645" y="114295"/>
                </a:cubicBezTo>
                <a:lnTo>
                  <a:pt x="2493645" y="1245875"/>
                </a:lnTo>
                <a:cubicBezTo>
                  <a:pt x="2493645" y="1308998"/>
                  <a:pt x="2442473" y="1360170"/>
                  <a:pt x="2379350" y="1360170"/>
                </a:cubicBezTo>
                <a:lnTo>
                  <a:pt x="114295" y="1360170"/>
                </a:lnTo>
                <a:cubicBezTo>
                  <a:pt x="51172" y="1360170"/>
                  <a:pt x="0" y="1308998"/>
                  <a:pt x="0" y="1245875"/>
                </a:cubicBezTo>
                <a:lnTo>
                  <a:pt x="0" y="114295"/>
                </a:lnTo>
                <a:cubicBezTo>
                  <a:pt x="0" y="51172"/>
                  <a:pt x="51172" y="0"/>
                  <a:pt x="114295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55506" y="372416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4" name="Text 11"/>
          <p:cNvSpPr/>
          <p:nvPr/>
        </p:nvSpPr>
        <p:spPr>
          <a:xfrm>
            <a:off x="5040392" y="4124213"/>
            <a:ext cx="2114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44%</a:t>
            </a:r>
            <a:endParaRPr lang="en-US" sz="1600"/>
          </a:p>
        </p:txBody>
      </p:sp>
      <p:sp>
        <p:nvSpPr>
          <p:cNvPr id="15" name="Text 12"/>
          <p:cNvSpPr/>
          <p:nvPr/>
        </p:nvSpPr>
        <p:spPr>
          <a:xfrm>
            <a:off x="5049917" y="4429013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High-Cost Detection Improvement</a:t>
            </a:r>
            <a:endParaRPr lang="en-US" sz="1600"/>
          </a:p>
        </p:txBody>
      </p:sp>
      <p:sp>
        <p:nvSpPr>
          <p:cNvPr id="16" name="Shape 13"/>
          <p:cNvSpPr/>
          <p:nvPr/>
        </p:nvSpPr>
        <p:spPr>
          <a:xfrm>
            <a:off x="7653576" y="3491746"/>
            <a:ext cx="2493645" cy="1360170"/>
          </a:xfrm>
          <a:custGeom>
            <a:avLst/>
            <a:gdLst/>
            <a:ahLst/>
            <a:cxnLst/>
            <a:rect l="l" t="t" r="r" b="b"/>
            <a:pathLst>
              <a:path w="2493645" h="1360170">
                <a:moveTo>
                  <a:pt x="114295" y="0"/>
                </a:moveTo>
                <a:lnTo>
                  <a:pt x="2379350" y="0"/>
                </a:lnTo>
                <a:cubicBezTo>
                  <a:pt x="2442473" y="0"/>
                  <a:pt x="2493645" y="51172"/>
                  <a:pt x="2493645" y="114295"/>
                </a:cubicBezTo>
                <a:lnTo>
                  <a:pt x="2493645" y="1245875"/>
                </a:lnTo>
                <a:cubicBezTo>
                  <a:pt x="2493645" y="1308998"/>
                  <a:pt x="2442473" y="1360170"/>
                  <a:pt x="2379350" y="1360170"/>
                </a:cubicBezTo>
                <a:lnTo>
                  <a:pt x="114295" y="1360170"/>
                </a:lnTo>
                <a:cubicBezTo>
                  <a:pt x="51172" y="1360170"/>
                  <a:pt x="0" y="1308998"/>
                  <a:pt x="0" y="1245875"/>
                </a:cubicBezTo>
                <a:lnTo>
                  <a:pt x="0" y="114295"/>
                </a:lnTo>
                <a:cubicBezTo>
                  <a:pt x="0" y="51172"/>
                  <a:pt x="51172" y="0"/>
                  <a:pt x="114295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10160">
            <a:solidFill>
              <a:srgbClr val="E5E5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722519" y="3724163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78594" y="8930"/>
                </a:moveTo>
                <a:cubicBezTo>
                  <a:pt x="210629" y="8930"/>
                  <a:pt x="236637" y="34938"/>
                  <a:pt x="236637" y="66973"/>
                </a:cubicBezTo>
                <a:cubicBezTo>
                  <a:pt x="236637" y="99007"/>
                  <a:pt x="210629" y="125016"/>
                  <a:pt x="178594" y="125016"/>
                </a:cubicBezTo>
                <a:cubicBezTo>
                  <a:pt x="146559" y="125016"/>
                  <a:pt x="120551" y="99007"/>
                  <a:pt x="120551" y="66973"/>
                </a:cubicBezTo>
                <a:cubicBezTo>
                  <a:pt x="120551" y="34938"/>
                  <a:pt x="146559" y="8930"/>
                  <a:pt x="178594" y="8930"/>
                </a:cubicBezTo>
                <a:close/>
                <a:moveTo>
                  <a:pt x="53578" y="49113"/>
                </a:moveTo>
                <a:cubicBezTo>
                  <a:pt x="75756" y="49113"/>
                  <a:pt x="93762" y="67119"/>
                  <a:pt x="93762" y="89297"/>
                </a:cubicBezTo>
                <a:cubicBezTo>
                  <a:pt x="93762" y="111475"/>
                  <a:pt x="75756" y="129480"/>
                  <a:pt x="53578" y="129480"/>
                </a:cubicBezTo>
                <a:cubicBezTo>
                  <a:pt x="31400" y="129480"/>
                  <a:pt x="13395" y="111475"/>
                  <a:pt x="13395" y="89297"/>
                </a:cubicBezTo>
                <a:cubicBezTo>
                  <a:pt x="13395" y="67119"/>
                  <a:pt x="31400" y="49113"/>
                  <a:pt x="53578" y="49113"/>
                </a:cubicBezTo>
                <a:close/>
                <a:moveTo>
                  <a:pt x="0" y="232172"/>
                </a:moveTo>
                <a:cubicBezTo>
                  <a:pt x="0" y="192714"/>
                  <a:pt x="31979" y="160734"/>
                  <a:pt x="71438" y="160734"/>
                </a:cubicBezTo>
                <a:cubicBezTo>
                  <a:pt x="78581" y="160734"/>
                  <a:pt x="85502" y="161795"/>
                  <a:pt x="92032" y="163748"/>
                </a:cubicBezTo>
                <a:cubicBezTo>
                  <a:pt x="73670" y="184286"/>
                  <a:pt x="62508" y="211410"/>
                  <a:pt x="62508" y="241102"/>
                </a:cubicBezTo>
                <a:lnTo>
                  <a:pt x="62508" y="250031"/>
                </a:lnTo>
                <a:cubicBezTo>
                  <a:pt x="62508" y="256394"/>
                  <a:pt x="63847" y="262421"/>
                  <a:pt x="66247" y="267891"/>
                </a:cubicBezTo>
                <a:lnTo>
                  <a:pt x="17859" y="267891"/>
                </a:lnTo>
                <a:cubicBezTo>
                  <a:pt x="7981" y="267891"/>
                  <a:pt x="0" y="259910"/>
                  <a:pt x="0" y="250031"/>
                </a:cubicBezTo>
                <a:lnTo>
                  <a:pt x="0" y="232172"/>
                </a:lnTo>
                <a:close/>
                <a:moveTo>
                  <a:pt x="290940" y="267891"/>
                </a:moveTo>
                <a:cubicBezTo>
                  <a:pt x="293340" y="262421"/>
                  <a:pt x="294680" y="256394"/>
                  <a:pt x="294680" y="250031"/>
                </a:cubicBezTo>
                <a:lnTo>
                  <a:pt x="294680" y="241102"/>
                </a:lnTo>
                <a:cubicBezTo>
                  <a:pt x="294680" y="211410"/>
                  <a:pt x="283518" y="184286"/>
                  <a:pt x="265156" y="163748"/>
                </a:cubicBezTo>
                <a:cubicBezTo>
                  <a:pt x="271686" y="161795"/>
                  <a:pt x="278606" y="160734"/>
                  <a:pt x="285750" y="160734"/>
                </a:cubicBezTo>
                <a:cubicBezTo>
                  <a:pt x="325208" y="160734"/>
                  <a:pt x="357188" y="192714"/>
                  <a:pt x="357188" y="232172"/>
                </a:cubicBezTo>
                <a:lnTo>
                  <a:pt x="357188" y="250031"/>
                </a:lnTo>
                <a:cubicBezTo>
                  <a:pt x="357188" y="259910"/>
                  <a:pt x="349207" y="267891"/>
                  <a:pt x="339328" y="267891"/>
                </a:cubicBezTo>
                <a:lnTo>
                  <a:pt x="290940" y="267891"/>
                </a:lnTo>
                <a:close/>
                <a:moveTo>
                  <a:pt x="263426" y="89297"/>
                </a:moveTo>
                <a:cubicBezTo>
                  <a:pt x="263426" y="67119"/>
                  <a:pt x="281431" y="49113"/>
                  <a:pt x="303609" y="49113"/>
                </a:cubicBezTo>
                <a:cubicBezTo>
                  <a:pt x="325787" y="49113"/>
                  <a:pt x="343793" y="67119"/>
                  <a:pt x="343793" y="89297"/>
                </a:cubicBezTo>
                <a:cubicBezTo>
                  <a:pt x="343793" y="111475"/>
                  <a:pt x="325787" y="129480"/>
                  <a:pt x="303609" y="129480"/>
                </a:cubicBezTo>
                <a:cubicBezTo>
                  <a:pt x="281431" y="129480"/>
                  <a:pt x="263426" y="111475"/>
                  <a:pt x="263426" y="89297"/>
                </a:cubicBezTo>
                <a:close/>
                <a:moveTo>
                  <a:pt x="89297" y="241102"/>
                </a:moveTo>
                <a:cubicBezTo>
                  <a:pt x="89297" y="191765"/>
                  <a:pt x="129257" y="151805"/>
                  <a:pt x="178594" y="151805"/>
                </a:cubicBezTo>
                <a:cubicBezTo>
                  <a:pt x="227930" y="151805"/>
                  <a:pt x="267891" y="191765"/>
                  <a:pt x="267891" y="241102"/>
                </a:cubicBezTo>
                <a:lnTo>
                  <a:pt x="267891" y="250031"/>
                </a:lnTo>
                <a:cubicBezTo>
                  <a:pt x="267891" y="259910"/>
                  <a:pt x="259910" y="267891"/>
                  <a:pt x="250031" y="267891"/>
                </a:cubicBezTo>
                <a:lnTo>
                  <a:pt x="107156" y="267891"/>
                </a:lnTo>
                <a:cubicBezTo>
                  <a:pt x="97278" y="267891"/>
                  <a:pt x="89297" y="259910"/>
                  <a:pt x="89297" y="250031"/>
                </a:cubicBezTo>
                <a:lnTo>
                  <a:pt x="89297" y="241102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8" name="Text 15"/>
          <p:cNvSpPr/>
          <p:nvPr/>
        </p:nvSpPr>
        <p:spPr>
          <a:xfrm>
            <a:off x="7843123" y="4124213"/>
            <a:ext cx="2114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 Clusters</a:t>
            </a:r>
            <a:endParaRPr lang="en-US" sz="1600"/>
          </a:p>
        </p:txBody>
      </p:sp>
      <p:sp>
        <p:nvSpPr>
          <p:cNvPr id="19" name="Text 16"/>
          <p:cNvSpPr/>
          <p:nvPr/>
        </p:nvSpPr>
        <p:spPr>
          <a:xfrm>
            <a:off x="7852648" y="4429013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Patient Phenotypes Identified</a:t>
            </a:r>
            <a:endParaRPr lang="en-US" sz="1600"/>
          </a:p>
        </p:txBody>
      </p:sp>
      <p:sp>
        <p:nvSpPr>
          <p:cNvPr id="20" name="Text 17"/>
          <p:cNvSpPr/>
          <p:nvPr/>
        </p:nvSpPr>
        <p:spPr>
          <a:xfrm>
            <a:off x="4167188" y="5312922"/>
            <a:ext cx="3857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Northeastern University · College of Professional Studies</a:t>
            </a:r>
            <a:endParaRPr lang="en-US" sz="1600"/>
          </a:p>
        </p:txBody>
      </p:sp>
      <p:sp>
        <p:nvSpPr>
          <p:cNvPr id="21" name="Text 18"/>
          <p:cNvSpPr/>
          <p:nvPr/>
        </p:nvSpPr>
        <p:spPr>
          <a:xfrm>
            <a:off x="4167188" y="5617722"/>
            <a:ext cx="3857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ALY 6980: Capstone · Professor Ajit Appari · Group 2</a:t>
            </a:r>
            <a:endParaRPr lang="en-US" sz="160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25</Slides>
  <Notes>24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Healthcare Expenditure Risk - MEPS Longitudinal Analysis</dc:title>
  <dc:subject>Predicting Healthcare Expenditure Risk - MEPS Longitudinal Analysis</dc:subject>
  <dc:creator>Kimi</dc:creator>
  <cp:revision>496</cp:revision>
  <dcterms:created xsi:type="dcterms:W3CDTF">2026-03-26T10:47:07Z</dcterms:created>
  <dcterms:modified xsi:type="dcterms:W3CDTF">2026-03-26T16:05:00Z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{"Label":"Predicting Healthcare Expenditure Risk - MEPS Longitudinal Analysis","ContentProducer":"001191110108MACG2KBH8F10000","ProduceID":"19d29ab6-7242-8fc5-8000-0000ccd0749d","ReservedCode1":"","ContentPropagator":"001191110108MACG2KBH8F20000","PropagateID":"19d29ab6-7242-8fc5-8000-0000ccd0749d","ReservedCode2":""}</vt:lpwstr>
  </property>
</Properties>
</file>